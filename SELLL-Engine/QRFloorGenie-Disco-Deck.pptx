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34088" y="0"/>
            <a:ext cx="54864"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03136"/>
            <a:ext cx="121889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79" y="54864"/>
            <a:ext cx="4636008" cy="56692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07808" y="146304"/>
            <a:ext cx="4480560" cy="347472"/>
          </a:xfrm>
          <a:prstGeom prst="rect">
            <a:avLst/>
          </a:prstGeom>
          <a:noFill/>
        </p:spPr>
        <p:txBody>
          <a:bodyPr wrap="square">
            <a:spAutoFit/>
          </a:bodyPr>
          <a:lstStyle/>
          <a:p>
            <a:pPr algn="l"/>
            <a:r>
              <a:rPr sz="1100" b="1" i="0">
                <a:solidFill>
                  <a:srgbClr val="1A1A2E"/>
                </a:solidFill>
              </a:rPr>
              <a:t>Prepared for:  QR Floor Genie  |  Genie Technologies</a:t>
            </a:r>
          </a:p>
        </p:txBody>
      </p:sp>
      <p:pic>
        <p:nvPicPr>
          <p:cNvPr id="8" name="Picture 7" descr="selll_logo_clean.png"/>
          <p:cNvPicPr>
            <a:picLocks noChangeAspect="1"/>
          </p:cNvPicPr>
          <p:nvPr/>
        </p:nvPicPr>
        <p:blipFill>
          <a:blip r:embed="rId2"/>
          <a:stretch>
            <a:fillRect/>
          </a:stretch>
        </p:blipFill>
        <p:spPr>
          <a:xfrm>
            <a:off x="384048" y="201168"/>
            <a:ext cx="2651760" cy="583387"/>
          </a:xfrm>
          <a:prstGeom prst="rect">
            <a:avLst/>
          </a:prstGeom>
        </p:spPr>
      </p:pic>
      <p:sp>
        <p:nvSpPr>
          <p:cNvPr id="9" name="TextBox 8"/>
          <p:cNvSpPr txBox="1"/>
          <p:nvPr/>
        </p:nvSpPr>
        <p:spPr>
          <a:xfrm>
            <a:off x="548640" y="1389888"/>
            <a:ext cx="10972800" cy="786384"/>
          </a:xfrm>
          <a:prstGeom prst="rect">
            <a:avLst/>
          </a:prstGeom>
          <a:noFill/>
        </p:spPr>
        <p:txBody>
          <a:bodyPr wrap="square">
            <a:spAutoFit/>
          </a:bodyPr>
          <a:lstStyle/>
          <a:p>
            <a:pPr algn="l"/>
            <a:r>
              <a:rPr sz="4200" b="1" i="0">
                <a:solidFill>
                  <a:srgbClr val="FFFFFF"/>
                </a:solidFill>
              </a:rPr>
              <a:t>17,834 Flooring Stores.</a:t>
            </a:r>
          </a:p>
        </p:txBody>
      </p:sp>
      <p:sp>
        <p:nvSpPr>
          <p:cNvPr id="10" name="TextBox 9"/>
          <p:cNvSpPr txBox="1"/>
          <p:nvPr/>
        </p:nvSpPr>
        <p:spPr>
          <a:xfrm>
            <a:off x="548640" y="2157984"/>
            <a:ext cx="10972800" cy="749808"/>
          </a:xfrm>
          <a:prstGeom prst="rect">
            <a:avLst/>
          </a:prstGeom>
          <a:noFill/>
        </p:spPr>
        <p:txBody>
          <a:bodyPr wrap="square">
            <a:spAutoFit/>
          </a:bodyPr>
          <a:lstStyle/>
          <a:p>
            <a:pPr algn="l"/>
            <a:r>
              <a:rPr sz="2800" b="1" i="0">
                <a:solidFill>
                  <a:srgbClr val="E8B830"/>
                </a:solidFill>
              </a:rPr>
              <a:t>11,900 On Paper Pricing. Zero Hearing From You.</a:t>
            </a:r>
          </a:p>
        </p:txBody>
      </p:sp>
      <p:sp>
        <p:nvSpPr>
          <p:cNvPr id="11" name="Rectangle 10"/>
          <p:cNvSpPr/>
          <p:nvPr/>
        </p:nvSpPr>
        <p:spPr>
          <a:xfrm>
            <a:off x="548640" y="3017520"/>
            <a:ext cx="548640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163824"/>
            <a:ext cx="10241280" cy="475488"/>
          </a:xfrm>
          <a:prstGeom prst="rect">
            <a:avLst/>
          </a:prstGeom>
          <a:noFill/>
        </p:spPr>
        <p:txBody>
          <a:bodyPr wrap="square">
            <a:spAutoFit/>
          </a:bodyPr>
          <a:lstStyle/>
          <a:p>
            <a:pPr algn="l"/>
            <a:r>
              <a:rPr sz="1200" b="0" i="1">
                <a:solidFill>
                  <a:srgbClr val="CCCCD8"/>
                </a:solidFill>
              </a:rPr>
              <a:t>A discovery session to map the pipeline system that gets flooring store owners into your demo -- at scale, automatically, every month.</a:t>
            </a:r>
          </a:p>
        </p:txBody>
      </p:sp>
      <p:sp>
        <p:nvSpPr>
          <p:cNvPr id="13" name="Rectangle 12"/>
          <p:cNvSpPr/>
          <p:nvPr/>
        </p:nvSpPr>
        <p:spPr>
          <a:xfrm>
            <a:off x="411480" y="3822191"/>
            <a:ext cx="2743200" cy="9144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3822191"/>
            <a:ext cx="2743200"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 y="3913632"/>
            <a:ext cx="2395728" cy="438912"/>
          </a:xfrm>
          <a:prstGeom prst="rect">
            <a:avLst/>
          </a:prstGeom>
          <a:noFill/>
        </p:spPr>
        <p:txBody>
          <a:bodyPr wrap="square">
            <a:spAutoFit/>
          </a:bodyPr>
          <a:lstStyle/>
          <a:p>
            <a:pPr algn="l"/>
            <a:r>
              <a:rPr sz="2600" b="1" i="0">
                <a:solidFill>
                  <a:srgbClr val="F0A020"/>
                </a:solidFill>
              </a:rPr>
              <a:t>67%</a:t>
            </a:r>
          </a:p>
        </p:txBody>
      </p:sp>
      <p:sp>
        <p:nvSpPr>
          <p:cNvPr id="16" name="TextBox 15"/>
          <p:cNvSpPr txBox="1"/>
          <p:nvPr/>
        </p:nvSpPr>
        <p:spPr>
          <a:xfrm>
            <a:off x="576072" y="4334256"/>
            <a:ext cx="2487168" cy="329184"/>
          </a:xfrm>
          <a:prstGeom prst="rect">
            <a:avLst/>
          </a:prstGeom>
          <a:noFill/>
        </p:spPr>
        <p:txBody>
          <a:bodyPr wrap="square">
            <a:spAutoFit/>
          </a:bodyPr>
          <a:lstStyle/>
          <a:p>
            <a:pPr algn="l"/>
            <a:r>
              <a:rPr sz="850" b="0" i="0">
                <a:solidFill>
                  <a:srgbClr val="CCCCD8"/>
                </a:solidFill>
              </a:rPr>
              <a:t>of flooring stores still on paper</a:t>
            </a:r>
          </a:p>
        </p:txBody>
      </p:sp>
      <p:sp>
        <p:nvSpPr>
          <p:cNvPr id="17" name="Rectangle 16"/>
          <p:cNvSpPr/>
          <p:nvPr/>
        </p:nvSpPr>
        <p:spPr>
          <a:xfrm>
            <a:off x="3337560" y="3822191"/>
            <a:ext cx="2743200" cy="9144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37560" y="3822191"/>
            <a:ext cx="2743200" cy="4572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02152" y="3913632"/>
            <a:ext cx="2395728" cy="438912"/>
          </a:xfrm>
          <a:prstGeom prst="rect">
            <a:avLst/>
          </a:prstGeom>
          <a:noFill/>
        </p:spPr>
        <p:txBody>
          <a:bodyPr wrap="square">
            <a:spAutoFit/>
          </a:bodyPr>
          <a:lstStyle/>
          <a:p>
            <a:pPr algn="l"/>
            <a:r>
              <a:rPr sz="2600" b="1" i="0">
                <a:solidFill>
                  <a:srgbClr val="E84040"/>
                </a:solidFill>
              </a:rPr>
              <a:t>0</a:t>
            </a:r>
          </a:p>
        </p:txBody>
      </p:sp>
      <p:sp>
        <p:nvSpPr>
          <p:cNvPr id="20" name="TextBox 19"/>
          <p:cNvSpPr txBox="1"/>
          <p:nvPr/>
        </p:nvSpPr>
        <p:spPr>
          <a:xfrm>
            <a:off x="3502152" y="4334256"/>
            <a:ext cx="2487168" cy="329184"/>
          </a:xfrm>
          <a:prstGeom prst="rect">
            <a:avLst/>
          </a:prstGeom>
          <a:noFill/>
        </p:spPr>
        <p:txBody>
          <a:bodyPr wrap="square">
            <a:spAutoFit/>
          </a:bodyPr>
          <a:lstStyle/>
          <a:p>
            <a:pPr algn="l"/>
            <a:r>
              <a:rPr sz="850" b="0" i="0">
                <a:solidFill>
                  <a:srgbClr val="CCCCD8"/>
                </a:solidFill>
              </a:rPr>
              <a:t>outbound sequences running for you</a:t>
            </a:r>
          </a:p>
        </p:txBody>
      </p:sp>
      <p:sp>
        <p:nvSpPr>
          <p:cNvPr id="21" name="Rectangle 20"/>
          <p:cNvSpPr/>
          <p:nvPr/>
        </p:nvSpPr>
        <p:spPr>
          <a:xfrm>
            <a:off x="6263640" y="3822191"/>
            <a:ext cx="2743200" cy="9144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3822191"/>
            <a:ext cx="2743200"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3913632"/>
            <a:ext cx="2395728" cy="438912"/>
          </a:xfrm>
          <a:prstGeom prst="rect">
            <a:avLst/>
          </a:prstGeom>
          <a:noFill/>
        </p:spPr>
        <p:txBody>
          <a:bodyPr wrap="square">
            <a:spAutoFit/>
          </a:bodyPr>
          <a:lstStyle/>
          <a:p>
            <a:pPr algn="l"/>
            <a:r>
              <a:rPr sz="2600" b="1" i="0">
                <a:solidFill>
                  <a:srgbClr val="E8B830"/>
                </a:solidFill>
              </a:rPr>
              <a:t>11,900</a:t>
            </a:r>
          </a:p>
        </p:txBody>
      </p:sp>
      <p:sp>
        <p:nvSpPr>
          <p:cNvPr id="24" name="TextBox 23"/>
          <p:cNvSpPr txBox="1"/>
          <p:nvPr/>
        </p:nvSpPr>
        <p:spPr>
          <a:xfrm>
            <a:off x="6428232" y="4334256"/>
            <a:ext cx="2487168" cy="329184"/>
          </a:xfrm>
          <a:prstGeom prst="rect">
            <a:avLst/>
          </a:prstGeom>
          <a:noFill/>
        </p:spPr>
        <p:txBody>
          <a:bodyPr wrap="square">
            <a:spAutoFit/>
          </a:bodyPr>
          <a:lstStyle/>
          <a:p>
            <a:pPr algn="l"/>
            <a:r>
              <a:rPr sz="850" b="0" i="0">
                <a:solidFill>
                  <a:srgbClr val="CCCCD8"/>
                </a:solidFill>
              </a:rPr>
              <a:t>addressable targets in the US</a:t>
            </a:r>
          </a:p>
        </p:txBody>
      </p:sp>
      <p:sp>
        <p:nvSpPr>
          <p:cNvPr id="25" name="Rectangle 24"/>
          <p:cNvSpPr/>
          <p:nvPr/>
        </p:nvSpPr>
        <p:spPr>
          <a:xfrm>
            <a:off x="9189720" y="3822191"/>
            <a:ext cx="2743200" cy="9144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89720" y="3822191"/>
            <a:ext cx="2743200" cy="4572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54312" y="3913632"/>
            <a:ext cx="2395728" cy="438912"/>
          </a:xfrm>
          <a:prstGeom prst="rect">
            <a:avLst/>
          </a:prstGeom>
          <a:noFill/>
        </p:spPr>
        <p:txBody>
          <a:bodyPr wrap="square">
            <a:spAutoFit/>
          </a:bodyPr>
          <a:lstStyle/>
          <a:p>
            <a:pPr algn="l"/>
            <a:r>
              <a:rPr sz="2600" b="1" i="0">
                <a:solidFill>
                  <a:srgbClr val="E84040"/>
                </a:solidFill>
              </a:rPr>
              <a:t>1</a:t>
            </a:r>
          </a:p>
        </p:txBody>
      </p:sp>
      <p:sp>
        <p:nvSpPr>
          <p:cNvPr id="28" name="TextBox 27"/>
          <p:cNvSpPr txBox="1"/>
          <p:nvPr/>
        </p:nvSpPr>
        <p:spPr>
          <a:xfrm>
            <a:off x="9354312" y="4334256"/>
            <a:ext cx="2487168" cy="329184"/>
          </a:xfrm>
          <a:prstGeom prst="rect">
            <a:avLst/>
          </a:prstGeom>
          <a:noFill/>
        </p:spPr>
        <p:txBody>
          <a:bodyPr wrap="square">
            <a:spAutoFit/>
          </a:bodyPr>
          <a:lstStyle/>
          <a:p>
            <a:pPr algn="l"/>
            <a:r>
              <a:rPr sz="850" b="0" i="0">
                <a:solidFill>
                  <a:srgbClr val="CCCCD8"/>
                </a:solidFill>
              </a:rPr>
              <a:t>competitor with a 6-year head start</a:t>
            </a:r>
          </a:p>
        </p:txBody>
      </p:sp>
      <p:sp>
        <p:nvSpPr>
          <p:cNvPr id="29" name="TextBox 28"/>
          <p:cNvSpPr txBox="1"/>
          <p:nvPr/>
        </p:nvSpPr>
        <p:spPr>
          <a:xfrm>
            <a:off x="548640" y="6446520"/>
            <a:ext cx="11064240" cy="310896"/>
          </a:xfrm>
          <a:prstGeom prst="rect">
            <a:avLst/>
          </a:prstGeom>
          <a:noFill/>
        </p:spPr>
        <p:txBody>
          <a:bodyPr wrap="square">
            <a:spAutoFit/>
          </a:bodyPr>
          <a:lstStyle/>
          <a:p>
            <a:pPr algn="ctr"/>
            <a:r>
              <a:rPr sz="900" b="0" i="0">
                <a:solidFill>
                  <a:srgbClr val="888899"/>
                </a:solidFill>
              </a:rPr>
              <a:t>SELLL.io  |  Signal-Intelligent Revenue Engine  |  cal.com/collins-collins-h1q7yn/30min</a:t>
            </a:r>
          </a:p>
        </p:txBody>
      </p:sp>
      <p:sp>
        <p:nvSpPr>
          <p:cNvPr id="30" name="TextBox 29"/>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0"/>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7315200" cy="347472"/>
          </a:xfrm>
          <a:prstGeom prst="rect">
            <a:avLst/>
          </a:prstGeom>
          <a:noFill/>
        </p:spPr>
        <p:txBody>
          <a:bodyPr wrap="square">
            <a:spAutoFit/>
          </a:bodyPr>
          <a:lstStyle/>
          <a:p>
            <a:pPr algn="l"/>
            <a:r>
              <a:rPr sz="900" b="1" i="0">
                <a:solidFill>
                  <a:srgbClr val="B8860B"/>
                </a:solidFill>
              </a:rPr>
              <a:t>BEFORE WE START</a:t>
            </a:r>
          </a:p>
        </p:txBody>
      </p:sp>
      <p:sp>
        <p:nvSpPr>
          <p:cNvPr id="5" name="TextBox 4"/>
          <p:cNvSpPr txBox="1"/>
          <p:nvPr/>
        </p:nvSpPr>
        <p:spPr>
          <a:xfrm>
            <a:off x="502920" y="585216"/>
            <a:ext cx="9601200" cy="1115568"/>
          </a:xfrm>
          <a:prstGeom prst="rect">
            <a:avLst/>
          </a:prstGeom>
          <a:noFill/>
        </p:spPr>
        <p:txBody>
          <a:bodyPr wrap="square">
            <a:spAutoFit/>
          </a:bodyPr>
          <a:lstStyle/>
          <a:p>
            <a:pPr algn="l"/>
            <a:r>
              <a:rPr sz="3600" b="1" i="0">
                <a:solidFill>
                  <a:srgbClr val="1A1A2E"/>
                </a:solidFill>
              </a:rPr>
              <a:t>Here Is What We Found
About QR Floor Genie.</a:t>
            </a:r>
          </a:p>
        </p:txBody>
      </p:sp>
      <p:sp>
        <p:nvSpPr>
          <p:cNvPr id="6" name="TextBox 5"/>
          <p:cNvSpPr txBox="1"/>
          <p:nvPr/>
        </p:nvSpPr>
        <p:spPr>
          <a:xfrm>
            <a:off x="502920" y="1792224"/>
            <a:ext cx="8686800" cy="365760"/>
          </a:xfrm>
          <a:prstGeom prst="rect">
            <a:avLst/>
          </a:prstGeom>
          <a:noFill/>
        </p:spPr>
        <p:txBody>
          <a:bodyPr wrap="square">
            <a:spAutoFit/>
          </a:bodyPr>
          <a:lstStyle/>
          <a:p>
            <a:pPr algn="l"/>
            <a:r>
              <a:rPr sz="1100" b="0" i="1">
                <a:solidFill>
                  <a:srgbClr val="888899"/>
                </a:solidFill>
              </a:rPr>
              <a:t>We did the research before this call. This is not a cold introduction.</a:t>
            </a:r>
          </a:p>
        </p:txBody>
      </p:sp>
      <p:sp>
        <p:nvSpPr>
          <p:cNvPr id="7" name="Rectangle 6"/>
          <p:cNvSpPr/>
          <p:nvPr/>
        </p:nvSpPr>
        <p:spPr>
          <a:xfrm>
            <a:off x="502920" y="2286000"/>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432304"/>
            <a:ext cx="5650992" cy="12070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432304"/>
            <a:ext cx="45720" cy="120700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60320"/>
            <a:ext cx="5285232" cy="329184"/>
          </a:xfrm>
          <a:prstGeom prst="rect">
            <a:avLst/>
          </a:prstGeom>
          <a:noFill/>
        </p:spPr>
        <p:txBody>
          <a:bodyPr wrap="square">
            <a:spAutoFit/>
          </a:bodyPr>
          <a:lstStyle/>
          <a:p>
            <a:pPr algn="l"/>
            <a:r>
              <a:rPr sz="1000" b="1" i="0">
                <a:solidFill>
                  <a:srgbClr val="E8B830"/>
                </a:solidFill>
              </a:rPr>
              <a:t>Built by a 25-year flooring veteran.</a:t>
            </a:r>
          </a:p>
        </p:txBody>
      </p:sp>
      <p:sp>
        <p:nvSpPr>
          <p:cNvPr id="11" name="TextBox 10"/>
          <p:cNvSpPr txBox="1"/>
          <p:nvPr/>
        </p:nvSpPr>
        <p:spPr>
          <a:xfrm>
            <a:off x="640080" y="2944368"/>
            <a:ext cx="5285232" cy="603504"/>
          </a:xfrm>
          <a:prstGeom prst="rect">
            <a:avLst/>
          </a:prstGeom>
          <a:noFill/>
        </p:spPr>
        <p:txBody>
          <a:bodyPr wrap="square">
            <a:spAutoFit/>
          </a:bodyPr>
          <a:lstStyle/>
          <a:p>
            <a:pPr algn="l"/>
            <a:r>
              <a:rPr sz="900" b="0" i="0">
                <a:solidFill>
                  <a:srgbClr val="CCCCD8"/>
                </a:solidFill>
              </a:rPr>
              <a:t>You didn't build this from a whiteboard. You built it from 25 years of watching paper price sheets cause misquotes, lost margins, and frustrated customers.</a:t>
            </a:r>
          </a:p>
        </p:txBody>
      </p:sp>
      <p:sp>
        <p:nvSpPr>
          <p:cNvPr id="12" name="Rectangle 11"/>
          <p:cNvSpPr/>
          <p:nvPr/>
        </p:nvSpPr>
        <p:spPr>
          <a:xfrm>
            <a:off x="6309360" y="2432304"/>
            <a:ext cx="5650992" cy="12070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2432304"/>
            <a:ext cx="45720" cy="120700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2560320"/>
            <a:ext cx="5285232" cy="329184"/>
          </a:xfrm>
          <a:prstGeom prst="rect">
            <a:avLst/>
          </a:prstGeom>
          <a:noFill/>
        </p:spPr>
        <p:txBody>
          <a:bodyPr wrap="square">
            <a:spAutoFit/>
          </a:bodyPr>
          <a:lstStyle/>
          <a:p>
            <a:pPr algn="l"/>
            <a:r>
              <a:rPr sz="1000" b="1" i="0">
                <a:solidFill>
                  <a:srgbClr val="E8B830"/>
                </a:solidFill>
              </a:rPr>
              <a:t>Product solves a real, proven problem.</a:t>
            </a:r>
          </a:p>
        </p:txBody>
      </p:sp>
      <p:sp>
        <p:nvSpPr>
          <p:cNvPr id="15" name="TextBox 14"/>
          <p:cNvSpPr txBox="1"/>
          <p:nvPr/>
        </p:nvSpPr>
        <p:spPr>
          <a:xfrm>
            <a:off x="6510528" y="2944368"/>
            <a:ext cx="5285232" cy="603504"/>
          </a:xfrm>
          <a:prstGeom prst="rect">
            <a:avLst/>
          </a:prstGeom>
          <a:noFill/>
        </p:spPr>
        <p:txBody>
          <a:bodyPr wrap="square">
            <a:spAutoFit/>
          </a:bodyPr>
          <a:lstStyle/>
          <a:p>
            <a:pPr algn="l"/>
            <a:r>
              <a:rPr sz="900" b="0" i="0">
                <a:solidFill>
                  <a:srgbClr val="CCCCD8"/>
                </a:solidFill>
              </a:rPr>
              <a:t>67% of US flooring stores still use paper pricing (Floor Covering News, 2023). You are not selling a vitamin. You are selling a painkiller.</a:t>
            </a:r>
          </a:p>
        </p:txBody>
      </p:sp>
      <p:sp>
        <p:nvSpPr>
          <p:cNvPr id="16" name="Rectangle 15"/>
          <p:cNvSpPr/>
          <p:nvPr/>
        </p:nvSpPr>
        <p:spPr>
          <a:xfrm>
            <a:off x="438912" y="3840480"/>
            <a:ext cx="5650992" cy="12070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 y="3840480"/>
            <a:ext cx="45720" cy="120700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968496"/>
            <a:ext cx="5285232" cy="329184"/>
          </a:xfrm>
          <a:prstGeom prst="rect">
            <a:avLst/>
          </a:prstGeom>
          <a:noFill/>
        </p:spPr>
        <p:txBody>
          <a:bodyPr wrap="square">
            <a:spAutoFit/>
          </a:bodyPr>
          <a:lstStyle/>
          <a:p>
            <a:pPr algn="l"/>
            <a:r>
              <a:rPr sz="1000" b="1" i="0">
                <a:solidFill>
                  <a:srgbClr val="E8B830"/>
                </a:solidFill>
              </a:rPr>
              <a:t>Demo-first sales motion. No self-serve.</a:t>
            </a:r>
          </a:p>
        </p:txBody>
      </p:sp>
      <p:sp>
        <p:nvSpPr>
          <p:cNvPr id="19" name="TextBox 18"/>
          <p:cNvSpPr txBox="1"/>
          <p:nvPr/>
        </p:nvSpPr>
        <p:spPr>
          <a:xfrm>
            <a:off x="640080" y="4352544"/>
            <a:ext cx="5285232" cy="603504"/>
          </a:xfrm>
          <a:prstGeom prst="rect">
            <a:avLst/>
          </a:prstGeom>
          <a:noFill/>
        </p:spPr>
        <p:txBody>
          <a:bodyPr wrap="square">
            <a:spAutoFit/>
          </a:bodyPr>
          <a:lstStyle/>
          <a:p>
            <a:pPr algn="l"/>
            <a:r>
              <a:rPr sz="900" b="0" i="0">
                <a:solidFill>
                  <a:srgbClr val="CCCCD8"/>
                </a:solidFill>
              </a:rPr>
              <a:t>'Request a Demo' is your primary CTA. The product converts best when a flooring store owner sees it live. The bottleneck is getting them into that demo.</a:t>
            </a:r>
          </a:p>
        </p:txBody>
      </p:sp>
      <p:sp>
        <p:nvSpPr>
          <p:cNvPr id="20" name="Rectangle 19"/>
          <p:cNvSpPr/>
          <p:nvPr/>
        </p:nvSpPr>
        <p:spPr>
          <a:xfrm>
            <a:off x="6309360" y="3840480"/>
            <a:ext cx="5650992" cy="12070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3840480"/>
            <a:ext cx="45720" cy="120700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3968496"/>
            <a:ext cx="5285232" cy="329184"/>
          </a:xfrm>
          <a:prstGeom prst="rect">
            <a:avLst/>
          </a:prstGeom>
          <a:noFill/>
        </p:spPr>
        <p:txBody>
          <a:bodyPr wrap="square">
            <a:spAutoFit/>
          </a:bodyPr>
          <a:lstStyle/>
          <a:p>
            <a:pPr algn="l"/>
            <a:r>
              <a:rPr sz="1000" b="1" i="0">
                <a:solidFill>
                  <a:srgbClr val="E8B830"/>
                </a:solidFill>
              </a:rPr>
              <a:t>Zero outbound. Zero SDR. LinkedIn: 6 followers.</a:t>
            </a:r>
          </a:p>
        </p:txBody>
      </p:sp>
      <p:sp>
        <p:nvSpPr>
          <p:cNvPr id="23" name="TextBox 22"/>
          <p:cNvSpPr txBox="1"/>
          <p:nvPr/>
        </p:nvSpPr>
        <p:spPr>
          <a:xfrm>
            <a:off x="6510528" y="4352544"/>
            <a:ext cx="5285232" cy="603504"/>
          </a:xfrm>
          <a:prstGeom prst="rect">
            <a:avLst/>
          </a:prstGeom>
          <a:noFill/>
        </p:spPr>
        <p:txBody>
          <a:bodyPr wrap="square">
            <a:spAutoFit/>
          </a:bodyPr>
          <a:lstStyle/>
          <a:p>
            <a:pPr algn="l"/>
            <a:r>
              <a:rPr sz="900" b="0" i="0">
                <a:solidFill>
                  <a:srgbClr val="CCCCD8"/>
                </a:solidFill>
              </a:rPr>
              <a:t>Every customer you have came through referral, word of mouth, or someone who stumbled onto the website. There is no system running in the background.</a:t>
            </a:r>
          </a:p>
        </p:txBody>
      </p:sp>
      <p:sp>
        <p:nvSpPr>
          <p:cNvPr id="24" name="Rectangle 23"/>
          <p:cNvSpPr/>
          <p:nvPr/>
        </p:nvSpPr>
        <p:spPr>
          <a:xfrm>
            <a:off x="438912" y="5248656"/>
            <a:ext cx="5650992" cy="12070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8912" y="5248656"/>
            <a:ext cx="45720" cy="120700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376672"/>
            <a:ext cx="5285232" cy="329184"/>
          </a:xfrm>
          <a:prstGeom prst="rect">
            <a:avLst/>
          </a:prstGeom>
          <a:noFill/>
        </p:spPr>
        <p:txBody>
          <a:bodyPr wrap="square">
            <a:spAutoFit/>
          </a:bodyPr>
          <a:lstStyle/>
          <a:p>
            <a:pPr algn="l"/>
            <a:r>
              <a:rPr sz="1000" b="1" i="0">
                <a:solidFill>
                  <a:srgbClr val="E8B830"/>
                </a:solidFill>
              </a:rPr>
              <a:t>Main competitor: Showroom Pricing (est. 2020).</a:t>
            </a:r>
          </a:p>
        </p:txBody>
      </p:sp>
      <p:sp>
        <p:nvSpPr>
          <p:cNvPr id="27" name="TextBox 26"/>
          <p:cNvSpPr txBox="1"/>
          <p:nvPr/>
        </p:nvSpPr>
        <p:spPr>
          <a:xfrm>
            <a:off x="640080" y="5760720"/>
            <a:ext cx="5285232" cy="603504"/>
          </a:xfrm>
          <a:prstGeom prst="rect">
            <a:avLst/>
          </a:prstGeom>
          <a:noFill/>
        </p:spPr>
        <p:txBody>
          <a:bodyPr wrap="square">
            <a:spAutoFit/>
          </a:bodyPr>
          <a:lstStyle/>
          <a:p>
            <a:pPr algn="l"/>
            <a:r>
              <a:rPr sz="900" b="0" i="0">
                <a:solidFill>
                  <a:srgbClr val="CCCCD8"/>
                </a:solidFill>
              </a:rPr>
              <a:t>Co-founded by Kristen Stensby (35 years in flooring). Featured on 'Viewpoint with Dennis Quaid.' Building brand while you're building product.</a:t>
            </a:r>
          </a:p>
        </p:txBody>
      </p:sp>
      <p:sp>
        <p:nvSpPr>
          <p:cNvPr id="28" name="Rectangle 27"/>
          <p:cNvSpPr/>
          <p:nvPr/>
        </p:nvSpPr>
        <p:spPr>
          <a:xfrm>
            <a:off x="6309360" y="5248656"/>
            <a:ext cx="5650992" cy="120700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5248656"/>
            <a:ext cx="45720" cy="120700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5376672"/>
            <a:ext cx="5285232" cy="329184"/>
          </a:xfrm>
          <a:prstGeom prst="rect">
            <a:avLst/>
          </a:prstGeom>
          <a:noFill/>
        </p:spPr>
        <p:txBody>
          <a:bodyPr wrap="square">
            <a:spAutoFit/>
          </a:bodyPr>
          <a:lstStyle/>
          <a:p>
            <a:pPr algn="l"/>
            <a:r>
              <a:rPr sz="1000" b="1" i="0">
                <a:solidFill>
                  <a:srgbClr val="E8B830"/>
                </a:solidFill>
              </a:rPr>
              <a:t>Addressable market: 11,900 stores right now.</a:t>
            </a:r>
          </a:p>
        </p:txBody>
      </p:sp>
      <p:sp>
        <p:nvSpPr>
          <p:cNvPr id="31" name="TextBox 30"/>
          <p:cNvSpPr txBox="1"/>
          <p:nvPr/>
        </p:nvSpPr>
        <p:spPr>
          <a:xfrm>
            <a:off x="6510528" y="5760720"/>
            <a:ext cx="5285232" cy="603504"/>
          </a:xfrm>
          <a:prstGeom prst="rect">
            <a:avLst/>
          </a:prstGeom>
          <a:noFill/>
        </p:spPr>
        <p:txBody>
          <a:bodyPr wrap="square">
            <a:spAutoFit/>
          </a:bodyPr>
          <a:lstStyle/>
          <a:p>
            <a:pPr algn="l"/>
            <a:r>
              <a:rPr sz="900" b="0" i="0">
                <a:solidFill>
                  <a:srgbClr val="CCCCD8"/>
                </a:solidFill>
              </a:rPr>
              <a:t>17,834 flooring businesses in the US. 67% on paper = 11,900 who need exactly what you built. The question is how fast you reach them before Showroom Pricing does.</a:t>
            </a:r>
          </a:p>
        </p:txBody>
      </p:sp>
      <p:sp>
        <p:nvSpPr>
          <p:cNvPr id="32" name="TextBox 31"/>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347472"/>
          </a:xfrm>
          <a:prstGeom prst="rect">
            <a:avLst/>
          </a:prstGeom>
          <a:noFill/>
        </p:spPr>
        <p:txBody>
          <a:bodyPr wrap="square">
            <a:spAutoFit/>
          </a:bodyPr>
          <a:lstStyle/>
          <a:p>
            <a:pPr algn="l"/>
            <a:r>
              <a:rPr sz="900" b="1" i="0">
                <a:solidFill>
                  <a:srgbClr val="E84040"/>
                </a:solidFill>
              </a:rPr>
              <a:t>THE DIAGNOSIS</a:t>
            </a:r>
          </a:p>
        </p:txBody>
      </p:sp>
      <p:sp>
        <p:nvSpPr>
          <p:cNvPr id="5" name="TextBox 4"/>
          <p:cNvSpPr txBox="1"/>
          <p:nvPr/>
        </p:nvSpPr>
        <p:spPr>
          <a:xfrm>
            <a:off x="502920" y="621792"/>
            <a:ext cx="9601200" cy="1170432"/>
          </a:xfrm>
          <a:prstGeom prst="rect">
            <a:avLst/>
          </a:prstGeom>
          <a:noFill/>
        </p:spPr>
        <p:txBody>
          <a:bodyPr wrap="square">
            <a:spAutoFit/>
          </a:bodyPr>
          <a:lstStyle/>
          <a:p>
            <a:pPr algn="l"/>
            <a:r>
              <a:rPr sz="4000" b="1" i="0">
                <a:solidFill>
                  <a:srgbClr val="FFFFFF"/>
                </a:solidFill>
              </a:rPr>
              <a:t>The Goal Is Not
"More Leads."</a:t>
            </a:r>
          </a:p>
        </p:txBody>
      </p:sp>
      <p:sp>
        <p:nvSpPr>
          <p:cNvPr id="6" name="TextBox 5"/>
          <p:cNvSpPr txBox="1"/>
          <p:nvPr/>
        </p:nvSpPr>
        <p:spPr>
          <a:xfrm>
            <a:off x="502920" y="1883664"/>
            <a:ext cx="10241280" cy="420624"/>
          </a:xfrm>
          <a:prstGeom prst="rect">
            <a:avLst/>
          </a:prstGeom>
          <a:noFill/>
        </p:spPr>
        <p:txBody>
          <a:bodyPr wrap="square">
            <a:spAutoFit/>
          </a:bodyPr>
          <a:lstStyle/>
          <a:p>
            <a:pPr algn="l"/>
            <a:r>
              <a:rPr sz="1200" b="0" i="1">
                <a:solidFill>
                  <a:srgbClr val="CCCCD8"/>
                </a:solidFill>
              </a:rPr>
              <a:t>The goal is a repeatable system that gets flooring store owners into your demo every single month -- without you doing it manually.</a:t>
            </a:r>
          </a:p>
        </p:txBody>
      </p:sp>
      <p:sp>
        <p:nvSpPr>
          <p:cNvPr id="7" name="Rectangle 6"/>
          <p:cNvSpPr/>
          <p:nvPr/>
        </p:nvSpPr>
        <p:spPr>
          <a:xfrm>
            <a:off x="502920" y="2414016"/>
            <a:ext cx="11247120" cy="36576"/>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578608"/>
            <a:ext cx="5650992" cy="17190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578608"/>
            <a:ext cx="5650992" cy="4572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724912"/>
            <a:ext cx="5285232" cy="329184"/>
          </a:xfrm>
          <a:prstGeom prst="rect">
            <a:avLst/>
          </a:prstGeom>
          <a:noFill/>
        </p:spPr>
        <p:txBody>
          <a:bodyPr wrap="square">
            <a:spAutoFit/>
          </a:bodyPr>
          <a:lstStyle/>
          <a:p>
            <a:pPr algn="l"/>
            <a:r>
              <a:rPr sz="1000" b="1" i="0">
                <a:solidFill>
                  <a:srgbClr val="E84040"/>
                </a:solidFill>
              </a:rPr>
              <a:t>REFERRAL CEILING</a:t>
            </a:r>
          </a:p>
        </p:txBody>
      </p:sp>
      <p:sp>
        <p:nvSpPr>
          <p:cNvPr id="11" name="TextBox 10"/>
          <p:cNvSpPr txBox="1"/>
          <p:nvPr/>
        </p:nvSpPr>
        <p:spPr>
          <a:xfrm>
            <a:off x="621792" y="3108960"/>
            <a:ext cx="5285232" cy="1060704"/>
          </a:xfrm>
          <a:prstGeom prst="rect">
            <a:avLst/>
          </a:prstGeom>
          <a:noFill/>
        </p:spPr>
        <p:txBody>
          <a:bodyPr wrap="square">
            <a:spAutoFit/>
          </a:bodyPr>
          <a:lstStyle/>
          <a:p>
            <a:pPr algn="l"/>
            <a:r>
              <a:rPr sz="950" b="0" i="0">
                <a:solidFill>
                  <a:srgbClr val="CCCCD8"/>
                </a:solidFill>
              </a:rPr>
              <a:t>Every customer you have came from someone who already knew you. Referrals convert well because trust exists -- but they cap at your personal network. You cannot build a $5M ARR business on referrals alone.</a:t>
            </a:r>
          </a:p>
        </p:txBody>
      </p:sp>
      <p:sp>
        <p:nvSpPr>
          <p:cNvPr id="12" name="Rectangle 11"/>
          <p:cNvSpPr/>
          <p:nvPr/>
        </p:nvSpPr>
        <p:spPr>
          <a:xfrm>
            <a:off x="6309360" y="2578608"/>
            <a:ext cx="5650992" cy="17190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2578608"/>
            <a:ext cx="5650992" cy="4572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724912"/>
            <a:ext cx="5285232" cy="329184"/>
          </a:xfrm>
          <a:prstGeom prst="rect">
            <a:avLst/>
          </a:prstGeom>
          <a:noFill/>
        </p:spPr>
        <p:txBody>
          <a:bodyPr wrap="square">
            <a:spAutoFit/>
          </a:bodyPr>
          <a:lstStyle/>
          <a:p>
            <a:pPr algn="l"/>
            <a:r>
              <a:rPr sz="1000" b="1" i="0">
                <a:solidFill>
                  <a:srgbClr val="E84040"/>
                </a:solidFill>
              </a:rPr>
              <a:t>NO SYSTEM = NO COMPOUNDING</a:t>
            </a:r>
          </a:p>
        </p:txBody>
      </p:sp>
      <p:sp>
        <p:nvSpPr>
          <p:cNvPr id="15" name="TextBox 14"/>
          <p:cNvSpPr txBox="1"/>
          <p:nvPr/>
        </p:nvSpPr>
        <p:spPr>
          <a:xfrm>
            <a:off x="6492240" y="3108960"/>
            <a:ext cx="5285232" cy="1060704"/>
          </a:xfrm>
          <a:prstGeom prst="rect">
            <a:avLst/>
          </a:prstGeom>
          <a:noFill/>
        </p:spPr>
        <p:txBody>
          <a:bodyPr wrap="square">
            <a:spAutoFit/>
          </a:bodyPr>
          <a:lstStyle/>
          <a:p>
            <a:pPr algn="l"/>
            <a:r>
              <a:rPr sz="950" b="0" i="0">
                <a:solidFill>
                  <a:srgbClr val="CCCCD8"/>
                </a:solidFill>
              </a:rPr>
              <a:t>A trade show conversation. A LinkedIn post with 6 followers. An occasional website visit. None of these compound. Every month starts from scratch. A proper outbound system gets better every month it runs.</a:t>
            </a:r>
          </a:p>
        </p:txBody>
      </p:sp>
      <p:sp>
        <p:nvSpPr>
          <p:cNvPr id="16" name="Rectangle 15"/>
          <p:cNvSpPr/>
          <p:nvPr/>
        </p:nvSpPr>
        <p:spPr>
          <a:xfrm>
            <a:off x="438912" y="4498848"/>
            <a:ext cx="5650992" cy="17190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 y="4498848"/>
            <a:ext cx="5650992"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4645152"/>
            <a:ext cx="5285232" cy="329184"/>
          </a:xfrm>
          <a:prstGeom prst="rect">
            <a:avLst/>
          </a:prstGeom>
          <a:noFill/>
        </p:spPr>
        <p:txBody>
          <a:bodyPr wrap="square">
            <a:spAutoFit/>
          </a:bodyPr>
          <a:lstStyle/>
          <a:p>
            <a:pPr algn="l"/>
            <a:r>
              <a:rPr sz="1000" b="1" i="0">
                <a:solidFill>
                  <a:srgbClr val="F0A020"/>
                </a:solidFill>
              </a:rPr>
              <a:t>11,900 TARGETS. ZERO TOUCHED.</a:t>
            </a:r>
          </a:p>
        </p:txBody>
      </p:sp>
      <p:sp>
        <p:nvSpPr>
          <p:cNvPr id="19" name="TextBox 18"/>
          <p:cNvSpPr txBox="1"/>
          <p:nvPr/>
        </p:nvSpPr>
        <p:spPr>
          <a:xfrm>
            <a:off x="621792" y="5029200"/>
            <a:ext cx="5285232" cy="1060704"/>
          </a:xfrm>
          <a:prstGeom prst="rect">
            <a:avLst/>
          </a:prstGeom>
          <a:noFill/>
        </p:spPr>
        <p:txBody>
          <a:bodyPr wrap="square">
            <a:spAutoFit/>
          </a:bodyPr>
          <a:lstStyle/>
          <a:p>
            <a:pPr algn="l"/>
            <a:r>
              <a:rPr sz="950" b="0" i="0">
                <a:solidFill>
                  <a:srgbClr val="CCCCD8"/>
                </a:solidFill>
              </a:rPr>
              <a:t>Showroom Pricing has been calling on your market since 2020. Every flooring store they convert is one less for you. The window to establish outbound distribution is now -- not next year.</a:t>
            </a:r>
          </a:p>
        </p:txBody>
      </p:sp>
      <p:sp>
        <p:nvSpPr>
          <p:cNvPr id="20" name="Rectangle 19"/>
          <p:cNvSpPr/>
          <p:nvPr/>
        </p:nvSpPr>
        <p:spPr>
          <a:xfrm>
            <a:off x="6309360" y="4498848"/>
            <a:ext cx="5650992" cy="17190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4498848"/>
            <a:ext cx="5650992"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4645152"/>
            <a:ext cx="5285232" cy="329184"/>
          </a:xfrm>
          <a:prstGeom prst="rect">
            <a:avLst/>
          </a:prstGeom>
          <a:noFill/>
        </p:spPr>
        <p:txBody>
          <a:bodyPr wrap="square">
            <a:spAutoFit/>
          </a:bodyPr>
          <a:lstStyle/>
          <a:p>
            <a:pPr algn="l"/>
            <a:r>
              <a:rPr sz="1000" b="1" i="0">
                <a:solidFill>
                  <a:srgbClr val="F0A020"/>
                </a:solidFill>
              </a:rPr>
              <a:t>YOUR DEMO CONVERTS. YOUR PIPELINE DOESN'T.</a:t>
            </a:r>
          </a:p>
        </p:txBody>
      </p:sp>
      <p:sp>
        <p:nvSpPr>
          <p:cNvPr id="23" name="TextBox 22"/>
          <p:cNvSpPr txBox="1"/>
          <p:nvPr/>
        </p:nvSpPr>
        <p:spPr>
          <a:xfrm>
            <a:off x="6492240" y="5029200"/>
            <a:ext cx="5285232" cy="1060704"/>
          </a:xfrm>
          <a:prstGeom prst="rect">
            <a:avLst/>
          </a:prstGeom>
          <a:noFill/>
        </p:spPr>
        <p:txBody>
          <a:bodyPr wrap="square">
            <a:spAutoFit/>
          </a:bodyPr>
          <a:lstStyle/>
          <a:p>
            <a:pPr algn="l"/>
            <a:r>
              <a:rPr sz="950" b="0" i="0">
                <a:solidFill>
                  <a:srgbClr val="CCCCD8"/>
                </a:solidFill>
              </a:rPr>
              <a:t>If your close rate in demo is strong, the problem is not your product or your pitch. The problem is the number of demos being booked per month. That is a pipeline problem -- and it is 100% fixable.</a:t>
            </a:r>
          </a:p>
        </p:txBody>
      </p:sp>
      <p:sp>
        <p:nvSpPr>
          <p:cNvPr id="24" name="TextBox 23"/>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347472"/>
          </a:xfrm>
          <a:prstGeom prst="rect">
            <a:avLst/>
          </a:prstGeom>
          <a:noFill/>
        </p:spPr>
        <p:txBody>
          <a:bodyPr wrap="square">
            <a:spAutoFit/>
          </a:bodyPr>
          <a:lstStyle/>
          <a:p>
            <a:pPr algn="l"/>
            <a:r>
              <a:rPr sz="900" b="1" i="0">
                <a:solidFill>
                  <a:srgbClr val="B8860B"/>
                </a:solidFill>
              </a:rPr>
              <a:t>THE MARKET</a:t>
            </a:r>
          </a:p>
        </p:txBody>
      </p:sp>
      <p:sp>
        <p:nvSpPr>
          <p:cNvPr id="5" name="TextBox 4"/>
          <p:cNvSpPr txBox="1"/>
          <p:nvPr/>
        </p:nvSpPr>
        <p:spPr>
          <a:xfrm>
            <a:off x="502920" y="621792"/>
            <a:ext cx="9144000" cy="1170432"/>
          </a:xfrm>
          <a:prstGeom prst="rect">
            <a:avLst/>
          </a:prstGeom>
          <a:noFill/>
        </p:spPr>
        <p:txBody>
          <a:bodyPr wrap="square">
            <a:spAutoFit/>
          </a:bodyPr>
          <a:lstStyle/>
          <a:p>
            <a:pPr algn="l"/>
            <a:r>
              <a:rPr sz="3800" b="1" i="0">
                <a:solidFill>
                  <a:srgbClr val="FFFFFF"/>
                </a:solidFill>
              </a:rPr>
              <a:t>You Are Sitting on
11,900 Open Doors.</a:t>
            </a:r>
          </a:p>
        </p:txBody>
      </p:sp>
      <p:sp>
        <p:nvSpPr>
          <p:cNvPr id="6" name="TextBox 5"/>
          <p:cNvSpPr txBox="1"/>
          <p:nvPr/>
        </p:nvSpPr>
        <p:spPr>
          <a:xfrm>
            <a:off x="502920" y="1883664"/>
            <a:ext cx="10241280" cy="384048"/>
          </a:xfrm>
          <a:prstGeom prst="rect">
            <a:avLst/>
          </a:prstGeom>
          <a:noFill/>
        </p:spPr>
        <p:txBody>
          <a:bodyPr wrap="square">
            <a:spAutoFit/>
          </a:bodyPr>
          <a:lstStyle/>
          <a:p>
            <a:pPr algn="l"/>
            <a:r>
              <a:rPr sz="1200" b="0" i="1">
                <a:solidFill>
                  <a:srgbClr val="CCCCD8"/>
                </a:solidFill>
              </a:rPr>
              <a:t>Every one of these stores has the exact problem your product solves. None of them are hearing from you.</a:t>
            </a:r>
          </a:p>
        </p:txBody>
      </p:sp>
      <p:sp>
        <p:nvSpPr>
          <p:cNvPr id="7" name="Rectangle 6"/>
          <p:cNvSpPr/>
          <p:nvPr/>
        </p:nvSpPr>
        <p:spPr>
          <a:xfrm>
            <a:off x="502920" y="2377440"/>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523744"/>
            <a:ext cx="5394960" cy="398678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523744"/>
            <a:ext cx="5394960"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633472"/>
            <a:ext cx="5120640" cy="310896"/>
          </a:xfrm>
          <a:prstGeom prst="rect">
            <a:avLst/>
          </a:prstGeom>
          <a:noFill/>
        </p:spPr>
        <p:txBody>
          <a:bodyPr wrap="square">
            <a:spAutoFit/>
          </a:bodyPr>
          <a:lstStyle/>
          <a:p>
            <a:pPr algn="l"/>
            <a:r>
              <a:rPr sz="900" b="1" i="0">
                <a:solidFill>
                  <a:srgbClr val="B8860B"/>
                </a:solidFill>
              </a:rPr>
              <a:t>THE TOTAL MARKET</a:t>
            </a:r>
          </a:p>
        </p:txBody>
      </p:sp>
      <p:sp>
        <p:nvSpPr>
          <p:cNvPr id="11" name="TextBox 10"/>
          <p:cNvSpPr txBox="1"/>
          <p:nvPr/>
        </p:nvSpPr>
        <p:spPr>
          <a:xfrm>
            <a:off x="594360" y="2999232"/>
            <a:ext cx="5120640" cy="914400"/>
          </a:xfrm>
          <a:prstGeom prst="rect">
            <a:avLst/>
          </a:prstGeom>
          <a:noFill/>
        </p:spPr>
        <p:txBody>
          <a:bodyPr wrap="square">
            <a:spAutoFit/>
          </a:bodyPr>
          <a:lstStyle/>
          <a:p>
            <a:pPr algn="ctr"/>
            <a:r>
              <a:rPr sz="5400" b="1" i="0">
                <a:solidFill>
                  <a:srgbClr val="FFFFFF"/>
                </a:solidFill>
              </a:rPr>
              <a:t>17,834</a:t>
            </a:r>
          </a:p>
        </p:txBody>
      </p:sp>
      <p:sp>
        <p:nvSpPr>
          <p:cNvPr id="12" name="TextBox 11"/>
          <p:cNvSpPr txBox="1"/>
          <p:nvPr/>
        </p:nvSpPr>
        <p:spPr>
          <a:xfrm>
            <a:off x="594360" y="3913632"/>
            <a:ext cx="5120640" cy="329184"/>
          </a:xfrm>
          <a:prstGeom prst="rect">
            <a:avLst/>
          </a:prstGeom>
          <a:noFill/>
        </p:spPr>
        <p:txBody>
          <a:bodyPr wrap="square">
            <a:spAutoFit/>
          </a:bodyPr>
          <a:lstStyle/>
          <a:p>
            <a:pPr algn="ctr"/>
            <a:r>
              <a:rPr sz="1100" b="0" i="0">
                <a:solidFill>
                  <a:srgbClr val="CCCCD8"/>
                </a:solidFill>
              </a:rPr>
              <a:t>flooring businesses in the United States</a:t>
            </a:r>
          </a:p>
        </p:txBody>
      </p:sp>
      <p:sp>
        <p:nvSpPr>
          <p:cNvPr id="13" name="TextBox 12"/>
          <p:cNvSpPr txBox="1"/>
          <p:nvPr/>
        </p:nvSpPr>
        <p:spPr>
          <a:xfrm>
            <a:off x="594360" y="4315968"/>
            <a:ext cx="5120640" cy="310896"/>
          </a:xfrm>
          <a:prstGeom prst="rect">
            <a:avLst/>
          </a:prstGeom>
          <a:noFill/>
        </p:spPr>
        <p:txBody>
          <a:bodyPr wrap="square">
            <a:spAutoFit/>
          </a:bodyPr>
          <a:lstStyle/>
          <a:p>
            <a:pPr algn="ctr"/>
            <a:r>
              <a:rPr sz="1000" b="1" i="0">
                <a:solidFill>
                  <a:srgbClr val="E8B830"/>
                </a:solidFill>
              </a:rPr>
              <a:t>$62.8B industry revenue (2025)</a:t>
            </a:r>
          </a:p>
        </p:txBody>
      </p:sp>
      <p:sp>
        <p:nvSpPr>
          <p:cNvPr id="14" name="Rectangle 13"/>
          <p:cNvSpPr/>
          <p:nvPr/>
        </p:nvSpPr>
        <p:spPr>
          <a:xfrm>
            <a:off x="594360" y="4736592"/>
            <a:ext cx="5138928" cy="36576"/>
          </a:xfrm>
          <a:prstGeom prst="rect">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46320"/>
            <a:ext cx="5120640" cy="274320"/>
          </a:xfrm>
          <a:prstGeom prst="rect">
            <a:avLst/>
          </a:prstGeom>
          <a:noFill/>
        </p:spPr>
        <p:txBody>
          <a:bodyPr wrap="square">
            <a:spAutoFit/>
          </a:bodyPr>
          <a:lstStyle/>
          <a:p>
            <a:pPr algn="ctr"/>
            <a:r>
              <a:rPr sz="800" b="0" i="1">
                <a:solidFill>
                  <a:srgbClr val="888899"/>
                </a:solidFill>
              </a:rPr>
              <a:t>Source: IBISWorld Floor Covering Stores USA, 2025</a:t>
            </a:r>
          </a:p>
        </p:txBody>
      </p:sp>
      <p:sp>
        <p:nvSpPr>
          <p:cNvPr id="16" name="TextBox 15"/>
          <p:cNvSpPr txBox="1"/>
          <p:nvPr/>
        </p:nvSpPr>
        <p:spPr>
          <a:xfrm>
            <a:off x="594360" y="5193792"/>
            <a:ext cx="5120640" cy="329184"/>
          </a:xfrm>
          <a:prstGeom prst="rect">
            <a:avLst/>
          </a:prstGeom>
          <a:noFill/>
        </p:spPr>
        <p:txBody>
          <a:bodyPr wrap="square">
            <a:spAutoFit/>
          </a:bodyPr>
          <a:lstStyle/>
          <a:p>
            <a:pPr algn="ctr"/>
            <a:r>
              <a:rPr sz="850" b="0" i="1">
                <a:solidFill>
                  <a:srgbClr val="CCCCD8"/>
                </a:solidFill>
              </a:rPr>
              <a:t>independent retailers vs big-box: the independents are YOUR buyer</a:t>
            </a:r>
          </a:p>
        </p:txBody>
      </p:sp>
      <p:sp>
        <p:nvSpPr>
          <p:cNvPr id="17" name="Rectangle 16"/>
          <p:cNvSpPr/>
          <p:nvPr/>
        </p:nvSpPr>
        <p:spPr>
          <a:xfrm>
            <a:off x="5998464" y="2523744"/>
            <a:ext cx="5742432" cy="398678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98464" y="2523744"/>
            <a:ext cx="5742432"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44768" y="2633472"/>
            <a:ext cx="5486400" cy="310896"/>
          </a:xfrm>
          <a:prstGeom prst="rect">
            <a:avLst/>
          </a:prstGeom>
          <a:noFill/>
        </p:spPr>
        <p:txBody>
          <a:bodyPr wrap="square">
            <a:spAutoFit/>
          </a:bodyPr>
          <a:lstStyle/>
          <a:p>
            <a:pPr algn="l"/>
            <a:r>
              <a:rPr sz="900" b="1" i="0">
                <a:solidFill>
                  <a:srgbClr val="B8860B"/>
                </a:solidFill>
              </a:rPr>
              <a:t>YOUR ADDRESSABLE SLICE</a:t>
            </a:r>
          </a:p>
        </p:txBody>
      </p:sp>
      <p:sp>
        <p:nvSpPr>
          <p:cNvPr id="20" name="Rectangle 19"/>
          <p:cNvSpPr/>
          <p:nvPr/>
        </p:nvSpPr>
        <p:spPr>
          <a:xfrm>
            <a:off x="6144768" y="3035808"/>
            <a:ext cx="54864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44768" y="3035808"/>
            <a:ext cx="45720" cy="47548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54496" y="3127248"/>
            <a:ext cx="1280160" cy="274320"/>
          </a:xfrm>
          <a:prstGeom prst="rect">
            <a:avLst/>
          </a:prstGeom>
          <a:noFill/>
        </p:spPr>
        <p:txBody>
          <a:bodyPr wrap="square">
            <a:spAutoFit/>
          </a:bodyPr>
          <a:lstStyle/>
          <a:p>
            <a:pPr algn="l"/>
            <a:r>
              <a:rPr sz="1400" b="1" i="0">
                <a:solidFill>
                  <a:srgbClr val="E8B830"/>
                </a:solidFill>
              </a:rPr>
              <a:t>17,834</a:t>
            </a:r>
          </a:p>
        </p:txBody>
      </p:sp>
      <p:sp>
        <p:nvSpPr>
          <p:cNvPr id="23" name="TextBox 22"/>
          <p:cNvSpPr txBox="1"/>
          <p:nvPr/>
        </p:nvSpPr>
        <p:spPr>
          <a:xfrm>
            <a:off x="7589520" y="3127248"/>
            <a:ext cx="3931920" cy="274320"/>
          </a:xfrm>
          <a:prstGeom prst="rect">
            <a:avLst/>
          </a:prstGeom>
          <a:noFill/>
        </p:spPr>
        <p:txBody>
          <a:bodyPr wrap="square">
            <a:spAutoFit/>
          </a:bodyPr>
          <a:lstStyle/>
          <a:p>
            <a:pPr algn="l"/>
            <a:r>
              <a:rPr sz="950" b="0" i="0">
                <a:solidFill>
                  <a:srgbClr val="CCCCD8"/>
                </a:solidFill>
              </a:rPr>
              <a:t>Total US flooring businesses</a:t>
            </a:r>
          </a:p>
        </p:txBody>
      </p:sp>
      <p:sp>
        <p:nvSpPr>
          <p:cNvPr id="24" name="Rectangle 23"/>
          <p:cNvSpPr/>
          <p:nvPr/>
        </p:nvSpPr>
        <p:spPr>
          <a:xfrm>
            <a:off x="6144768" y="3621024"/>
            <a:ext cx="54864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44768" y="3621024"/>
            <a:ext cx="45720" cy="475488"/>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3712463"/>
            <a:ext cx="1280160" cy="274320"/>
          </a:xfrm>
          <a:prstGeom prst="rect">
            <a:avLst/>
          </a:prstGeom>
          <a:noFill/>
        </p:spPr>
        <p:txBody>
          <a:bodyPr wrap="square">
            <a:spAutoFit/>
          </a:bodyPr>
          <a:lstStyle/>
          <a:p>
            <a:pPr algn="l"/>
            <a:r>
              <a:rPr sz="1400" b="1" i="0">
                <a:solidFill>
                  <a:srgbClr val="F0A020"/>
                </a:solidFill>
              </a:rPr>
              <a:t>11,929</a:t>
            </a:r>
          </a:p>
        </p:txBody>
      </p:sp>
      <p:sp>
        <p:nvSpPr>
          <p:cNvPr id="27" name="TextBox 26"/>
          <p:cNvSpPr txBox="1"/>
          <p:nvPr/>
        </p:nvSpPr>
        <p:spPr>
          <a:xfrm>
            <a:off x="7589520" y="3712463"/>
            <a:ext cx="3931920" cy="274320"/>
          </a:xfrm>
          <a:prstGeom prst="rect">
            <a:avLst/>
          </a:prstGeom>
          <a:noFill/>
        </p:spPr>
        <p:txBody>
          <a:bodyPr wrap="square">
            <a:spAutoFit/>
          </a:bodyPr>
          <a:lstStyle/>
          <a:p>
            <a:pPr algn="l"/>
            <a:r>
              <a:rPr sz="950" b="0" i="0">
                <a:solidFill>
                  <a:srgbClr val="CCCCD8"/>
                </a:solidFill>
              </a:rPr>
              <a:t>67% still using paper price sheets</a:t>
            </a:r>
          </a:p>
        </p:txBody>
      </p:sp>
      <p:sp>
        <p:nvSpPr>
          <p:cNvPr id="28" name="Rectangle 27"/>
          <p:cNvSpPr/>
          <p:nvPr/>
        </p:nvSpPr>
        <p:spPr>
          <a:xfrm>
            <a:off x="6144768" y="4206240"/>
            <a:ext cx="54864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44768" y="4206240"/>
            <a:ext cx="45720" cy="475488"/>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54496" y="4297679"/>
            <a:ext cx="1280160" cy="274320"/>
          </a:xfrm>
          <a:prstGeom prst="rect">
            <a:avLst/>
          </a:prstGeom>
          <a:noFill/>
        </p:spPr>
        <p:txBody>
          <a:bodyPr wrap="square">
            <a:spAutoFit/>
          </a:bodyPr>
          <a:lstStyle/>
          <a:p>
            <a:pPr algn="l"/>
            <a:r>
              <a:rPr sz="1400" b="1" i="0">
                <a:solidFill>
                  <a:srgbClr val="28C870"/>
                </a:solidFill>
              </a:rPr>
              <a:t>5,964</a:t>
            </a:r>
          </a:p>
        </p:txBody>
      </p:sp>
      <p:sp>
        <p:nvSpPr>
          <p:cNvPr id="31" name="TextBox 30"/>
          <p:cNvSpPr txBox="1"/>
          <p:nvPr/>
        </p:nvSpPr>
        <p:spPr>
          <a:xfrm>
            <a:off x="7589520" y="4297679"/>
            <a:ext cx="3931920" cy="274320"/>
          </a:xfrm>
          <a:prstGeom prst="rect">
            <a:avLst/>
          </a:prstGeom>
          <a:noFill/>
        </p:spPr>
        <p:txBody>
          <a:bodyPr wrap="square">
            <a:spAutoFit/>
          </a:bodyPr>
          <a:lstStyle/>
          <a:p>
            <a:pPr algn="l"/>
            <a:r>
              <a:rPr sz="950" b="0" i="0">
                <a:solidFill>
                  <a:srgbClr val="CCCCD8"/>
                </a:solidFill>
              </a:rPr>
              <a:t>Independent showrooms (your sweet spot)</a:t>
            </a:r>
          </a:p>
        </p:txBody>
      </p:sp>
      <p:sp>
        <p:nvSpPr>
          <p:cNvPr id="32" name="Rectangle 31"/>
          <p:cNvSpPr/>
          <p:nvPr/>
        </p:nvSpPr>
        <p:spPr>
          <a:xfrm>
            <a:off x="6144768" y="4791456"/>
            <a:ext cx="54864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44768" y="4791456"/>
            <a:ext cx="45720" cy="475488"/>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4496" y="4882896"/>
            <a:ext cx="1280160" cy="274320"/>
          </a:xfrm>
          <a:prstGeom prst="rect">
            <a:avLst/>
          </a:prstGeom>
          <a:noFill/>
        </p:spPr>
        <p:txBody>
          <a:bodyPr wrap="square">
            <a:spAutoFit/>
          </a:bodyPr>
          <a:lstStyle/>
          <a:p>
            <a:pPr algn="l"/>
            <a:r>
              <a:rPr sz="1400" b="1" i="0">
                <a:solidFill>
                  <a:srgbClr val="28C870"/>
                </a:solidFill>
              </a:rPr>
              <a:t>~119</a:t>
            </a:r>
          </a:p>
        </p:txBody>
      </p:sp>
      <p:sp>
        <p:nvSpPr>
          <p:cNvPr id="35" name="TextBox 34"/>
          <p:cNvSpPr txBox="1"/>
          <p:nvPr/>
        </p:nvSpPr>
        <p:spPr>
          <a:xfrm>
            <a:off x="7589520" y="4882896"/>
            <a:ext cx="3931920" cy="274320"/>
          </a:xfrm>
          <a:prstGeom prst="rect">
            <a:avLst/>
          </a:prstGeom>
          <a:noFill/>
        </p:spPr>
        <p:txBody>
          <a:bodyPr wrap="square">
            <a:spAutoFit/>
          </a:bodyPr>
          <a:lstStyle/>
          <a:p>
            <a:pPr algn="l"/>
            <a:r>
              <a:rPr sz="950" b="1" i="0">
                <a:solidFill>
                  <a:srgbClr val="FFFFFF"/>
                </a:solidFill>
              </a:rPr>
              <a:t>1% penetration = $499K+ ARR for you</a:t>
            </a:r>
          </a:p>
        </p:txBody>
      </p:sp>
      <p:sp>
        <p:nvSpPr>
          <p:cNvPr id="36" name="Rectangle 35"/>
          <p:cNvSpPr/>
          <p:nvPr/>
        </p:nvSpPr>
        <p:spPr>
          <a:xfrm>
            <a:off x="6144768" y="5376672"/>
            <a:ext cx="548640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44768" y="5376672"/>
            <a:ext cx="45720" cy="47548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54496" y="5468112"/>
            <a:ext cx="1280160" cy="274320"/>
          </a:xfrm>
          <a:prstGeom prst="rect">
            <a:avLst/>
          </a:prstGeom>
          <a:noFill/>
        </p:spPr>
        <p:txBody>
          <a:bodyPr wrap="square">
            <a:spAutoFit/>
          </a:bodyPr>
          <a:lstStyle/>
          <a:p>
            <a:pPr algn="l"/>
            <a:r>
              <a:rPr sz="1400" b="1" i="0">
                <a:solidFill>
                  <a:srgbClr val="E8B830"/>
                </a:solidFill>
              </a:rPr>
              <a:t>~596</a:t>
            </a:r>
          </a:p>
        </p:txBody>
      </p:sp>
      <p:sp>
        <p:nvSpPr>
          <p:cNvPr id="39" name="TextBox 38"/>
          <p:cNvSpPr txBox="1"/>
          <p:nvPr/>
        </p:nvSpPr>
        <p:spPr>
          <a:xfrm>
            <a:off x="7589520" y="5468112"/>
            <a:ext cx="3931920" cy="274320"/>
          </a:xfrm>
          <a:prstGeom prst="rect">
            <a:avLst/>
          </a:prstGeom>
          <a:noFill/>
        </p:spPr>
        <p:txBody>
          <a:bodyPr wrap="square">
            <a:spAutoFit/>
          </a:bodyPr>
          <a:lstStyle/>
          <a:p>
            <a:pPr algn="l"/>
            <a:r>
              <a:rPr sz="950" b="1" i="0">
                <a:solidFill>
                  <a:srgbClr val="FFFFFF"/>
                </a:solidFill>
              </a:rPr>
              <a:t>5% penetration = $2.5M+ ARR for you</a:t>
            </a:r>
          </a:p>
        </p:txBody>
      </p:sp>
      <p:sp>
        <p:nvSpPr>
          <p:cNvPr id="40" name="TextBox 39"/>
          <p:cNvSpPr txBox="1"/>
          <p:nvPr/>
        </p:nvSpPr>
        <p:spPr>
          <a:xfrm>
            <a:off x="502920" y="6455664"/>
            <a:ext cx="11155680" cy="310896"/>
          </a:xfrm>
          <a:prstGeom prst="rect">
            <a:avLst/>
          </a:prstGeom>
          <a:noFill/>
        </p:spPr>
        <p:txBody>
          <a:bodyPr wrap="square">
            <a:spAutoFit/>
          </a:bodyPr>
          <a:lstStyle/>
          <a:p>
            <a:pPr algn="l"/>
            <a:r>
              <a:rPr sz="900" b="1" i="0">
                <a:solidFill>
                  <a:srgbClr val="E8B830"/>
                </a:solidFill>
              </a:rPr>
              <a:t>At $350/month average ACV. SELLL builds the system that moves you from 0% to 1% to 5%.</a:t>
            </a:r>
          </a:p>
        </p:txBody>
      </p:sp>
      <p:sp>
        <p:nvSpPr>
          <p:cNvPr id="41" name="TextBox 40"/>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347472"/>
          </a:xfrm>
          <a:prstGeom prst="rect">
            <a:avLst/>
          </a:prstGeom>
          <a:noFill/>
        </p:spPr>
        <p:txBody>
          <a:bodyPr wrap="square">
            <a:spAutoFit/>
          </a:bodyPr>
          <a:lstStyle/>
          <a:p>
            <a:pPr algn="l"/>
            <a:r>
              <a:rPr sz="900" b="1" i="0">
                <a:solidFill>
                  <a:srgbClr val="B8860B"/>
                </a:solidFill>
              </a:rPr>
              <a:t>LIVE SIGNALS</a:t>
            </a:r>
          </a:p>
        </p:txBody>
      </p:sp>
      <p:sp>
        <p:nvSpPr>
          <p:cNvPr id="5" name="TextBox 4"/>
          <p:cNvSpPr txBox="1"/>
          <p:nvPr/>
        </p:nvSpPr>
        <p:spPr>
          <a:xfrm>
            <a:off x="502920" y="621792"/>
            <a:ext cx="9601200" cy="1170432"/>
          </a:xfrm>
          <a:prstGeom prst="rect">
            <a:avLst/>
          </a:prstGeom>
          <a:noFill/>
        </p:spPr>
        <p:txBody>
          <a:bodyPr wrap="square">
            <a:spAutoFit/>
          </a:bodyPr>
          <a:lstStyle/>
          <a:p>
            <a:pPr algn="l"/>
            <a:r>
              <a:rPr sz="3400" b="1" i="0">
                <a:solidFill>
                  <a:srgbClr val="FFFFFF"/>
                </a:solidFill>
              </a:rPr>
              <a:t>5 Triggers That Fire Every Week
Inside Your ICP. Nobody Responding.</a:t>
            </a:r>
          </a:p>
        </p:txBody>
      </p:sp>
      <p:sp>
        <p:nvSpPr>
          <p:cNvPr id="6" name="TextBox 5"/>
          <p:cNvSpPr txBox="1"/>
          <p:nvPr/>
        </p:nvSpPr>
        <p:spPr>
          <a:xfrm>
            <a:off x="502920" y="1883664"/>
            <a:ext cx="10972800" cy="384048"/>
          </a:xfrm>
          <a:prstGeom prst="rect">
            <a:avLst/>
          </a:prstGeom>
          <a:noFill/>
        </p:spPr>
        <p:txBody>
          <a:bodyPr wrap="square">
            <a:spAutoFit/>
          </a:bodyPr>
          <a:lstStyle/>
          <a:p>
            <a:pPr algn="l"/>
            <a:r>
              <a:rPr sz="1100" b="0" i="1">
                <a:solidFill>
                  <a:srgbClr val="CCCCD8"/>
                </a:solidFill>
              </a:rPr>
              <a:t>These are events that mean a flooring store owner is most likely to buy right now. Not a generic list -- your specific ICP, your specific timing.</a:t>
            </a:r>
          </a:p>
        </p:txBody>
      </p:sp>
      <p:sp>
        <p:nvSpPr>
          <p:cNvPr id="7" name="Rectangle 6"/>
          <p:cNvSpPr/>
          <p:nvPr/>
        </p:nvSpPr>
        <p:spPr>
          <a:xfrm>
            <a:off x="502920" y="2377440"/>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523744"/>
            <a:ext cx="5650992" cy="96926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523744"/>
            <a:ext cx="5650992" cy="4572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3" y="2615184"/>
            <a:ext cx="1051560" cy="256032"/>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3" y="2651760"/>
            <a:ext cx="868680" cy="182880"/>
          </a:xfrm>
          <a:prstGeom prst="rect">
            <a:avLst/>
          </a:prstGeom>
          <a:noFill/>
        </p:spPr>
        <p:txBody>
          <a:bodyPr wrap="square">
            <a:spAutoFit/>
          </a:bodyPr>
          <a:lstStyle/>
          <a:p>
            <a:pPr algn="ctr"/>
            <a:r>
              <a:rPr sz="900" b="1" i="0">
                <a:solidFill>
                  <a:srgbClr val="1A1A2E"/>
                </a:solidFill>
              </a:rPr>
              <a:t>CRITICAL</a:t>
            </a:r>
          </a:p>
        </p:txBody>
      </p:sp>
      <p:sp>
        <p:nvSpPr>
          <p:cNvPr id="12" name="TextBox 11"/>
          <p:cNvSpPr txBox="1"/>
          <p:nvPr/>
        </p:nvSpPr>
        <p:spPr>
          <a:xfrm>
            <a:off x="1755648" y="2615184"/>
            <a:ext cx="4169663" cy="292608"/>
          </a:xfrm>
          <a:prstGeom prst="rect">
            <a:avLst/>
          </a:prstGeom>
          <a:noFill/>
        </p:spPr>
        <p:txBody>
          <a:bodyPr wrap="square">
            <a:spAutoFit/>
          </a:bodyPr>
          <a:lstStyle/>
          <a:p>
            <a:pPr algn="l"/>
            <a:r>
              <a:rPr sz="1000" b="1" i="0">
                <a:solidFill>
                  <a:srgbClr val="FFFFFF"/>
                </a:solidFill>
              </a:rPr>
              <a:t>[NEW]  New Flooring Store Opened &lt; 90 Days</a:t>
            </a:r>
          </a:p>
        </p:txBody>
      </p:sp>
      <p:sp>
        <p:nvSpPr>
          <p:cNvPr id="13" name="TextBox 12"/>
          <p:cNvSpPr txBox="1"/>
          <p:nvPr/>
        </p:nvSpPr>
        <p:spPr>
          <a:xfrm>
            <a:off x="603503" y="2944368"/>
            <a:ext cx="5321807" cy="438912"/>
          </a:xfrm>
          <a:prstGeom prst="rect">
            <a:avLst/>
          </a:prstGeom>
          <a:noFill/>
        </p:spPr>
        <p:txBody>
          <a:bodyPr wrap="square">
            <a:spAutoFit/>
          </a:bodyPr>
          <a:lstStyle/>
          <a:p>
            <a:pPr algn="l"/>
            <a:r>
              <a:rPr sz="850" b="0" i="0">
                <a:solidFill>
                  <a:srgbClr val="CCCCD8"/>
                </a:solidFill>
              </a:rPr>
              <a:t>Brand-new showroom just registered and opened. Setting up systems for the first time. No legacy pricing tool to rip out. This is the easiest yes you will ever get.</a:t>
            </a:r>
          </a:p>
        </p:txBody>
      </p:sp>
      <p:sp>
        <p:nvSpPr>
          <p:cNvPr id="14" name="Rectangle 13"/>
          <p:cNvSpPr/>
          <p:nvPr/>
        </p:nvSpPr>
        <p:spPr>
          <a:xfrm>
            <a:off x="6199632" y="2523744"/>
            <a:ext cx="5650992" cy="96926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2523744"/>
            <a:ext cx="5650992" cy="4572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64224" y="2615184"/>
            <a:ext cx="1051560" cy="256032"/>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651760"/>
            <a:ext cx="868680" cy="182880"/>
          </a:xfrm>
          <a:prstGeom prst="rect">
            <a:avLst/>
          </a:prstGeom>
          <a:noFill/>
        </p:spPr>
        <p:txBody>
          <a:bodyPr wrap="square">
            <a:spAutoFit/>
          </a:bodyPr>
          <a:lstStyle/>
          <a:p>
            <a:pPr algn="ctr"/>
            <a:r>
              <a:rPr sz="900" b="1" i="0">
                <a:solidFill>
                  <a:srgbClr val="1A1A2E"/>
                </a:solidFill>
              </a:rPr>
              <a:t>CRITICAL</a:t>
            </a:r>
          </a:p>
        </p:txBody>
      </p:sp>
      <p:sp>
        <p:nvSpPr>
          <p:cNvPr id="18" name="TextBox 17"/>
          <p:cNvSpPr txBox="1"/>
          <p:nvPr/>
        </p:nvSpPr>
        <p:spPr>
          <a:xfrm>
            <a:off x="7516368" y="2615184"/>
            <a:ext cx="4169663" cy="292608"/>
          </a:xfrm>
          <a:prstGeom prst="rect">
            <a:avLst/>
          </a:prstGeom>
          <a:noFill/>
        </p:spPr>
        <p:txBody>
          <a:bodyPr wrap="square">
            <a:spAutoFit/>
          </a:bodyPr>
          <a:lstStyle/>
          <a:p>
            <a:pPr algn="l"/>
            <a:r>
              <a:rPr sz="1000" b="1" i="0">
                <a:solidFill>
                  <a:srgbClr val="FFFFFF"/>
                </a:solidFill>
              </a:rPr>
              <a:t>[JOB]  Store Posts 'Showroom Manager' or 'Flooring Salesperson'</a:t>
            </a:r>
          </a:p>
        </p:txBody>
      </p:sp>
      <p:sp>
        <p:nvSpPr>
          <p:cNvPr id="19" name="TextBox 18"/>
          <p:cNvSpPr txBox="1"/>
          <p:nvPr/>
        </p:nvSpPr>
        <p:spPr>
          <a:xfrm>
            <a:off x="6364224" y="2944368"/>
            <a:ext cx="5321807" cy="438912"/>
          </a:xfrm>
          <a:prstGeom prst="rect">
            <a:avLst/>
          </a:prstGeom>
          <a:noFill/>
        </p:spPr>
        <p:txBody>
          <a:bodyPr wrap="square">
            <a:spAutoFit/>
          </a:bodyPr>
          <a:lstStyle/>
          <a:p>
            <a:pPr algn="l"/>
            <a:r>
              <a:rPr sz="850" b="0" i="0">
                <a:solidFill>
                  <a:srgbClr val="CCCCD8"/>
                </a:solidFill>
              </a:rPr>
              <a:t>They are growing their sales floor. A new salesperson walking into a showroom with paper binders is a training liability. This signal means they are actively thinking about process.</a:t>
            </a:r>
          </a:p>
        </p:txBody>
      </p:sp>
      <p:sp>
        <p:nvSpPr>
          <p:cNvPr id="20" name="Rectangle 19"/>
          <p:cNvSpPr/>
          <p:nvPr/>
        </p:nvSpPr>
        <p:spPr>
          <a:xfrm>
            <a:off x="438912" y="3712463"/>
            <a:ext cx="5650992" cy="96926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8912" y="3712463"/>
            <a:ext cx="5650992"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503" y="3803903"/>
            <a:ext cx="1051560" cy="256032"/>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3" y="3840479"/>
            <a:ext cx="868680" cy="182880"/>
          </a:xfrm>
          <a:prstGeom prst="rect">
            <a:avLst/>
          </a:prstGeom>
          <a:noFill/>
        </p:spPr>
        <p:txBody>
          <a:bodyPr wrap="square">
            <a:spAutoFit/>
          </a:bodyPr>
          <a:lstStyle/>
          <a:p>
            <a:pPr algn="ctr"/>
            <a:r>
              <a:rPr sz="900" b="1" i="0">
                <a:solidFill>
                  <a:srgbClr val="1A1A2E"/>
                </a:solidFill>
              </a:rPr>
              <a:t>HIGH</a:t>
            </a:r>
          </a:p>
        </p:txBody>
      </p:sp>
      <p:sp>
        <p:nvSpPr>
          <p:cNvPr id="24" name="TextBox 23"/>
          <p:cNvSpPr txBox="1"/>
          <p:nvPr/>
        </p:nvSpPr>
        <p:spPr>
          <a:xfrm>
            <a:off x="1755648" y="3803903"/>
            <a:ext cx="4169663" cy="292608"/>
          </a:xfrm>
          <a:prstGeom prst="rect">
            <a:avLst/>
          </a:prstGeom>
          <a:noFill/>
        </p:spPr>
        <p:txBody>
          <a:bodyPr wrap="square">
            <a:spAutoFit/>
          </a:bodyPr>
          <a:lstStyle/>
          <a:p>
            <a:pPr algn="l"/>
            <a:r>
              <a:rPr sz="1000" b="1" i="0">
                <a:solidFill>
                  <a:srgbClr val="FFFFFF"/>
                </a:solidFill>
              </a:rPr>
              <a:t>[REV]  Store Has 3+ Google Reviews Mentioning Pricing Confusion</a:t>
            </a:r>
          </a:p>
        </p:txBody>
      </p:sp>
      <p:sp>
        <p:nvSpPr>
          <p:cNvPr id="25" name="TextBox 24"/>
          <p:cNvSpPr txBox="1"/>
          <p:nvPr/>
        </p:nvSpPr>
        <p:spPr>
          <a:xfrm>
            <a:off x="603503" y="4133087"/>
            <a:ext cx="5321807" cy="438912"/>
          </a:xfrm>
          <a:prstGeom prst="rect">
            <a:avLst/>
          </a:prstGeom>
          <a:noFill/>
        </p:spPr>
        <p:txBody>
          <a:bodyPr wrap="square">
            <a:spAutoFit/>
          </a:bodyPr>
          <a:lstStyle/>
          <a:p>
            <a:pPr algn="l"/>
            <a:r>
              <a:rPr sz="850" b="0" i="0">
                <a:solidFill>
                  <a:srgbClr val="CCCCD8"/>
                </a:solidFill>
              </a:rPr>
              <a:t>Public evidence that pricing friction is costing them customers. 'Couldn't get a straight price' is the #1 complaint in flooring retail. We send them their own reviews as the opening line.</a:t>
            </a:r>
          </a:p>
        </p:txBody>
      </p:sp>
      <p:sp>
        <p:nvSpPr>
          <p:cNvPr id="26" name="Rectangle 25"/>
          <p:cNvSpPr/>
          <p:nvPr/>
        </p:nvSpPr>
        <p:spPr>
          <a:xfrm>
            <a:off x="6199632" y="3712463"/>
            <a:ext cx="5650992" cy="96926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99632" y="3712463"/>
            <a:ext cx="5650992"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64224" y="3803903"/>
            <a:ext cx="1051560" cy="256032"/>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55664" y="3840479"/>
            <a:ext cx="868680" cy="182880"/>
          </a:xfrm>
          <a:prstGeom prst="rect">
            <a:avLst/>
          </a:prstGeom>
          <a:noFill/>
        </p:spPr>
        <p:txBody>
          <a:bodyPr wrap="square">
            <a:spAutoFit/>
          </a:bodyPr>
          <a:lstStyle/>
          <a:p>
            <a:pPr algn="ctr"/>
            <a:r>
              <a:rPr sz="900" b="1" i="0">
                <a:solidFill>
                  <a:srgbClr val="1A1A2E"/>
                </a:solidFill>
              </a:rPr>
              <a:t>HIGH</a:t>
            </a:r>
          </a:p>
        </p:txBody>
      </p:sp>
      <p:sp>
        <p:nvSpPr>
          <p:cNvPr id="30" name="TextBox 29"/>
          <p:cNvSpPr txBox="1"/>
          <p:nvPr/>
        </p:nvSpPr>
        <p:spPr>
          <a:xfrm>
            <a:off x="7516368" y="3803903"/>
            <a:ext cx="4169663" cy="292608"/>
          </a:xfrm>
          <a:prstGeom prst="rect">
            <a:avLst/>
          </a:prstGeom>
          <a:noFill/>
        </p:spPr>
        <p:txBody>
          <a:bodyPr wrap="square">
            <a:spAutoFit/>
          </a:bodyPr>
          <a:lstStyle/>
          <a:p>
            <a:pPr algn="l"/>
            <a:r>
              <a:rPr sz="1000" b="1" i="0">
                <a:solidFill>
                  <a:srgbClr val="FFFFFF"/>
                </a:solidFill>
              </a:rPr>
              <a:t>[TISE]  Post-TISE / Surfaces Trade Show Attendee</a:t>
            </a:r>
          </a:p>
        </p:txBody>
      </p:sp>
      <p:sp>
        <p:nvSpPr>
          <p:cNvPr id="31" name="TextBox 30"/>
          <p:cNvSpPr txBox="1"/>
          <p:nvPr/>
        </p:nvSpPr>
        <p:spPr>
          <a:xfrm>
            <a:off x="6364224" y="4133087"/>
            <a:ext cx="5321807" cy="438912"/>
          </a:xfrm>
          <a:prstGeom prst="rect">
            <a:avLst/>
          </a:prstGeom>
          <a:noFill/>
        </p:spPr>
        <p:txBody>
          <a:bodyPr wrap="square">
            <a:spAutoFit/>
          </a:bodyPr>
          <a:lstStyle/>
          <a:p>
            <a:pPr algn="l"/>
            <a:r>
              <a:rPr sz="850" b="0" i="0">
                <a:solidFill>
                  <a:srgbClr val="CCCCD8"/>
                </a:solidFill>
              </a:rPr>
              <a:t>Any flooring dealer that attended TISE (The International Surface Event) is an active, qualified prospect. They went to a trade show to find better ways to run their store. That list is buildable.</a:t>
            </a:r>
          </a:p>
        </p:txBody>
      </p:sp>
      <p:sp>
        <p:nvSpPr>
          <p:cNvPr id="32" name="Rectangle 31"/>
          <p:cNvSpPr/>
          <p:nvPr/>
        </p:nvSpPr>
        <p:spPr>
          <a:xfrm>
            <a:off x="438912" y="4901184"/>
            <a:ext cx="11612880" cy="87782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8912" y="4901184"/>
            <a:ext cx="11612880" cy="45720"/>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3503" y="4992624"/>
            <a:ext cx="1051560" cy="256032"/>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3" y="5029200"/>
            <a:ext cx="868680" cy="182880"/>
          </a:xfrm>
          <a:prstGeom prst="rect">
            <a:avLst/>
          </a:prstGeom>
          <a:noFill/>
        </p:spPr>
        <p:txBody>
          <a:bodyPr wrap="square">
            <a:spAutoFit/>
          </a:bodyPr>
          <a:lstStyle/>
          <a:p>
            <a:pPr algn="ctr"/>
            <a:r>
              <a:rPr sz="900" b="1" i="0">
                <a:solidFill>
                  <a:srgbClr val="1A1A2E"/>
                </a:solidFill>
              </a:rPr>
              <a:t>OPPTY</a:t>
            </a:r>
          </a:p>
        </p:txBody>
      </p:sp>
      <p:sp>
        <p:nvSpPr>
          <p:cNvPr id="36" name="TextBox 35"/>
          <p:cNvSpPr txBox="1"/>
          <p:nvPr/>
        </p:nvSpPr>
        <p:spPr>
          <a:xfrm>
            <a:off x="1755648" y="4992624"/>
            <a:ext cx="10131551" cy="292608"/>
          </a:xfrm>
          <a:prstGeom prst="rect">
            <a:avLst/>
          </a:prstGeom>
          <a:noFill/>
        </p:spPr>
        <p:txBody>
          <a:bodyPr wrap="square">
            <a:spAutoFit/>
          </a:bodyPr>
          <a:lstStyle/>
          <a:p>
            <a:pPr algn="l"/>
            <a:r>
              <a:rPr sz="1000" b="1" i="0">
                <a:solidFill>
                  <a:srgbClr val="FFFFFF"/>
                </a:solidFill>
              </a:rPr>
              <a:t>[WEB]  Store Just Launched or Relaunched Their Website</a:t>
            </a:r>
          </a:p>
        </p:txBody>
      </p:sp>
      <p:sp>
        <p:nvSpPr>
          <p:cNvPr id="37" name="TextBox 36"/>
          <p:cNvSpPr txBox="1"/>
          <p:nvPr/>
        </p:nvSpPr>
        <p:spPr>
          <a:xfrm>
            <a:off x="603503" y="5321808"/>
            <a:ext cx="11283696" cy="347472"/>
          </a:xfrm>
          <a:prstGeom prst="rect">
            <a:avLst/>
          </a:prstGeom>
          <a:noFill/>
        </p:spPr>
        <p:txBody>
          <a:bodyPr wrap="square">
            <a:spAutoFit/>
          </a:bodyPr>
          <a:lstStyle/>
          <a:p>
            <a:pPr algn="l"/>
            <a:r>
              <a:rPr sz="850" b="0" i="0">
                <a:solidFill>
                  <a:srgbClr val="CCCCD8"/>
                </a:solidFill>
              </a:rPr>
              <a:t>A store that invested in a new website is in modernization mode. They are ready to spend on tools. They are thinking about customer experience. QR Floor Genie is the next logical step.</a:t>
            </a:r>
          </a:p>
        </p:txBody>
      </p:sp>
      <p:sp>
        <p:nvSpPr>
          <p:cNvPr id="38" name="TextBox 37"/>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347472"/>
          </a:xfrm>
          <a:prstGeom prst="rect">
            <a:avLst/>
          </a:prstGeom>
          <a:noFill/>
        </p:spPr>
        <p:txBody>
          <a:bodyPr wrap="square">
            <a:spAutoFit/>
          </a:bodyPr>
          <a:lstStyle/>
          <a:p>
            <a:pPr algn="l"/>
            <a:r>
              <a:rPr sz="900" b="1" i="0">
                <a:solidFill>
                  <a:srgbClr val="E84040"/>
                </a:solidFill>
              </a:rPr>
              <a:t>COMPETITIVE INTELLIGENCE</a:t>
            </a:r>
          </a:p>
        </p:txBody>
      </p:sp>
      <p:sp>
        <p:nvSpPr>
          <p:cNvPr id="5" name="TextBox 4"/>
          <p:cNvSpPr txBox="1"/>
          <p:nvPr/>
        </p:nvSpPr>
        <p:spPr>
          <a:xfrm>
            <a:off x="502920" y="621792"/>
            <a:ext cx="9601200" cy="1170432"/>
          </a:xfrm>
          <a:prstGeom prst="rect">
            <a:avLst/>
          </a:prstGeom>
          <a:noFill/>
        </p:spPr>
        <p:txBody>
          <a:bodyPr wrap="square">
            <a:spAutoFit/>
          </a:bodyPr>
          <a:lstStyle/>
          <a:p>
            <a:pPr algn="l"/>
            <a:r>
              <a:rPr sz="3600" b="1" i="0">
                <a:solidFill>
                  <a:srgbClr val="FFFFFF"/>
                </a:solidFill>
              </a:rPr>
              <a:t>Showroom Pricing Has
a 6-Year Head Start.</a:t>
            </a:r>
          </a:p>
        </p:txBody>
      </p:sp>
      <p:sp>
        <p:nvSpPr>
          <p:cNvPr id="6" name="TextBox 5"/>
          <p:cNvSpPr txBox="1"/>
          <p:nvPr/>
        </p:nvSpPr>
        <p:spPr>
          <a:xfrm>
            <a:off x="502920" y="1883664"/>
            <a:ext cx="9601200" cy="384048"/>
          </a:xfrm>
          <a:prstGeom prst="rect">
            <a:avLst/>
          </a:prstGeom>
          <a:noFill/>
        </p:spPr>
        <p:txBody>
          <a:bodyPr wrap="square">
            <a:spAutoFit/>
          </a:bodyPr>
          <a:lstStyle/>
          <a:p>
            <a:pPr algn="l"/>
            <a:r>
              <a:rPr sz="1200" b="0" i="1">
                <a:solidFill>
                  <a:srgbClr val="CCCCD8"/>
                </a:solidFill>
              </a:rPr>
              <a:t>They are building brand. You need to build pipeline. Outbound bypasses their SEO advantage entirely.</a:t>
            </a:r>
          </a:p>
        </p:txBody>
      </p:sp>
      <p:sp>
        <p:nvSpPr>
          <p:cNvPr id="7" name="Rectangle 6"/>
          <p:cNvSpPr/>
          <p:nvPr/>
        </p:nvSpPr>
        <p:spPr>
          <a:xfrm>
            <a:off x="502920" y="2377440"/>
            <a:ext cx="11247120" cy="36576"/>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523744"/>
            <a:ext cx="5394960" cy="40050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523744"/>
            <a:ext cx="5394960" cy="54864"/>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633472"/>
            <a:ext cx="5120640" cy="310896"/>
          </a:xfrm>
          <a:prstGeom prst="rect">
            <a:avLst/>
          </a:prstGeom>
          <a:noFill/>
        </p:spPr>
        <p:txBody>
          <a:bodyPr wrap="square">
            <a:spAutoFit/>
          </a:bodyPr>
          <a:lstStyle/>
          <a:p>
            <a:pPr algn="l"/>
            <a:r>
              <a:rPr sz="900" b="1" i="0">
                <a:solidFill>
                  <a:srgbClr val="E84040"/>
                </a:solidFill>
              </a:rPr>
              <a:t>SHOWROOM PRICING  (Their head start)</a:t>
            </a:r>
          </a:p>
        </p:txBody>
      </p:sp>
      <p:sp>
        <p:nvSpPr>
          <p:cNvPr id="11" name="TextBox 10"/>
          <p:cNvSpPr txBox="1"/>
          <p:nvPr/>
        </p:nvSpPr>
        <p:spPr>
          <a:xfrm>
            <a:off x="594360" y="2980944"/>
            <a:ext cx="1828800" cy="347472"/>
          </a:xfrm>
          <a:prstGeom prst="rect">
            <a:avLst/>
          </a:prstGeom>
          <a:noFill/>
        </p:spPr>
        <p:txBody>
          <a:bodyPr wrap="square">
            <a:spAutoFit/>
          </a:bodyPr>
          <a:lstStyle/>
          <a:p>
            <a:pPr algn="l"/>
            <a:r>
              <a:rPr sz="850" b="0" i="0">
                <a:solidFill>
                  <a:srgbClr val="888899"/>
                </a:solidFill>
              </a:rPr>
              <a:t>Founded</a:t>
            </a:r>
          </a:p>
        </p:txBody>
      </p:sp>
      <p:sp>
        <p:nvSpPr>
          <p:cNvPr id="12" name="TextBox 11"/>
          <p:cNvSpPr txBox="1"/>
          <p:nvPr/>
        </p:nvSpPr>
        <p:spPr>
          <a:xfrm>
            <a:off x="2468880" y="2980944"/>
            <a:ext cx="3200400" cy="347472"/>
          </a:xfrm>
          <a:prstGeom prst="rect">
            <a:avLst/>
          </a:prstGeom>
          <a:noFill/>
        </p:spPr>
        <p:txBody>
          <a:bodyPr wrap="square">
            <a:spAutoFit/>
          </a:bodyPr>
          <a:lstStyle/>
          <a:p>
            <a:pPr algn="l"/>
            <a:r>
              <a:rPr sz="950" b="0" i="0">
                <a:solidFill>
                  <a:srgbClr val="CCCCD8"/>
                </a:solidFill>
              </a:rPr>
              <a:t>2020 -- 6 years of runway</a:t>
            </a:r>
          </a:p>
        </p:txBody>
      </p:sp>
      <p:sp>
        <p:nvSpPr>
          <p:cNvPr id="13" name="TextBox 12"/>
          <p:cNvSpPr txBox="1"/>
          <p:nvPr/>
        </p:nvSpPr>
        <p:spPr>
          <a:xfrm>
            <a:off x="594360" y="3456432"/>
            <a:ext cx="1828800" cy="347472"/>
          </a:xfrm>
          <a:prstGeom prst="rect">
            <a:avLst/>
          </a:prstGeom>
          <a:noFill/>
        </p:spPr>
        <p:txBody>
          <a:bodyPr wrap="square">
            <a:spAutoFit/>
          </a:bodyPr>
          <a:lstStyle/>
          <a:p>
            <a:pPr algn="l"/>
            <a:r>
              <a:rPr sz="850" b="0" i="0">
                <a:solidFill>
                  <a:srgbClr val="888899"/>
                </a:solidFill>
              </a:rPr>
              <a:t>Co-founder</a:t>
            </a:r>
          </a:p>
        </p:txBody>
      </p:sp>
      <p:sp>
        <p:nvSpPr>
          <p:cNvPr id="14" name="TextBox 13"/>
          <p:cNvSpPr txBox="1"/>
          <p:nvPr/>
        </p:nvSpPr>
        <p:spPr>
          <a:xfrm>
            <a:off x="2468880" y="3456432"/>
            <a:ext cx="3200400" cy="347472"/>
          </a:xfrm>
          <a:prstGeom prst="rect">
            <a:avLst/>
          </a:prstGeom>
          <a:noFill/>
        </p:spPr>
        <p:txBody>
          <a:bodyPr wrap="square">
            <a:spAutoFit/>
          </a:bodyPr>
          <a:lstStyle/>
          <a:p>
            <a:pPr algn="l"/>
            <a:r>
              <a:rPr sz="950" b="0" i="0">
                <a:solidFill>
                  <a:srgbClr val="CCCCD8"/>
                </a:solidFill>
              </a:rPr>
              <a:t>Kristen Stensby, 35 years in flooring</a:t>
            </a:r>
          </a:p>
        </p:txBody>
      </p:sp>
      <p:sp>
        <p:nvSpPr>
          <p:cNvPr id="15" name="TextBox 14"/>
          <p:cNvSpPr txBox="1"/>
          <p:nvPr/>
        </p:nvSpPr>
        <p:spPr>
          <a:xfrm>
            <a:off x="594360" y="3931920"/>
            <a:ext cx="1828800" cy="347472"/>
          </a:xfrm>
          <a:prstGeom prst="rect">
            <a:avLst/>
          </a:prstGeom>
          <a:noFill/>
        </p:spPr>
        <p:txBody>
          <a:bodyPr wrap="square">
            <a:spAutoFit/>
          </a:bodyPr>
          <a:lstStyle/>
          <a:p>
            <a:pPr algn="l"/>
            <a:r>
              <a:rPr sz="850" b="0" i="0">
                <a:solidFill>
                  <a:srgbClr val="888899"/>
                </a:solidFill>
              </a:rPr>
              <a:t>Media coverage</a:t>
            </a:r>
          </a:p>
        </p:txBody>
      </p:sp>
      <p:sp>
        <p:nvSpPr>
          <p:cNvPr id="16" name="TextBox 15"/>
          <p:cNvSpPr txBox="1"/>
          <p:nvPr/>
        </p:nvSpPr>
        <p:spPr>
          <a:xfrm>
            <a:off x="2468880" y="3931920"/>
            <a:ext cx="3200400" cy="347472"/>
          </a:xfrm>
          <a:prstGeom prst="rect">
            <a:avLst/>
          </a:prstGeom>
          <a:noFill/>
        </p:spPr>
        <p:txBody>
          <a:bodyPr wrap="square">
            <a:spAutoFit/>
          </a:bodyPr>
          <a:lstStyle/>
          <a:p>
            <a:pPr algn="l"/>
            <a:r>
              <a:rPr sz="950" b="0" i="0">
                <a:solidFill>
                  <a:srgbClr val="CCCCD8"/>
                </a:solidFill>
              </a:rPr>
              <a:t>Featured on 'Viewpoint with Dennis Quaid'</a:t>
            </a:r>
          </a:p>
        </p:txBody>
      </p:sp>
      <p:sp>
        <p:nvSpPr>
          <p:cNvPr id="17" name="TextBox 16"/>
          <p:cNvSpPr txBox="1"/>
          <p:nvPr/>
        </p:nvSpPr>
        <p:spPr>
          <a:xfrm>
            <a:off x="594360" y="4407408"/>
            <a:ext cx="1828800" cy="347472"/>
          </a:xfrm>
          <a:prstGeom prst="rect">
            <a:avLst/>
          </a:prstGeom>
          <a:noFill/>
        </p:spPr>
        <p:txBody>
          <a:bodyPr wrap="square">
            <a:spAutoFit/>
          </a:bodyPr>
          <a:lstStyle/>
          <a:p>
            <a:pPr algn="l"/>
            <a:r>
              <a:rPr sz="850" b="0" i="0">
                <a:solidFill>
                  <a:srgbClr val="888899"/>
                </a:solidFill>
              </a:rPr>
              <a:t>Brand awareness</a:t>
            </a:r>
          </a:p>
        </p:txBody>
      </p:sp>
      <p:sp>
        <p:nvSpPr>
          <p:cNvPr id="18" name="TextBox 17"/>
          <p:cNvSpPr txBox="1"/>
          <p:nvPr/>
        </p:nvSpPr>
        <p:spPr>
          <a:xfrm>
            <a:off x="2468880" y="4407408"/>
            <a:ext cx="3200400" cy="347472"/>
          </a:xfrm>
          <a:prstGeom prst="rect">
            <a:avLst/>
          </a:prstGeom>
          <a:noFill/>
        </p:spPr>
        <p:txBody>
          <a:bodyPr wrap="square">
            <a:spAutoFit/>
          </a:bodyPr>
          <a:lstStyle/>
          <a:p>
            <a:pPr algn="l"/>
            <a:r>
              <a:rPr sz="950" b="0" i="0">
                <a:solidFill>
                  <a:srgbClr val="CCCCD8"/>
                </a:solidFill>
              </a:rPr>
              <a:t>National TV + trade press</a:t>
            </a:r>
          </a:p>
        </p:txBody>
      </p:sp>
      <p:sp>
        <p:nvSpPr>
          <p:cNvPr id="19" name="TextBox 18"/>
          <p:cNvSpPr txBox="1"/>
          <p:nvPr/>
        </p:nvSpPr>
        <p:spPr>
          <a:xfrm>
            <a:off x="594360" y="4882896"/>
            <a:ext cx="1828800" cy="347472"/>
          </a:xfrm>
          <a:prstGeom prst="rect">
            <a:avLst/>
          </a:prstGeom>
          <a:noFill/>
        </p:spPr>
        <p:txBody>
          <a:bodyPr wrap="square">
            <a:spAutoFit/>
          </a:bodyPr>
          <a:lstStyle/>
          <a:p>
            <a:pPr algn="l"/>
            <a:r>
              <a:rPr sz="850" b="0" i="0">
                <a:solidFill>
                  <a:srgbClr val="888899"/>
                </a:solidFill>
              </a:rPr>
              <a:t>Google ranking</a:t>
            </a:r>
          </a:p>
        </p:txBody>
      </p:sp>
      <p:sp>
        <p:nvSpPr>
          <p:cNvPr id="20" name="TextBox 19"/>
          <p:cNvSpPr txBox="1"/>
          <p:nvPr/>
        </p:nvSpPr>
        <p:spPr>
          <a:xfrm>
            <a:off x="2468880" y="4882896"/>
            <a:ext cx="3200400" cy="347472"/>
          </a:xfrm>
          <a:prstGeom prst="rect">
            <a:avLst/>
          </a:prstGeom>
          <a:noFill/>
        </p:spPr>
        <p:txBody>
          <a:bodyPr wrap="square">
            <a:spAutoFit/>
          </a:bodyPr>
          <a:lstStyle/>
          <a:p>
            <a:pPr algn="l"/>
            <a:r>
              <a:rPr sz="950" b="0" i="0">
                <a:solidFill>
                  <a:srgbClr val="CCCCD8"/>
                </a:solidFill>
              </a:rPr>
              <a:t>Likely top 3 for 'QR flooring pricing'</a:t>
            </a:r>
          </a:p>
        </p:txBody>
      </p:sp>
      <p:sp>
        <p:nvSpPr>
          <p:cNvPr id="21" name="TextBox 20"/>
          <p:cNvSpPr txBox="1"/>
          <p:nvPr/>
        </p:nvSpPr>
        <p:spPr>
          <a:xfrm>
            <a:off x="594360" y="5358383"/>
            <a:ext cx="1828800" cy="347472"/>
          </a:xfrm>
          <a:prstGeom prst="rect">
            <a:avLst/>
          </a:prstGeom>
          <a:noFill/>
        </p:spPr>
        <p:txBody>
          <a:bodyPr wrap="square">
            <a:spAutoFit/>
          </a:bodyPr>
          <a:lstStyle/>
          <a:p>
            <a:pPr algn="l"/>
            <a:r>
              <a:rPr sz="850" b="0" i="0">
                <a:solidFill>
                  <a:srgbClr val="888899"/>
                </a:solidFill>
              </a:rPr>
              <a:t>Your advantage</a:t>
            </a:r>
          </a:p>
        </p:txBody>
      </p:sp>
      <p:sp>
        <p:nvSpPr>
          <p:cNvPr id="22" name="TextBox 21"/>
          <p:cNvSpPr txBox="1"/>
          <p:nvPr/>
        </p:nvSpPr>
        <p:spPr>
          <a:xfrm>
            <a:off x="2468880" y="5358383"/>
            <a:ext cx="3200400" cy="347472"/>
          </a:xfrm>
          <a:prstGeom prst="rect">
            <a:avLst/>
          </a:prstGeom>
          <a:noFill/>
        </p:spPr>
        <p:txBody>
          <a:bodyPr wrap="square">
            <a:spAutoFit/>
          </a:bodyPr>
          <a:lstStyle/>
          <a:p>
            <a:pPr algn="l"/>
            <a:r>
              <a:rPr sz="950" b="1" i="0">
                <a:solidFill>
                  <a:srgbClr val="E84040"/>
                </a:solidFill>
              </a:rPr>
              <a:t>None -- if you keep relying on inbound</a:t>
            </a:r>
          </a:p>
        </p:txBody>
      </p:sp>
      <p:sp>
        <p:nvSpPr>
          <p:cNvPr id="23" name="TextBox 22"/>
          <p:cNvSpPr txBox="1"/>
          <p:nvPr/>
        </p:nvSpPr>
        <p:spPr>
          <a:xfrm>
            <a:off x="5961888" y="4370832"/>
            <a:ext cx="457200" cy="457200"/>
          </a:xfrm>
          <a:prstGeom prst="rect">
            <a:avLst/>
          </a:prstGeom>
          <a:noFill/>
        </p:spPr>
        <p:txBody>
          <a:bodyPr wrap="square">
            <a:spAutoFit/>
          </a:bodyPr>
          <a:lstStyle/>
          <a:p>
            <a:pPr algn="ctr"/>
            <a:r>
              <a:rPr sz="2200" b="1" i="0">
                <a:solidFill>
                  <a:srgbClr val="E8B830"/>
                </a:solidFill>
              </a:rPr>
              <a:t>--&gt;</a:t>
            </a:r>
          </a:p>
        </p:txBody>
      </p:sp>
      <p:sp>
        <p:nvSpPr>
          <p:cNvPr id="24" name="Rectangle 23"/>
          <p:cNvSpPr/>
          <p:nvPr/>
        </p:nvSpPr>
        <p:spPr>
          <a:xfrm>
            <a:off x="6510528" y="2523744"/>
            <a:ext cx="5230368" cy="40050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10528" y="2523744"/>
            <a:ext cx="5230368" cy="54864"/>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56832" y="2633472"/>
            <a:ext cx="4974336" cy="310896"/>
          </a:xfrm>
          <a:prstGeom prst="rect">
            <a:avLst/>
          </a:prstGeom>
          <a:noFill/>
        </p:spPr>
        <p:txBody>
          <a:bodyPr wrap="square">
            <a:spAutoFit/>
          </a:bodyPr>
          <a:lstStyle/>
          <a:p>
            <a:pPr algn="l"/>
            <a:r>
              <a:rPr sz="900" b="1" i="0">
                <a:solidFill>
                  <a:srgbClr val="28C870"/>
                </a:solidFill>
              </a:rPr>
              <a:t>WITH SELLL  (How you close the gap)</a:t>
            </a:r>
          </a:p>
        </p:txBody>
      </p:sp>
      <p:sp>
        <p:nvSpPr>
          <p:cNvPr id="27" name="TextBox 26"/>
          <p:cNvSpPr txBox="1"/>
          <p:nvPr/>
        </p:nvSpPr>
        <p:spPr>
          <a:xfrm>
            <a:off x="6656832" y="2980944"/>
            <a:ext cx="1920240" cy="347472"/>
          </a:xfrm>
          <a:prstGeom prst="rect">
            <a:avLst/>
          </a:prstGeom>
          <a:noFill/>
        </p:spPr>
        <p:txBody>
          <a:bodyPr wrap="square">
            <a:spAutoFit/>
          </a:bodyPr>
          <a:lstStyle/>
          <a:p>
            <a:pPr algn="l"/>
            <a:r>
              <a:rPr sz="850" b="0" i="0">
                <a:solidFill>
                  <a:srgbClr val="888899"/>
                </a:solidFill>
              </a:rPr>
              <a:t>Signal monitoring</a:t>
            </a:r>
          </a:p>
        </p:txBody>
      </p:sp>
      <p:sp>
        <p:nvSpPr>
          <p:cNvPr id="28" name="TextBox 27"/>
          <p:cNvSpPr txBox="1"/>
          <p:nvPr/>
        </p:nvSpPr>
        <p:spPr>
          <a:xfrm>
            <a:off x="8631936" y="2980944"/>
            <a:ext cx="3017520" cy="347472"/>
          </a:xfrm>
          <a:prstGeom prst="rect">
            <a:avLst/>
          </a:prstGeom>
          <a:noFill/>
        </p:spPr>
        <p:txBody>
          <a:bodyPr wrap="square">
            <a:spAutoFit/>
          </a:bodyPr>
          <a:lstStyle/>
          <a:p>
            <a:pPr algn="l"/>
            <a:r>
              <a:rPr sz="950" b="0" i="0">
                <a:solidFill>
                  <a:srgbClr val="CCCCD8"/>
                </a:solidFill>
              </a:rPr>
              <a:t>Daily alerts on all 5 flooring triggers</a:t>
            </a:r>
          </a:p>
        </p:txBody>
      </p:sp>
      <p:sp>
        <p:nvSpPr>
          <p:cNvPr id="29" name="TextBox 28"/>
          <p:cNvSpPr txBox="1"/>
          <p:nvPr/>
        </p:nvSpPr>
        <p:spPr>
          <a:xfrm>
            <a:off x="6656832" y="3456432"/>
            <a:ext cx="1920240" cy="347472"/>
          </a:xfrm>
          <a:prstGeom prst="rect">
            <a:avLst/>
          </a:prstGeom>
          <a:noFill/>
        </p:spPr>
        <p:txBody>
          <a:bodyPr wrap="square">
            <a:spAutoFit/>
          </a:bodyPr>
          <a:lstStyle/>
          <a:p>
            <a:pPr algn="l"/>
            <a:r>
              <a:rPr sz="850" b="0" i="0">
                <a:solidFill>
                  <a:srgbClr val="888899"/>
                </a:solidFill>
              </a:rPr>
              <a:t>Outreach volume</a:t>
            </a:r>
          </a:p>
        </p:txBody>
      </p:sp>
      <p:sp>
        <p:nvSpPr>
          <p:cNvPr id="30" name="TextBox 29"/>
          <p:cNvSpPr txBox="1"/>
          <p:nvPr/>
        </p:nvSpPr>
        <p:spPr>
          <a:xfrm>
            <a:off x="8631936" y="3456432"/>
            <a:ext cx="3017520" cy="347472"/>
          </a:xfrm>
          <a:prstGeom prst="rect">
            <a:avLst/>
          </a:prstGeom>
          <a:noFill/>
        </p:spPr>
        <p:txBody>
          <a:bodyPr wrap="square">
            <a:spAutoFit/>
          </a:bodyPr>
          <a:lstStyle/>
          <a:p>
            <a:pPr algn="l"/>
            <a:r>
              <a:rPr sz="950" b="0" i="0">
                <a:solidFill>
                  <a:srgbClr val="CCCCD8"/>
                </a:solidFill>
              </a:rPr>
              <a:t>300+ flooring stores/month contacted</a:t>
            </a:r>
          </a:p>
        </p:txBody>
      </p:sp>
      <p:sp>
        <p:nvSpPr>
          <p:cNvPr id="31" name="TextBox 30"/>
          <p:cNvSpPr txBox="1"/>
          <p:nvPr/>
        </p:nvSpPr>
        <p:spPr>
          <a:xfrm>
            <a:off x="6656832" y="3931920"/>
            <a:ext cx="1920240" cy="347472"/>
          </a:xfrm>
          <a:prstGeom prst="rect">
            <a:avLst/>
          </a:prstGeom>
          <a:noFill/>
        </p:spPr>
        <p:txBody>
          <a:bodyPr wrap="square">
            <a:spAutoFit/>
          </a:bodyPr>
          <a:lstStyle/>
          <a:p>
            <a:pPr algn="l"/>
            <a:r>
              <a:rPr sz="850" b="0" i="0">
                <a:solidFill>
                  <a:srgbClr val="888899"/>
                </a:solidFill>
              </a:rPr>
              <a:t>Channel</a:t>
            </a:r>
          </a:p>
        </p:txBody>
      </p:sp>
      <p:sp>
        <p:nvSpPr>
          <p:cNvPr id="32" name="TextBox 31"/>
          <p:cNvSpPr txBox="1"/>
          <p:nvPr/>
        </p:nvSpPr>
        <p:spPr>
          <a:xfrm>
            <a:off x="8631936" y="3931920"/>
            <a:ext cx="3017520" cy="347472"/>
          </a:xfrm>
          <a:prstGeom prst="rect">
            <a:avLst/>
          </a:prstGeom>
          <a:noFill/>
        </p:spPr>
        <p:txBody>
          <a:bodyPr wrap="square">
            <a:spAutoFit/>
          </a:bodyPr>
          <a:lstStyle/>
          <a:p>
            <a:pPr algn="l"/>
            <a:r>
              <a:rPr sz="950" b="0" i="0">
                <a:solidFill>
                  <a:srgbClr val="CCCCD8"/>
                </a:solidFill>
              </a:rPr>
              <a:t>Email + cold call (owners answer phones)</a:t>
            </a:r>
          </a:p>
        </p:txBody>
      </p:sp>
      <p:sp>
        <p:nvSpPr>
          <p:cNvPr id="33" name="TextBox 32"/>
          <p:cNvSpPr txBox="1"/>
          <p:nvPr/>
        </p:nvSpPr>
        <p:spPr>
          <a:xfrm>
            <a:off x="6656832" y="4407408"/>
            <a:ext cx="1920240" cy="347472"/>
          </a:xfrm>
          <a:prstGeom prst="rect">
            <a:avLst/>
          </a:prstGeom>
          <a:noFill/>
        </p:spPr>
        <p:txBody>
          <a:bodyPr wrap="square">
            <a:spAutoFit/>
          </a:bodyPr>
          <a:lstStyle/>
          <a:p>
            <a:pPr algn="l"/>
            <a:r>
              <a:rPr sz="850" b="0" i="0">
                <a:solidFill>
                  <a:srgbClr val="888899"/>
                </a:solidFill>
              </a:rPr>
              <a:t>TISE list</a:t>
            </a:r>
          </a:p>
        </p:txBody>
      </p:sp>
      <p:sp>
        <p:nvSpPr>
          <p:cNvPr id="34" name="TextBox 33"/>
          <p:cNvSpPr txBox="1"/>
          <p:nvPr/>
        </p:nvSpPr>
        <p:spPr>
          <a:xfrm>
            <a:off x="8631936" y="4407408"/>
            <a:ext cx="3017520" cy="347472"/>
          </a:xfrm>
          <a:prstGeom prst="rect">
            <a:avLst/>
          </a:prstGeom>
          <a:noFill/>
        </p:spPr>
        <p:txBody>
          <a:bodyPr wrap="square">
            <a:spAutoFit/>
          </a:bodyPr>
          <a:lstStyle/>
          <a:p>
            <a:pPr algn="l"/>
            <a:r>
              <a:rPr sz="950" b="0" i="0">
                <a:solidFill>
                  <a:srgbClr val="CCCCD8"/>
                </a:solidFill>
              </a:rPr>
              <a:t>Every trade show attendee in your sequence</a:t>
            </a:r>
          </a:p>
        </p:txBody>
      </p:sp>
      <p:sp>
        <p:nvSpPr>
          <p:cNvPr id="35" name="TextBox 34"/>
          <p:cNvSpPr txBox="1"/>
          <p:nvPr/>
        </p:nvSpPr>
        <p:spPr>
          <a:xfrm>
            <a:off x="6656832" y="4882896"/>
            <a:ext cx="1920240" cy="347472"/>
          </a:xfrm>
          <a:prstGeom prst="rect">
            <a:avLst/>
          </a:prstGeom>
          <a:noFill/>
        </p:spPr>
        <p:txBody>
          <a:bodyPr wrap="square">
            <a:spAutoFit/>
          </a:bodyPr>
          <a:lstStyle/>
          <a:p>
            <a:pPr algn="l"/>
            <a:r>
              <a:rPr sz="850" b="0" i="0">
                <a:solidFill>
                  <a:srgbClr val="888899"/>
                </a:solidFill>
              </a:rPr>
              <a:t>Reply rate target</a:t>
            </a:r>
          </a:p>
        </p:txBody>
      </p:sp>
      <p:sp>
        <p:nvSpPr>
          <p:cNvPr id="36" name="TextBox 35"/>
          <p:cNvSpPr txBox="1"/>
          <p:nvPr/>
        </p:nvSpPr>
        <p:spPr>
          <a:xfrm>
            <a:off x="8631936" y="4882896"/>
            <a:ext cx="3017520" cy="347472"/>
          </a:xfrm>
          <a:prstGeom prst="rect">
            <a:avLst/>
          </a:prstGeom>
          <a:noFill/>
        </p:spPr>
        <p:txBody>
          <a:bodyPr wrap="square">
            <a:spAutoFit/>
          </a:bodyPr>
          <a:lstStyle/>
          <a:p>
            <a:pPr algn="l"/>
            <a:r>
              <a:rPr sz="950" b="0" i="0">
                <a:solidFill>
                  <a:srgbClr val="CCCCD8"/>
                </a:solidFill>
              </a:rPr>
              <a:t>4-6% signal-triggered vs 0.5% cold blast</a:t>
            </a:r>
          </a:p>
        </p:txBody>
      </p:sp>
      <p:sp>
        <p:nvSpPr>
          <p:cNvPr id="37" name="TextBox 36"/>
          <p:cNvSpPr txBox="1"/>
          <p:nvPr/>
        </p:nvSpPr>
        <p:spPr>
          <a:xfrm>
            <a:off x="6656832" y="5358383"/>
            <a:ext cx="1920240" cy="347472"/>
          </a:xfrm>
          <a:prstGeom prst="rect">
            <a:avLst/>
          </a:prstGeom>
          <a:noFill/>
        </p:spPr>
        <p:txBody>
          <a:bodyPr wrap="square">
            <a:spAutoFit/>
          </a:bodyPr>
          <a:lstStyle/>
          <a:p>
            <a:pPr algn="l"/>
            <a:r>
              <a:rPr sz="850" b="0" i="0">
                <a:solidFill>
                  <a:srgbClr val="888899"/>
                </a:solidFill>
              </a:rPr>
              <a:t>Net result</a:t>
            </a:r>
          </a:p>
        </p:txBody>
      </p:sp>
      <p:sp>
        <p:nvSpPr>
          <p:cNvPr id="38" name="TextBox 37"/>
          <p:cNvSpPr txBox="1"/>
          <p:nvPr/>
        </p:nvSpPr>
        <p:spPr>
          <a:xfrm>
            <a:off x="8631936" y="5358383"/>
            <a:ext cx="3017520" cy="347472"/>
          </a:xfrm>
          <a:prstGeom prst="rect">
            <a:avLst/>
          </a:prstGeom>
          <a:noFill/>
        </p:spPr>
        <p:txBody>
          <a:bodyPr wrap="square">
            <a:spAutoFit/>
          </a:bodyPr>
          <a:lstStyle/>
          <a:p>
            <a:pPr algn="l"/>
            <a:r>
              <a:rPr sz="950" b="1" i="0">
                <a:solidFill>
                  <a:srgbClr val="28C870"/>
                </a:solidFill>
              </a:rPr>
              <a:t>You out-reach them while they out-spend you</a:t>
            </a:r>
          </a:p>
        </p:txBody>
      </p:sp>
      <p:sp>
        <p:nvSpPr>
          <p:cNvPr id="39" name="TextBox 38"/>
          <p:cNvSpPr txBox="1"/>
          <p:nvPr/>
        </p:nvSpPr>
        <p:spPr>
          <a:xfrm>
            <a:off x="502920" y="6455664"/>
            <a:ext cx="11155680" cy="310896"/>
          </a:xfrm>
          <a:prstGeom prst="rect">
            <a:avLst/>
          </a:prstGeom>
          <a:noFill/>
        </p:spPr>
        <p:txBody>
          <a:bodyPr wrap="square">
            <a:spAutoFit/>
          </a:bodyPr>
          <a:lstStyle/>
          <a:p>
            <a:pPr algn="l"/>
            <a:r>
              <a:rPr sz="900" b="1" i="0">
                <a:solidFill>
                  <a:srgbClr val="E8B830"/>
                </a:solidFill>
              </a:rPr>
              <a:t>You don't need to out-budget Showroom Pricing. You need to out-reach them. SELLL is that system.</a:t>
            </a:r>
          </a:p>
        </p:txBody>
      </p:sp>
      <p:sp>
        <p:nvSpPr>
          <p:cNvPr id="40" name="TextBox 39"/>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347472"/>
          </a:xfrm>
          <a:prstGeom prst="rect">
            <a:avLst/>
          </a:prstGeom>
          <a:noFill/>
        </p:spPr>
        <p:txBody>
          <a:bodyPr wrap="square">
            <a:spAutoFit/>
          </a:bodyPr>
          <a:lstStyle/>
          <a:p>
            <a:pPr algn="l"/>
            <a:r>
              <a:rPr sz="900" b="1" i="0">
                <a:solidFill>
                  <a:srgbClr val="F0A020"/>
                </a:solidFill>
              </a:rPr>
              <a:t>ICP INTELLIGENCE</a:t>
            </a:r>
          </a:p>
        </p:txBody>
      </p:sp>
      <p:sp>
        <p:nvSpPr>
          <p:cNvPr id="5" name="TextBox 4"/>
          <p:cNvSpPr txBox="1"/>
          <p:nvPr/>
        </p:nvSpPr>
        <p:spPr>
          <a:xfrm>
            <a:off x="502920" y="621792"/>
            <a:ext cx="9601200" cy="1170432"/>
          </a:xfrm>
          <a:prstGeom prst="rect">
            <a:avLst/>
          </a:prstGeom>
          <a:noFill/>
        </p:spPr>
        <p:txBody>
          <a:bodyPr wrap="square">
            <a:spAutoFit/>
          </a:bodyPr>
          <a:lstStyle/>
          <a:p>
            <a:pPr algn="l"/>
            <a:r>
              <a:rPr sz="3600" b="1" i="0">
                <a:solidFill>
                  <a:srgbClr val="FFFFFF"/>
                </a:solidFill>
              </a:rPr>
              <a:t>Flooring Store Owners Are
Not Like SaaS Buyers.</a:t>
            </a:r>
          </a:p>
        </p:txBody>
      </p:sp>
      <p:sp>
        <p:nvSpPr>
          <p:cNvPr id="6" name="TextBox 5"/>
          <p:cNvSpPr txBox="1"/>
          <p:nvPr/>
        </p:nvSpPr>
        <p:spPr>
          <a:xfrm>
            <a:off x="502920" y="1883664"/>
            <a:ext cx="9601200" cy="384048"/>
          </a:xfrm>
          <a:prstGeom prst="rect">
            <a:avLst/>
          </a:prstGeom>
          <a:noFill/>
        </p:spPr>
        <p:txBody>
          <a:bodyPr wrap="square">
            <a:spAutoFit/>
          </a:bodyPr>
          <a:lstStyle/>
          <a:p>
            <a:pPr algn="l"/>
            <a:r>
              <a:rPr sz="1200" b="0" i="1">
                <a:solidFill>
                  <a:srgbClr val="CCCCD8"/>
                </a:solidFill>
              </a:rPr>
              <a:t>Most outbound agencies build email-only campaigns. Your ICP requires a different stack.</a:t>
            </a:r>
          </a:p>
        </p:txBody>
      </p:sp>
      <p:sp>
        <p:nvSpPr>
          <p:cNvPr id="7" name="Rectangle 6"/>
          <p:cNvSpPr/>
          <p:nvPr/>
        </p:nvSpPr>
        <p:spPr>
          <a:xfrm>
            <a:off x="502920" y="2377440"/>
            <a:ext cx="11247120" cy="36576"/>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523744"/>
            <a:ext cx="5650992" cy="40233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523744"/>
            <a:ext cx="5650992" cy="54864"/>
          </a:xfrm>
          <a:prstGeom prst="rect">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651760"/>
            <a:ext cx="5285232" cy="329184"/>
          </a:xfrm>
          <a:prstGeom prst="rect">
            <a:avLst/>
          </a:prstGeom>
          <a:noFill/>
        </p:spPr>
        <p:txBody>
          <a:bodyPr wrap="square">
            <a:spAutoFit/>
          </a:bodyPr>
          <a:lstStyle/>
          <a:p>
            <a:pPr algn="l"/>
            <a:r>
              <a:rPr sz="1200" b="1" i="0">
                <a:solidFill>
                  <a:srgbClr val="888899"/>
                </a:solidFill>
              </a:rPr>
              <a:t>Typical SaaS Buyer</a:t>
            </a:r>
          </a:p>
        </p:txBody>
      </p:sp>
      <p:sp>
        <p:nvSpPr>
          <p:cNvPr id="11" name="TextBox 10"/>
          <p:cNvSpPr txBox="1"/>
          <p:nvPr/>
        </p:nvSpPr>
        <p:spPr>
          <a:xfrm>
            <a:off x="621792" y="3127248"/>
            <a:ext cx="365760" cy="329184"/>
          </a:xfrm>
          <a:prstGeom prst="rect">
            <a:avLst/>
          </a:prstGeom>
          <a:noFill/>
        </p:spPr>
        <p:txBody>
          <a:bodyPr wrap="square">
            <a:spAutoFit/>
          </a:bodyPr>
          <a:lstStyle/>
          <a:p>
            <a:pPr algn="l"/>
            <a:r>
              <a:rPr sz="1100" b="1" i="0">
                <a:solidFill>
                  <a:srgbClr val="888899"/>
                </a:solidFill>
              </a:rPr>
              <a:t>x  </a:t>
            </a:r>
          </a:p>
        </p:txBody>
      </p:sp>
      <p:sp>
        <p:nvSpPr>
          <p:cNvPr id="12" name="TextBox 11"/>
          <p:cNvSpPr txBox="1"/>
          <p:nvPr/>
        </p:nvSpPr>
        <p:spPr>
          <a:xfrm>
            <a:off x="969264" y="3127248"/>
            <a:ext cx="4956048" cy="329184"/>
          </a:xfrm>
          <a:prstGeom prst="rect">
            <a:avLst/>
          </a:prstGeom>
          <a:noFill/>
        </p:spPr>
        <p:txBody>
          <a:bodyPr wrap="square">
            <a:spAutoFit/>
          </a:bodyPr>
          <a:lstStyle/>
          <a:p>
            <a:pPr algn="l"/>
            <a:r>
              <a:rPr sz="950" b="0" i="0">
                <a:solidFill>
                  <a:srgbClr val="CCCCD8"/>
                </a:solidFill>
              </a:rPr>
              <a:t>Lives in email. Ignores cold calls.</a:t>
            </a:r>
          </a:p>
        </p:txBody>
      </p:sp>
      <p:sp>
        <p:nvSpPr>
          <p:cNvPr id="13" name="TextBox 12"/>
          <p:cNvSpPr txBox="1"/>
          <p:nvPr/>
        </p:nvSpPr>
        <p:spPr>
          <a:xfrm>
            <a:off x="621792" y="3639312"/>
            <a:ext cx="365760" cy="329184"/>
          </a:xfrm>
          <a:prstGeom prst="rect">
            <a:avLst/>
          </a:prstGeom>
          <a:noFill/>
        </p:spPr>
        <p:txBody>
          <a:bodyPr wrap="square">
            <a:spAutoFit/>
          </a:bodyPr>
          <a:lstStyle/>
          <a:p>
            <a:pPr algn="l"/>
            <a:r>
              <a:rPr sz="1100" b="1" i="0">
                <a:solidFill>
                  <a:srgbClr val="888899"/>
                </a:solidFill>
              </a:rPr>
              <a:t>x  </a:t>
            </a:r>
          </a:p>
        </p:txBody>
      </p:sp>
      <p:sp>
        <p:nvSpPr>
          <p:cNvPr id="14" name="TextBox 13"/>
          <p:cNvSpPr txBox="1"/>
          <p:nvPr/>
        </p:nvSpPr>
        <p:spPr>
          <a:xfrm>
            <a:off x="969264" y="3639312"/>
            <a:ext cx="4956048" cy="329184"/>
          </a:xfrm>
          <a:prstGeom prst="rect">
            <a:avLst/>
          </a:prstGeom>
          <a:noFill/>
        </p:spPr>
        <p:txBody>
          <a:bodyPr wrap="square">
            <a:spAutoFit/>
          </a:bodyPr>
          <a:lstStyle/>
          <a:p>
            <a:pPr algn="l"/>
            <a:r>
              <a:rPr sz="950" b="0" i="0">
                <a:solidFill>
                  <a:srgbClr val="CCCCD8"/>
                </a:solidFill>
              </a:rPr>
              <a:t>Researches on G2, Capterra, LinkedIn.</a:t>
            </a:r>
          </a:p>
        </p:txBody>
      </p:sp>
      <p:sp>
        <p:nvSpPr>
          <p:cNvPr id="15" name="TextBox 14"/>
          <p:cNvSpPr txBox="1"/>
          <p:nvPr/>
        </p:nvSpPr>
        <p:spPr>
          <a:xfrm>
            <a:off x="621792" y="4151376"/>
            <a:ext cx="365760" cy="329184"/>
          </a:xfrm>
          <a:prstGeom prst="rect">
            <a:avLst/>
          </a:prstGeom>
          <a:noFill/>
        </p:spPr>
        <p:txBody>
          <a:bodyPr wrap="square">
            <a:spAutoFit/>
          </a:bodyPr>
          <a:lstStyle/>
          <a:p>
            <a:pPr algn="l"/>
            <a:r>
              <a:rPr sz="1100" b="1" i="0">
                <a:solidFill>
                  <a:srgbClr val="888899"/>
                </a:solidFill>
              </a:rPr>
              <a:t>x  </a:t>
            </a:r>
          </a:p>
        </p:txBody>
      </p:sp>
      <p:sp>
        <p:nvSpPr>
          <p:cNvPr id="16" name="TextBox 15"/>
          <p:cNvSpPr txBox="1"/>
          <p:nvPr/>
        </p:nvSpPr>
        <p:spPr>
          <a:xfrm>
            <a:off x="969264" y="4151376"/>
            <a:ext cx="4956048" cy="329184"/>
          </a:xfrm>
          <a:prstGeom prst="rect">
            <a:avLst/>
          </a:prstGeom>
          <a:noFill/>
        </p:spPr>
        <p:txBody>
          <a:bodyPr wrap="square">
            <a:spAutoFit/>
          </a:bodyPr>
          <a:lstStyle/>
          <a:p>
            <a:pPr algn="l"/>
            <a:r>
              <a:rPr sz="950" b="0" i="0">
                <a:solidFill>
                  <a:srgbClr val="CCCCD8"/>
                </a:solidFill>
              </a:rPr>
              <a:t>Evaluates 4-6 tools before deciding.</a:t>
            </a:r>
          </a:p>
        </p:txBody>
      </p:sp>
      <p:sp>
        <p:nvSpPr>
          <p:cNvPr id="17" name="TextBox 16"/>
          <p:cNvSpPr txBox="1"/>
          <p:nvPr/>
        </p:nvSpPr>
        <p:spPr>
          <a:xfrm>
            <a:off x="621792" y="4663440"/>
            <a:ext cx="365760" cy="329184"/>
          </a:xfrm>
          <a:prstGeom prst="rect">
            <a:avLst/>
          </a:prstGeom>
          <a:noFill/>
        </p:spPr>
        <p:txBody>
          <a:bodyPr wrap="square">
            <a:spAutoFit/>
          </a:bodyPr>
          <a:lstStyle/>
          <a:p>
            <a:pPr algn="l"/>
            <a:r>
              <a:rPr sz="1100" b="1" i="0">
                <a:solidFill>
                  <a:srgbClr val="888899"/>
                </a:solidFill>
              </a:rPr>
              <a:t>x  </a:t>
            </a:r>
          </a:p>
        </p:txBody>
      </p:sp>
      <p:sp>
        <p:nvSpPr>
          <p:cNvPr id="18" name="TextBox 17"/>
          <p:cNvSpPr txBox="1"/>
          <p:nvPr/>
        </p:nvSpPr>
        <p:spPr>
          <a:xfrm>
            <a:off x="969264" y="4663440"/>
            <a:ext cx="4956048" cy="329184"/>
          </a:xfrm>
          <a:prstGeom prst="rect">
            <a:avLst/>
          </a:prstGeom>
          <a:noFill/>
        </p:spPr>
        <p:txBody>
          <a:bodyPr wrap="square">
            <a:spAutoFit/>
          </a:bodyPr>
          <a:lstStyle/>
          <a:p>
            <a:pPr algn="l"/>
            <a:r>
              <a:rPr sz="950" b="0" i="0">
                <a:solidFill>
                  <a:srgbClr val="CCCCD8"/>
                </a:solidFill>
              </a:rPr>
              <a:t>Multi-stakeholder buying committee.</a:t>
            </a:r>
          </a:p>
        </p:txBody>
      </p:sp>
      <p:sp>
        <p:nvSpPr>
          <p:cNvPr id="19" name="TextBox 18"/>
          <p:cNvSpPr txBox="1"/>
          <p:nvPr/>
        </p:nvSpPr>
        <p:spPr>
          <a:xfrm>
            <a:off x="621792" y="5175504"/>
            <a:ext cx="365760" cy="329184"/>
          </a:xfrm>
          <a:prstGeom prst="rect">
            <a:avLst/>
          </a:prstGeom>
          <a:noFill/>
        </p:spPr>
        <p:txBody>
          <a:bodyPr wrap="square">
            <a:spAutoFit/>
          </a:bodyPr>
          <a:lstStyle/>
          <a:p>
            <a:pPr algn="l"/>
            <a:r>
              <a:rPr sz="1100" b="1" i="0">
                <a:solidFill>
                  <a:srgbClr val="888899"/>
                </a:solidFill>
              </a:rPr>
              <a:t>x  </a:t>
            </a:r>
          </a:p>
        </p:txBody>
      </p:sp>
      <p:sp>
        <p:nvSpPr>
          <p:cNvPr id="20" name="TextBox 19"/>
          <p:cNvSpPr txBox="1"/>
          <p:nvPr/>
        </p:nvSpPr>
        <p:spPr>
          <a:xfrm>
            <a:off x="969264" y="5175504"/>
            <a:ext cx="4956048" cy="329184"/>
          </a:xfrm>
          <a:prstGeom prst="rect">
            <a:avLst/>
          </a:prstGeom>
          <a:noFill/>
        </p:spPr>
        <p:txBody>
          <a:bodyPr wrap="square">
            <a:spAutoFit/>
          </a:bodyPr>
          <a:lstStyle/>
          <a:p>
            <a:pPr algn="l"/>
            <a:r>
              <a:rPr sz="950" b="0" i="0">
                <a:solidFill>
                  <a:srgbClr val="CCCCD8"/>
                </a:solidFill>
              </a:rPr>
              <a:t>12-week sales cycle minimum.</a:t>
            </a:r>
          </a:p>
        </p:txBody>
      </p:sp>
      <p:sp>
        <p:nvSpPr>
          <p:cNvPr id="21" name="TextBox 20"/>
          <p:cNvSpPr txBox="1"/>
          <p:nvPr/>
        </p:nvSpPr>
        <p:spPr>
          <a:xfrm>
            <a:off x="621792" y="5687568"/>
            <a:ext cx="365760" cy="329184"/>
          </a:xfrm>
          <a:prstGeom prst="rect">
            <a:avLst/>
          </a:prstGeom>
          <a:noFill/>
        </p:spPr>
        <p:txBody>
          <a:bodyPr wrap="square">
            <a:spAutoFit/>
          </a:bodyPr>
          <a:lstStyle/>
          <a:p>
            <a:pPr algn="l"/>
            <a:r>
              <a:rPr sz="1100" b="1" i="0">
                <a:solidFill>
                  <a:srgbClr val="888899"/>
                </a:solidFill>
              </a:rPr>
              <a:t>x  </a:t>
            </a:r>
          </a:p>
        </p:txBody>
      </p:sp>
      <p:sp>
        <p:nvSpPr>
          <p:cNvPr id="22" name="TextBox 21"/>
          <p:cNvSpPr txBox="1"/>
          <p:nvPr/>
        </p:nvSpPr>
        <p:spPr>
          <a:xfrm>
            <a:off x="969264" y="5687568"/>
            <a:ext cx="4956048" cy="329184"/>
          </a:xfrm>
          <a:prstGeom prst="rect">
            <a:avLst/>
          </a:prstGeom>
          <a:noFill/>
        </p:spPr>
        <p:txBody>
          <a:bodyPr wrap="square">
            <a:spAutoFit/>
          </a:bodyPr>
          <a:lstStyle/>
          <a:p>
            <a:pPr algn="l"/>
            <a:r>
              <a:rPr sz="950" b="0" i="0">
                <a:solidFill>
                  <a:srgbClr val="CCCCD8"/>
                </a:solidFill>
              </a:rPr>
              <a:t>Needs sequences of 7+ touches.</a:t>
            </a:r>
          </a:p>
        </p:txBody>
      </p:sp>
      <p:sp>
        <p:nvSpPr>
          <p:cNvPr id="23" name="Rectangle 22"/>
          <p:cNvSpPr/>
          <p:nvPr/>
        </p:nvSpPr>
        <p:spPr>
          <a:xfrm>
            <a:off x="6309360" y="2523744"/>
            <a:ext cx="5650992" cy="40233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2523744"/>
            <a:ext cx="5650992" cy="54864"/>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2651760"/>
            <a:ext cx="5285232" cy="329184"/>
          </a:xfrm>
          <a:prstGeom prst="rect">
            <a:avLst/>
          </a:prstGeom>
          <a:noFill/>
        </p:spPr>
        <p:txBody>
          <a:bodyPr wrap="square">
            <a:spAutoFit/>
          </a:bodyPr>
          <a:lstStyle/>
          <a:p>
            <a:pPr algn="l"/>
            <a:r>
              <a:rPr sz="1200" b="1" i="0">
                <a:solidFill>
                  <a:srgbClr val="F0A020"/>
                </a:solidFill>
              </a:rPr>
              <a:t>Flooring Store Owner</a:t>
            </a:r>
          </a:p>
        </p:txBody>
      </p:sp>
      <p:sp>
        <p:nvSpPr>
          <p:cNvPr id="26" name="TextBox 25"/>
          <p:cNvSpPr txBox="1"/>
          <p:nvPr/>
        </p:nvSpPr>
        <p:spPr>
          <a:xfrm>
            <a:off x="6492240" y="3127248"/>
            <a:ext cx="365760" cy="329184"/>
          </a:xfrm>
          <a:prstGeom prst="rect">
            <a:avLst/>
          </a:prstGeom>
          <a:noFill/>
        </p:spPr>
        <p:txBody>
          <a:bodyPr wrap="square">
            <a:spAutoFit/>
          </a:bodyPr>
          <a:lstStyle/>
          <a:p>
            <a:pPr algn="l"/>
            <a:r>
              <a:rPr sz="1100" b="1" i="0">
                <a:solidFill>
                  <a:srgbClr val="28C870"/>
                </a:solidFill>
              </a:rPr>
              <a:t>+  </a:t>
            </a:r>
          </a:p>
        </p:txBody>
      </p:sp>
      <p:sp>
        <p:nvSpPr>
          <p:cNvPr id="27" name="TextBox 26"/>
          <p:cNvSpPr txBox="1"/>
          <p:nvPr/>
        </p:nvSpPr>
        <p:spPr>
          <a:xfrm>
            <a:off x="6839712" y="3127248"/>
            <a:ext cx="4956048" cy="329184"/>
          </a:xfrm>
          <a:prstGeom prst="rect">
            <a:avLst/>
          </a:prstGeom>
          <a:noFill/>
        </p:spPr>
        <p:txBody>
          <a:bodyPr wrap="square">
            <a:spAutoFit/>
          </a:bodyPr>
          <a:lstStyle/>
          <a:p>
            <a:pPr algn="l"/>
            <a:r>
              <a:rPr sz="950" b="0" i="0">
                <a:solidFill>
                  <a:srgbClr val="FFFFFF"/>
                </a:solidFill>
              </a:rPr>
              <a:t>Answers the phone. Old school.</a:t>
            </a:r>
          </a:p>
        </p:txBody>
      </p:sp>
      <p:sp>
        <p:nvSpPr>
          <p:cNvPr id="28" name="TextBox 27"/>
          <p:cNvSpPr txBox="1"/>
          <p:nvPr/>
        </p:nvSpPr>
        <p:spPr>
          <a:xfrm>
            <a:off x="6492240" y="3639312"/>
            <a:ext cx="365760" cy="329184"/>
          </a:xfrm>
          <a:prstGeom prst="rect">
            <a:avLst/>
          </a:prstGeom>
          <a:noFill/>
        </p:spPr>
        <p:txBody>
          <a:bodyPr wrap="square">
            <a:spAutoFit/>
          </a:bodyPr>
          <a:lstStyle/>
          <a:p>
            <a:pPr algn="l"/>
            <a:r>
              <a:rPr sz="1100" b="1" i="0">
                <a:solidFill>
                  <a:srgbClr val="28C870"/>
                </a:solidFill>
              </a:rPr>
              <a:t>+  </a:t>
            </a:r>
          </a:p>
        </p:txBody>
      </p:sp>
      <p:sp>
        <p:nvSpPr>
          <p:cNvPr id="29" name="TextBox 28"/>
          <p:cNvSpPr txBox="1"/>
          <p:nvPr/>
        </p:nvSpPr>
        <p:spPr>
          <a:xfrm>
            <a:off x="6839712" y="3639312"/>
            <a:ext cx="4956048" cy="329184"/>
          </a:xfrm>
          <a:prstGeom prst="rect">
            <a:avLst/>
          </a:prstGeom>
          <a:noFill/>
        </p:spPr>
        <p:txBody>
          <a:bodyPr wrap="square">
            <a:spAutoFit/>
          </a:bodyPr>
          <a:lstStyle/>
          <a:p>
            <a:pPr algn="l"/>
            <a:r>
              <a:rPr sz="950" b="0" i="0">
                <a:solidFill>
                  <a:srgbClr val="FFFFFF"/>
                </a:solidFill>
              </a:rPr>
              <a:t>Finds vendors at trade shows + referrals.</a:t>
            </a:r>
          </a:p>
        </p:txBody>
      </p:sp>
      <p:sp>
        <p:nvSpPr>
          <p:cNvPr id="30" name="TextBox 29"/>
          <p:cNvSpPr txBox="1"/>
          <p:nvPr/>
        </p:nvSpPr>
        <p:spPr>
          <a:xfrm>
            <a:off x="6492240" y="4151376"/>
            <a:ext cx="365760" cy="329184"/>
          </a:xfrm>
          <a:prstGeom prst="rect">
            <a:avLst/>
          </a:prstGeom>
          <a:noFill/>
        </p:spPr>
        <p:txBody>
          <a:bodyPr wrap="square">
            <a:spAutoFit/>
          </a:bodyPr>
          <a:lstStyle/>
          <a:p>
            <a:pPr algn="l"/>
            <a:r>
              <a:rPr sz="1100" b="1" i="0">
                <a:solidFill>
                  <a:srgbClr val="28C870"/>
                </a:solidFill>
              </a:rPr>
              <a:t>+  </a:t>
            </a:r>
          </a:p>
        </p:txBody>
      </p:sp>
      <p:sp>
        <p:nvSpPr>
          <p:cNvPr id="31" name="TextBox 30"/>
          <p:cNvSpPr txBox="1"/>
          <p:nvPr/>
        </p:nvSpPr>
        <p:spPr>
          <a:xfrm>
            <a:off x="6839712" y="4151376"/>
            <a:ext cx="4956048" cy="329184"/>
          </a:xfrm>
          <a:prstGeom prst="rect">
            <a:avLst/>
          </a:prstGeom>
          <a:noFill/>
        </p:spPr>
        <p:txBody>
          <a:bodyPr wrap="square">
            <a:spAutoFit/>
          </a:bodyPr>
          <a:lstStyle/>
          <a:p>
            <a:pPr algn="l"/>
            <a:r>
              <a:rPr sz="950" b="0" i="0">
                <a:solidFill>
                  <a:srgbClr val="FFFFFF"/>
                </a:solidFill>
              </a:rPr>
              <a:t>Decides fast when the pain is visible.</a:t>
            </a:r>
          </a:p>
        </p:txBody>
      </p:sp>
      <p:sp>
        <p:nvSpPr>
          <p:cNvPr id="32" name="TextBox 31"/>
          <p:cNvSpPr txBox="1"/>
          <p:nvPr/>
        </p:nvSpPr>
        <p:spPr>
          <a:xfrm>
            <a:off x="6492240" y="4663440"/>
            <a:ext cx="365760" cy="329184"/>
          </a:xfrm>
          <a:prstGeom prst="rect">
            <a:avLst/>
          </a:prstGeom>
          <a:noFill/>
        </p:spPr>
        <p:txBody>
          <a:bodyPr wrap="square">
            <a:spAutoFit/>
          </a:bodyPr>
          <a:lstStyle/>
          <a:p>
            <a:pPr algn="l"/>
            <a:r>
              <a:rPr sz="1100" b="1" i="0">
                <a:solidFill>
                  <a:srgbClr val="28C870"/>
                </a:solidFill>
              </a:rPr>
              <a:t>+  </a:t>
            </a:r>
          </a:p>
        </p:txBody>
      </p:sp>
      <p:sp>
        <p:nvSpPr>
          <p:cNvPr id="33" name="TextBox 32"/>
          <p:cNvSpPr txBox="1"/>
          <p:nvPr/>
        </p:nvSpPr>
        <p:spPr>
          <a:xfrm>
            <a:off x="6839712" y="4663440"/>
            <a:ext cx="4956048" cy="329184"/>
          </a:xfrm>
          <a:prstGeom prst="rect">
            <a:avLst/>
          </a:prstGeom>
          <a:noFill/>
        </p:spPr>
        <p:txBody>
          <a:bodyPr wrap="square">
            <a:spAutoFit/>
          </a:bodyPr>
          <a:lstStyle/>
          <a:p>
            <a:pPr algn="l"/>
            <a:r>
              <a:rPr sz="950" b="0" i="0">
                <a:solidFill>
                  <a:srgbClr val="FFFFFF"/>
                </a:solidFill>
              </a:rPr>
              <a:t>Single decision maker -- owner IS the buyer.</a:t>
            </a:r>
          </a:p>
        </p:txBody>
      </p:sp>
      <p:sp>
        <p:nvSpPr>
          <p:cNvPr id="34" name="TextBox 33"/>
          <p:cNvSpPr txBox="1"/>
          <p:nvPr/>
        </p:nvSpPr>
        <p:spPr>
          <a:xfrm>
            <a:off x="6492240" y="5175504"/>
            <a:ext cx="365760" cy="329184"/>
          </a:xfrm>
          <a:prstGeom prst="rect">
            <a:avLst/>
          </a:prstGeom>
          <a:noFill/>
        </p:spPr>
        <p:txBody>
          <a:bodyPr wrap="square">
            <a:spAutoFit/>
          </a:bodyPr>
          <a:lstStyle/>
          <a:p>
            <a:pPr algn="l"/>
            <a:r>
              <a:rPr sz="1100" b="1" i="0">
                <a:solidFill>
                  <a:srgbClr val="28C870"/>
                </a:solidFill>
              </a:rPr>
              <a:t>+  </a:t>
            </a:r>
          </a:p>
        </p:txBody>
      </p:sp>
      <p:sp>
        <p:nvSpPr>
          <p:cNvPr id="35" name="TextBox 34"/>
          <p:cNvSpPr txBox="1"/>
          <p:nvPr/>
        </p:nvSpPr>
        <p:spPr>
          <a:xfrm>
            <a:off x="6839712" y="5175504"/>
            <a:ext cx="4956048" cy="329184"/>
          </a:xfrm>
          <a:prstGeom prst="rect">
            <a:avLst/>
          </a:prstGeom>
          <a:noFill/>
        </p:spPr>
        <p:txBody>
          <a:bodyPr wrap="square">
            <a:spAutoFit/>
          </a:bodyPr>
          <a:lstStyle/>
          <a:p>
            <a:pPr algn="l"/>
            <a:r>
              <a:rPr sz="950" b="0" i="0">
                <a:solidFill>
                  <a:srgbClr val="FFFFFF"/>
                </a:solidFill>
              </a:rPr>
              <a:t>Demo today. Decision this week.</a:t>
            </a:r>
          </a:p>
        </p:txBody>
      </p:sp>
      <p:sp>
        <p:nvSpPr>
          <p:cNvPr id="36" name="TextBox 35"/>
          <p:cNvSpPr txBox="1"/>
          <p:nvPr/>
        </p:nvSpPr>
        <p:spPr>
          <a:xfrm>
            <a:off x="6492240" y="5687568"/>
            <a:ext cx="365760" cy="329184"/>
          </a:xfrm>
          <a:prstGeom prst="rect">
            <a:avLst/>
          </a:prstGeom>
          <a:noFill/>
        </p:spPr>
        <p:txBody>
          <a:bodyPr wrap="square">
            <a:spAutoFit/>
          </a:bodyPr>
          <a:lstStyle/>
          <a:p>
            <a:pPr algn="l"/>
            <a:r>
              <a:rPr sz="1100" b="1" i="0">
                <a:solidFill>
                  <a:srgbClr val="28C870"/>
                </a:solidFill>
              </a:rPr>
              <a:t>+  </a:t>
            </a:r>
          </a:p>
        </p:txBody>
      </p:sp>
      <p:sp>
        <p:nvSpPr>
          <p:cNvPr id="37" name="TextBox 36"/>
          <p:cNvSpPr txBox="1"/>
          <p:nvPr/>
        </p:nvSpPr>
        <p:spPr>
          <a:xfrm>
            <a:off x="6839712" y="5687568"/>
            <a:ext cx="4956048" cy="329184"/>
          </a:xfrm>
          <a:prstGeom prst="rect">
            <a:avLst/>
          </a:prstGeom>
          <a:noFill/>
        </p:spPr>
        <p:txBody>
          <a:bodyPr wrap="square">
            <a:spAutoFit/>
          </a:bodyPr>
          <a:lstStyle/>
          <a:p>
            <a:pPr algn="l"/>
            <a:r>
              <a:rPr sz="950" b="0" i="0">
                <a:solidFill>
                  <a:srgbClr val="FFFFFF"/>
                </a:solidFill>
              </a:rPr>
              <a:t>Cold call + email combo converts fastest.</a:t>
            </a:r>
          </a:p>
        </p:txBody>
      </p:sp>
      <p:sp>
        <p:nvSpPr>
          <p:cNvPr id="38" name="TextBox 37"/>
          <p:cNvSpPr txBox="1"/>
          <p:nvPr/>
        </p:nvSpPr>
        <p:spPr>
          <a:xfrm>
            <a:off x="502920" y="6455664"/>
            <a:ext cx="11155680" cy="310896"/>
          </a:xfrm>
          <a:prstGeom prst="rect">
            <a:avLst/>
          </a:prstGeom>
          <a:noFill/>
        </p:spPr>
        <p:txBody>
          <a:bodyPr wrap="square">
            <a:spAutoFit/>
          </a:bodyPr>
          <a:lstStyle/>
          <a:p>
            <a:pPr algn="l"/>
            <a:r>
              <a:rPr sz="900" b="1" i="0">
                <a:solidFill>
                  <a:srgbClr val="F0A020"/>
                </a:solidFill>
              </a:rPr>
              <a:t>SELLL's Growth plan includes cold calling as a core channel. For your vertical, this is not optional -- it is where your deals close.</a:t>
            </a:r>
          </a:p>
        </p:txBody>
      </p:sp>
      <p:sp>
        <p:nvSpPr>
          <p:cNvPr id="39" name="TextBox 38"/>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347472"/>
          </a:xfrm>
          <a:prstGeom prst="rect">
            <a:avLst/>
          </a:prstGeom>
          <a:noFill/>
        </p:spPr>
        <p:txBody>
          <a:bodyPr wrap="square">
            <a:spAutoFit/>
          </a:bodyPr>
          <a:lstStyle/>
          <a:p>
            <a:pPr algn="l"/>
            <a:r>
              <a:rPr sz="900" b="1" i="0">
                <a:solidFill>
                  <a:srgbClr val="B8860B"/>
                </a:solidFill>
              </a:rPr>
              <a:t>THE BUILD</a:t>
            </a:r>
          </a:p>
        </p:txBody>
      </p:sp>
      <p:sp>
        <p:nvSpPr>
          <p:cNvPr id="5" name="TextBox 4"/>
          <p:cNvSpPr txBox="1"/>
          <p:nvPr/>
        </p:nvSpPr>
        <p:spPr>
          <a:xfrm>
            <a:off x="502920" y="621792"/>
            <a:ext cx="8686800" cy="1170432"/>
          </a:xfrm>
          <a:prstGeom prst="rect">
            <a:avLst/>
          </a:prstGeom>
          <a:noFill/>
        </p:spPr>
        <p:txBody>
          <a:bodyPr wrap="square">
            <a:spAutoFit/>
          </a:bodyPr>
          <a:lstStyle/>
          <a:p>
            <a:pPr algn="l"/>
            <a:r>
              <a:rPr sz="3400" b="1" i="0">
                <a:solidFill>
                  <a:srgbClr val="FFFFFF"/>
                </a:solidFill>
              </a:rPr>
              <a:t>Six Things We Build
for QR Floor Genie. Live in 14 Days.</a:t>
            </a:r>
          </a:p>
        </p:txBody>
      </p:sp>
      <p:sp>
        <p:nvSpPr>
          <p:cNvPr id="6" name="Rectangle 5"/>
          <p:cNvSpPr/>
          <p:nvPr/>
        </p:nvSpPr>
        <p:spPr>
          <a:xfrm>
            <a:off x="502920" y="1883664"/>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2048256"/>
            <a:ext cx="5650992" cy="135331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048256"/>
            <a:ext cx="54864" cy="135331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048256"/>
            <a:ext cx="5650992"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3" y="2157984"/>
            <a:ext cx="457200" cy="329184"/>
          </a:xfrm>
          <a:prstGeom prst="rect">
            <a:avLst/>
          </a:prstGeom>
          <a:noFill/>
        </p:spPr>
        <p:txBody>
          <a:bodyPr wrap="square">
            <a:spAutoFit/>
          </a:bodyPr>
          <a:lstStyle/>
          <a:p>
            <a:pPr algn="l"/>
            <a:r>
              <a:rPr sz="1400" b="1" i="0">
                <a:solidFill>
                  <a:srgbClr val="E8B830"/>
                </a:solidFill>
              </a:rPr>
              <a:t>01</a:t>
            </a:r>
          </a:p>
        </p:txBody>
      </p:sp>
      <p:sp>
        <p:nvSpPr>
          <p:cNvPr id="11" name="TextBox 10"/>
          <p:cNvSpPr txBox="1"/>
          <p:nvPr/>
        </p:nvSpPr>
        <p:spPr>
          <a:xfrm>
            <a:off x="1097280" y="2157984"/>
            <a:ext cx="4846320" cy="329184"/>
          </a:xfrm>
          <a:prstGeom prst="rect">
            <a:avLst/>
          </a:prstGeom>
          <a:noFill/>
        </p:spPr>
        <p:txBody>
          <a:bodyPr wrap="square">
            <a:spAutoFit/>
          </a:bodyPr>
          <a:lstStyle/>
          <a:p>
            <a:pPr algn="l"/>
            <a:r>
              <a:rPr sz="1100" b="1" i="0">
                <a:solidFill>
                  <a:srgbClr val="FFFFFF"/>
                </a:solidFill>
              </a:rPr>
              <a:t>Signal Infrastructure</a:t>
            </a:r>
          </a:p>
        </p:txBody>
      </p:sp>
      <p:sp>
        <p:nvSpPr>
          <p:cNvPr id="12" name="TextBox 11"/>
          <p:cNvSpPr txBox="1"/>
          <p:nvPr/>
        </p:nvSpPr>
        <p:spPr>
          <a:xfrm>
            <a:off x="603503" y="2560320"/>
            <a:ext cx="5321808" cy="749808"/>
          </a:xfrm>
          <a:prstGeom prst="rect">
            <a:avLst/>
          </a:prstGeom>
          <a:noFill/>
        </p:spPr>
        <p:txBody>
          <a:bodyPr wrap="square">
            <a:spAutoFit/>
          </a:bodyPr>
          <a:lstStyle/>
          <a:p>
            <a:pPr algn="l"/>
            <a:r>
              <a:rPr sz="900" b="0" i="0">
                <a:solidFill>
                  <a:srgbClr val="CCCCD8"/>
                </a:solidFill>
              </a:rPr>
              <a:t>Daily monitoring of 5 flooring-specific triggers: new store openings, showroom manager job posts, pricing-complaint Google reviews, TISE attendees, website relaunches. Every firing signal enters your pipeline automatically within 24 hours.</a:t>
            </a:r>
          </a:p>
        </p:txBody>
      </p:sp>
      <p:sp>
        <p:nvSpPr>
          <p:cNvPr id="13" name="Rectangle 12"/>
          <p:cNvSpPr/>
          <p:nvPr/>
        </p:nvSpPr>
        <p:spPr>
          <a:xfrm>
            <a:off x="6309360" y="2048256"/>
            <a:ext cx="5650992" cy="135331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2048256"/>
            <a:ext cx="54864" cy="135331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2048256"/>
            <a:ext cx="5650992"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2157984"/>
            <a:ext cx="457200" cy="329184"/>
          </a:xfrm>
          <a:prstGeom prst="rect">
            <a:avLst/>
          </a:prstGeom>
          <a:noFill/>
        </p:spPr>
        <p:txBody>
          <a:bodyPr wrap="square">
            <a:spAutoFit/>
          </a:bodyPr>
          <a:lstStyle/>
          <a:p>
            <a:pPr algn="l"/>
            <a:r>
              <a:rPr sz="1400" b="1" i="0">
                <a:solidFill>
                  <a:srgbClr val="E8B830"/>
                </a:solidFill>
              </a:rPr>
              <a:t>02</a:t>
            </a:r>
          </a:p>
        </p:txBody>
      </p:sp>
      <p:sp>
        <p:nvSpPr>
          <p:cNvPr id="17" name="TextBox 16"/>
          <p:cNvSpPr txBox="1"/>
          <p:nvPr/>
        </p:nvSpPr>
        <p:spPr>
          <a:xfrm>
            <a:off x="6967728" y="2157984"/>
            <a:ext cx="4846320" cy="329184"/>
          </a:xfrm>
          <a:prstGeom prst="rect">
            <a:avLst/>
          </a:prstGeom>
          <a:noFill/>
        </p:spPr>
        <p:txBody>
          <a:bodyPr wrap="square">
            <a:spAutoFit/>
          </a:bodyPr>
          <a:lstStyle/>
          <a:p>
            <a:pPr algn="l"/>
            <a:r>
              <a:rPr sz="1100" b="1" i="0">
                <a:solidFill>
                  <a:srgbClr val="FFFFFF"/>
                </a:solidFill>
              </a:rPr>
              <a:t>3 Signal-Triggered Sequences</a:t>
            </a:r>
          </a:p>
        </p:txBody>
      </p:sp>
      <p:sp>
        <p:nvSpPr>
          <p:cNvPr id="18" name="TextBox 17"/>
          <p:cNvSpPr txBox="1"/>
          <p:nvPr/>
        </p:nvSpPr>
        <p:spPr>
          <a:xfrm>
            <a:off x="6473952" y="2560320"/>
            <a:ext cx="5321808" cy="749808"/>
          </a:xfrm>
          <a:prstGeom prst="rect">
            <a:avLst/>
          </a:prstGeom>
          <a:noFill/>
        </p:spPr>
        <p:txBody>
          <a:bodyPr wrap="square">
            <a:spAutoFit/>
          </a:bodyPr>
          <a:lstStyle/>
          <a:p>
            <a:pPr algn="l"/>
            <a:r>
              <a:rPr sz="900" b="0" i="0">
                <a:solidFill>
                  <a:srgbClr val="CCCCD8"/>
                </a:solidFill>
              </a:rPr>
              <a:t>New Store -- Hiring Spike -- Pricing Complaint. Each sequence fires within 24 hours of the signal. Each email references the specific trigger. No spray-and-pray. Every message feels like it was written for them.</a:t>
            </a:r>
          </a:p>
        </p:txBody>
      </p:sp>
      <p:sp>
        <p:nvSpPr>
          <p:cNvPr id="19" name="Rectangle 18"/>
          <p:cNvSpPr/>
          <p:nvPr/>
        </p:nvSpPr>
        <p:spPr>
          <a:xfrm>
            <a:off x="438912" y="3566160"/>
            <a:ext cx="5650992" cy="135331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912" y="3566160"/>
            <a:ext cx="54864" cy="135331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8912" y="3566160"/>
            <a:ext cx="5650992"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3" y="3675888"/>
            <a:ext cx="457200" cy="329184"/>
          </a:xfrm>
          <a:prstGeom prst="rect">
            <a:avLst/>
          </a:prstGeom>
          <a:noFill/>
        </p:spPr>
        <p:txBody>
          <a:bodyPr wrap="square">
            <a:spAutoFit/>
          </a:bodyPr>
          <a:lstStyle/>
          <a:p>
            <a:pPr algn="l"/>
            <a:r>
              <a:rPr sz="1400" b="1" i="0">
                <a:solidFill>
                  <a:srgbClr val="E8B830"/>
                </a:solidFill>
              </a:rPr>
              <a:t>03</a:t>
            </a:r>
          </a:p>
        </p:txBody>
      </p:sp>
      <p:sp>
        <p:nvSpPr>
          <p:cNvPr id="23" name="TextBox 22"/>
          <p:cNvSpPr txBox="1"/>
          <p:nvPr/>
        </p:nvSpPr>
        <p:spPr>
          <a:xfrm>
            <a:off x="1097280" y="3675888"/>
            <a:ext cx="4846320" cy="329184"/>
          </a:xfrm>
          <a:prstGeom prst="rect">
            <a:avLst/>
          </a:prstGeom>
          <a:noFill/>
        </p:spPr>
        <p:txBody>
          <a:bodyPr wrap="square">
            <a:spAutoFit/>
          </a:bodyPr>
          <a:lstStyle/>
          <a:p>
            <a:pPr algn="l"/>
            <a:r>
              <a:rPr sz="1100" b="1" i="0">
                <a:solidFill>
                  <a:srgbClr val="FFFFFF"/>
                </a:solidFill>
              </a:rPr>
              <a:t>Cold Call Layer</a:t>
            </a:r>
          </a:p>
        </p:txBody>
      </p:sp>
      <p:sp>
        <p:nvSpPr>
          <p:cNvPr id="24" name="TextBox 23"/>
          <p:cNvSpPr txBox="1"/>
          <p:nvPr/>
        </p:nvSpPr>
        <p:spPr>
          <a:xfrm>
            <a:off x="603503" y="4078224"/>
            <a:ext cx="5321808" cy="749808"/>
          </a:xfrm>
          <a:prstGeom prst="rect">
            <a:avLst/>
          </a:prstGeom>
          <a:noFill/>
        </p:spPr>
        <p:txBody>
          <a:bodyPr wrap="square">
            <a:spAutoFit/>
          </a:bodyPr>
          <a:lstStyle/>
          <a:p>
            <a:pPr algn="l"/>
            <a:r>
              <a:rPr sz="900" b="0" i="0">
                <a:solidFill>
                  <a:srgbClr val="CCCCD8"/>
                </a:solidFill>
              </a:rPr>
              <a:t>Email alone is not enough for flooring store owners. We build a call cadence alongside the email sequence. Short, direct, no jargon. 'Your pricing binder is costing you customers -- can I show you what replaces it in 10 minutes?'</a:t>
            </a:r>
          </a:p>
        </p:txBody>
      </p:sp>
      <p:sp>
        <p:nvSpPr>
          <p:cNvPr id="25" name="Rectangle 24"/>
          <p:cNvSpPr/>
          <p:nvPr/>
        </p:nvSpPr>
        <p:spPr>
          <a:xfrm>
            <a:off x="6309360" y="3566160"/>
            <a:ext cx="5650992" cy="135331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9360" y="3566160"/>
            <a:ext cx="54864" cy="135331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60" y="3566160"/>
            <a:ext cx="5650992"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3675888"/>
            <a:ext cx="457200" cy="329184"/>
          </a:xfrm>
          <a:prstGeom prst="rect">
            <a:avLst/>
          </a:prstGeom>
          <a:noFill/>
        </p:spPr>
        <p:txBody>
          <a:bodyPr wrap="square">
            <a:spAutoFit/>
          </a:bodyPr>
          <a:lstStyle/>
          <a:p>
            <a:pPr algn="l"/>
            <a:r>
              <a:rPr sz="1400" b="1" i="0">
                <a:solidFill>
                  <a:srgbClr val="E8B830"/>
                </a:solidFill>
              </a:rPr>
              <a:t>04</a:t>
            </a:r>
          </a:p>
        </p:txBody>
      </p:sp>
      <p:sp>
        <p:nvSpPr>
          <p:cNvPr id="29" name="TextBox 28"/>
          <p:cNvSpPr txBox="1"/>
          <p:nvPr/>
        </p:nvSpPr>
        <p:spPr>
          <a:xfrm>
            <a:off x="6967728" y="3675888"/>
            <a:ext cx="4846320" cy="329184"/>
          </a:xfrm>
          <a:prstGeom prst="rect">
            <a:avLst/>
          </a:prstGeom>
          <a:noFill/>
        </p:spPr>
        <p:txBody>
          <a:bodyPr wrap="square">
            <a:spAutoFit/>
          </a:bodyPr>
          <a:lstStyle/>
          <a:p>
            <a:pPr algn="l"/>
            <a:r>
              <a:rPr sz="1100" b="1" i="0">
                <a:solidFill>
                  <a:srgbClr val="FFFFFF"/>
                </a:solidFill>
              </a:rPr>
              <a:t>TISE / Trade Show Sequence</a:t>
            </a:r>
          </a:p>
        </p:txBody>
      </p:sp>
      <p:sp>
        <p:nvSpPr>
          <p:cNvPr id="30" name="TextBox 29"/>
          <p:cNvSpPr txBox="1"/>
          <p:nvPr/>
        </p:nvSpPr>
        <p:spPr>
          <a:xfrm>
            <a:off x="6473952" y="4078224"/>
            <a:ext cx="5321808" cy="749808"/>
          </a:xfrm>
          <a:prstGeom prst="rect">
            <a:avLst/>
          </a:prstGeom>
          <a:noFill/>
        </p:spPr>
        <p:txBody>
          <a:bodyPr wrap="square">
            <a:spAutoFit/>
          </a:bodyPr>
          <a:lstStyle/>
          <a:p>
            <a:pPr algn="l"/>
            <a:r>
              <a:rPr sz="900" b="0" i="0">
                <a:solidFill>
                  <a:srgbClr val="CCCCD8"/>
                </a:solidFill>
              </a:rPr>
              <a:t>We build a dedicated sequence targeting every flooring dealer who attended the International Surface Event this year. These are your highest-intent prospects. They came to a trade show looking for exactly what you built.</a:t>
            </a:r>
          </a:p>
        </p:txBody>
      </p:sp>
      <p:sp>
        <p:nvSpPr>
          <p:cNvPr id="31" name="Rectangle 30"/>
          <p:cNvSpPr/>
          <p:nvPr/>
        </p:nvSpPr>
        <p:spPr>
          <a:xfrm>
            <a:off x="438912" y="5084064"/>
            <a:ext cx="5650992" cy="135331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8912" y="5084064"/>
            <a:ext cx="54864" cy="135331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8912" y="5084064"/>
            <a:ext cx="5650992"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3" y="5193792"/>
            <a:ext cx="457200" cy="329184"/>
          </a:xfrm>
          <a:prstGeom prst="rect">
            <a:avLst/>
          </a:prstGeom>
          <a:noFill/>
        </p:spPr>
        <p:txBody>
          <a:bodyPr wrap="square">
            <a:spAutoFit/>
          </a:bodyPr>
          <a:lstStyle/>
          <a:p>
            <a:pPr algn="l"/>
            <a:r>
              <a:rPr sz="1400" b="1" i="0">
                <a:solidFill>
                  <a:srgbClr val="E8B830"/>
                </a:solidFill>
              </a:rPr>
              <a:t>05</a:t>
            </a:r>
          </a:p>
        </p:txBody>
      </p:sp>
      <p:sp>
        <p:nvSpPr>
          <p:cNvPr id="35" name="TextBox 34"/>
          <p:cNvSpPr txBox="1"/>
          <p:nvPr/>
        </p:nvSpPr>
        <p:spPr>
          <a:xfrm>
            <a:off x="1097280" y="5193792"/>
            <a:ext cx="4846320" cy="329184"/>
          </a:xfrm>
          <a:prstGeom prst="rect">
            <a:avLst/>
          </a:prstGeom>
          <a:noFill/>
        </p:spPr>
        <p:txBody>
          <a:bodyPr wrap="square">
            <a:spAutoFit/>
          </a:bodyPr>
          <a:lstStyle/>
          <a:p>
            <a:pPr algn="l"/>
            <a:r>
              <a:rPr sz="1100" b="1" i="0">
                <a:solidFill>
                  <a:srgbClr val="FFFFFF"/>
                </a:solidFill>
              </a:rPr>
              <a:t>Demo Booking Machine</a:t>
            </a:r>
          </a:p>
        </p:txBody>
      </p:sp>
      <p:sp>
        <p:nvSpPr>
          <p:cNvPr id="36" name="TextBox 35"/>
          <p:cNvSpPr txBox="1"/>
          <p:nvPr/>
        </p:nvSpPr>
        <p:spPr>
          <a:xfrm>
            <a:off x="603503" y="5596128"/>
            <a:ext cx="5321808" cy="749808"/>
          </a:xfrm>
          <a:prstGeom prst="rect">
            <a:avLst/>
          </a:prstGeom>
          <a:noFill/>
        </p:spPr>
        <p:txBody>
          <a:bodyPr wrap="square">
            <a:spAutoFit/>
          </a:bodyPr>
          <a:lstStyle/>
          <a:p>
            <a:pPr algn="l"/>
            <a:r>
              <a:rPr sz="900" b="0" i="0">
                <a:solidFill>
                  <a:srgbClr val="CCCCD8"/>
                </a:solidFill>
              </a:rPr>
              <a:t>Every sequence has one job: book the demo. Not a long call. Not a discovery conversation. A 10-minute 'let me show you the QR code.' Your product closes from there.</a:t>
            </a:r>
          </a:p>
        </p:txBody>
      </p:sp>
      <p:sp>
        <p:nvSpPr>
          <p:cNvPr id="37" name="Rectangle 36"/>
          <p:cNvSpPr/>
          <p:nvPr/>
        </p:nvSpPr>
        <p:spPr>
          <a:xfrm>
            <a:off x="6309360" y="5084064"/>
            <a:ext cx="5650992" cy="135331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309360" y="5084064"/>
            <a:ext cx="54864" cy="135331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09360" y="5084064"/>
            <a:ext cx="5650992"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73952" y="5193792"/>
            <a:ext cx="457200" cy="329184"/>
          </a:xfrm>
          <a:prstGeom prst="rect">
            <a:avLst/>
          </a:prstGeom>
          <a:noFill/>
        </p:spPr>
        <p:txBody>
          <a:bodyPr wrap="square">
            <a:spAutoFit/>
          </a:bodyPr>
          <a:lstStyle/>
          <a:p>
            <a:pPr algn="l"/>
            <a:r>
              <a:rPr sz="1400" b="1" i="0">
                <a:solidFill>
                  <a:srgbClr val="E8B830"/>
                </a:solidFill>
              </a:rPr>
              <a:t>06</a:t>
            </a:r>
          </a:p>
        </p:txBody>
      </p:sp>
      <p:sp>
        <p:nvSpPr>
          <p:cNvPr id="41" name="TextBox 40"/>
          <p:cNvSpPr txBox="1"/>
          <p:nvPr/>
        </p:nvSpPr>
        <p:spPr>
          <a:xfrm>
            <a:off x="6967728" y="5193792"/>
            <a:ext cx="4846320" cy="329184"/>
          </a:xfrm>
          <a:prstGeom prst="rect">
            <a:avLst/>
          </a:prstGeom>
          <a:noFill/>
        </p:spPr>
        <p:txBody>
          <a:bodyPr wrap="square">
            <a:spAutoFit/>
          </a:bodyPr>
          <a:lstStyle/>
          <a:p>
            <a:pPr algn="l"/>
            <a:r>
              <a:rPr sz="1100" b="1" i="0">
                <a:solidFill>
                  <a:srgbClr val="FFFFFF"/>
                </a:solidFill>
              </a:rPr>
              <a:t>Monthly Iteration + Reporting</a:t>
            </a:r>
          </a:p>
        </p:txBody>
      </p:sp>
      <p:sp>
        <p:nvSpPr>
          <p:cNvPr id="42" name="TextBox 41"/>
          <p:cNvSpPr txBox="1"/>
          <p:nvPr/>
        </p:nvSpPr>
        <p:spPr>
          <a:xfrm>
            <a:off x="6473952" y="5596128"/>
            <a:ext cx="5321808" cy="749808"/>
          </a:xfrm>
          <a:prstGeom prst="rect">
            <a:avLst/>
          </a:prstGeom>
          <a:noFill/>
        </p:spPr>
        <p:txBody>
          <a:bodyPr wrap="square">
            <a:spAutoFit/>
          </a:bodyPr>
          <a:lstStyle/>
          <a:p>
            <a:pPr algn="l"/>
            <a:r>
              <a:rPr sz="900" b="0" i="0">
                <a:solidFill>
                  <a:srgbClr val="CCCCD8"/>
                </a:solidFill>
              </a:rPr>
              <a:t>Reply data tells us what's converting. We rewrite what isn't. Every month the system gets sharper. You see every number: contacted, replied, demos booked, new customers.</a:t>
            </a:r>
          </a:p>
        </p:txBody>
      </p:sp>
      <p:sp>
        <p:nvSpPr>
          <p:cNvPr id="43" name="TextBox 42"/>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347472"/>
          </a:xfrm>
          <a:prstGeom prst="rect">
            <a:avLst/>
          </a:prstGeom>
          <a:noFill/>
        </p:spPr>
        <p:txBody>
          <a:bodyPr wrap="square">
            <a:spAutoFit/>
          </a:bodyPr>
          <a:lstStyle/>
          <a:p>
            <a:pPr algn="l"/>
            <a:r>
              <a:rPr sz="900" b="1" i="0">
                <a:solidFill>
                  <a:srgbClr val="B8860B"/>
                </a:solidFill>
              </a:rPr>
              <a:t>WHAT IT SOUNDS LIKE</a:t>
            </a:r>
          </a:p>
        </p:txBody>
      </p:sp>
      <p:sp>
        <p:nvSpPr>
          <p:cNvPr id="5" name="TextBox 4"/>
          <p:cNvSpPr txBox="1"/>
          <p:nvPr/>
        </p:nvSpPr>
        <p:spPr>
          <a:xfrm>
            <a:off x="502920" y="621792"/>
            <a:ext cx="10058400" cy="1170432"/>
          </a:xfrm>
          <a:prstGeom prst="rect">
            <a:avLst/>
          </a:prstGeom>
          <a:noFill/>
        </p:spPr>
        <p:txBody>
          <a:bodyPr wrap="square">
            <a:spAutoFit/>
          </a:bodyPr>
          <a:lstStyle/>
          <a:p>
            <a:pPr algn="l"/>
            <a:r>
              <a:rPr sz="3000" b="1" i="0">
                <a:solidFill>
                  <a:srgbClr val="FFFFFF"/>
                </a:solidFill>
              </a:rPr>
              <a:t>Three Sequences. Day 1.
Built for Flooring Store Owners -- Not SaaS CTOs.</a:t>
            </a:r>
          </a:p>
        </p:txBody>
      </p:sp>
      <p:sp>
        <p:nvSpPr>
          <p:cNvPr id="6" name="Rectangle 5"/>
          <p:cNvSpPr/>
          <p:nvPr/>
        </p:nvSpPr>
        <p:spPr>
          <a:xfrm>
            <a:off x="502920" y="1883664"/>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2048256"/>
            <a:ext cx="3730752" cy="44622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048256"/>
            <a:ext cx="3730752"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3" y="2157984"/>
            <a:ext cx="1005840" cy="2743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3" y="2194560"/>
            <a:ext cx="822960" cy="201167"/>
          </a:xfrm>
          <a:prstGeom prst="rect">
            <a:avLst/>
          </a:prstGeom>
          <a:noFill/>
        </p:spPr>
        <p:txBody>
          <a:bodyPr wrap="square">
            <a:spAutoFit/>
          </a:bodyPr>
          <a:lstStyle/>
          <a:p>
            <a:pPr algn="ctr"/>
            <a:r>
              <a:rPr sz="900" b="1" i="0">
                <a:solidFill>
                  <a:srgbClr val="1A1A2E"/>
                </a:solidFill>
              </a:rPr>
              <a:t>SEQ A</a:t>
            </a:r>
          </a:p>
        </p:txBody>
      </p:sp>
      <p:sp>
        <p:nvSpPr>
          <p:cNvPr id="11" name="TextBox 10"/>
          <p:cNvSpPr txBox="1"/>
          <p:nvPr/>
        </p:nvSpPr>
        <p:spPr>
          <a:xfrm>
            <a:off x="603503" y="2542032"/>
            <a:ext cx="3401568" cy="347472"/>
          </a:xfrm>
          <a:prstGeom prst="rect">
            <a:avLst/>
          </a:prstGeom>
          <a:noFill/>
        </p:spPr>
        <p:txBody>
          <a:bodyPr wrap="square">
            <a:spAutoFit/>
          </a:bodyPr>
          <a:lstStyle/>
          <a:p>
            <a:pPr algn="l"/>
            <a:r>
              <a:rPr sz="1000" b="1" i="0">
                <a:solidFill>
                  <a:srgbClr val="FFFFFF"/>
                </a:solidFill>
              </a:rPr>
              <a:t>New Store Opening</a:t>
            </a:r>
          </a:p>
        </p:txBody>
      </p:sp>
      <p:sp>
        <p:nvSpPr>
          <p:cNvPr id="12" name="TextBox 11"/>
          <p:cNvSpPr txBox="1"/>
          <p:nvPr/>
        </p:nvSpPr>
        <p:spPr>
          <a:xfrm>
            <a:off x="603503" y="2962656"/>
            <a:ext cx="3401568" cy="274320"/>
          </a:xfrm>
          <a:prstGeom prst="rect">
            <a:avLst/>
          </a:prstGeom>
          <a:noFill/>
        </p:spPr>
        <p:txBody>
          <a:bodyPr wrap="square">
            <a:spAutoFit/>
          </a:bodyPr>
          <a:lstStyle/>
          <a:p>
            <a:pPr algn="l"/>
            <a:r>
              <a:rPr sz="850" b="1" i="1">
                <a:solidFill>
                  <a:srgbClr val="E8B830"/>
                </a:solidFill>
              </a:rPr>
              <a:t>Subject: your pricing setup -- quick question</a:t>
            </a:r>
          </a:p>
        </p:txBody>
      </p:sp>
      <p:sp>
        <p:nvSpPr>
          <p:cNvPr id="13" name="TextBox 12"/>
          <p:cNvSpPr txBox="1"/>
          <p:nvPr/>
        </p:nvSpPr>
        <p:spPr>
          <a:xfrm>
            <a:off x="603503" y="3291840"/>
            <a:ext cx="3401568" cy="3108960"/>
          </a:xfrm>
          <a:prstGeom prst="rect">
            <a:avLst/>
          </a:prstGeom>
          <a:noFill/>
        </p:spPr>
        <p:txBody>
          <a:bodyPr wrap="square">
            <a:spAutoFit/>
          </a:bodyPr>
          <a:lstStyle/>
          <a:p>
            <a:pPr algn="l"/>
            <a:r>
              <a:rPr sz="850" b="0" i="0">
                <a:solidFill>
                  <a:srgbClr val="CCCCD8"/>
                </a:solidFill>
              </a:rPr>
              <a:t>Hi [Name], congrats on the new store. Most new showrooms spend the first year fighting paper price binders, manual updates, and customers who can't get a straight number on the floor. We built a QR code system that connects your samples directly to live manufacturer pricing. Customers scan the QR code on the sample and get instant price, product details, and availability on their phone. No binder. No guessing. Worth a 10-minute demo to see it live? -- [Your Name], QR Floor Genie</a:t>
            </a:r>
          </a:p>
        </p:txBody>
      </p:sp>
      <p:sp>
        <p:nvSpPr>
          <p:cNvPr id="14" name="Rectangle 13"/>
          <p:cNvSpPr/>
          <p:nvPr/>
        </p:nvSpPr>
        <p:spPr>
          <a:xfrm>
            <a:off x="4334256" y="2048256"/>
            <a:ext cx="3730752" cy="44622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34256" y="2048256"/>
            <a:ext cx="3730752"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98848" y="2157984"/>
            <a:ext cx="1005840" cy="2743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2194560"/>
            <a:ext cx="822960" cy="201167"/>
          </a:xfrm>
          <a:prstGeom prst="rect">
            <a:avLst/>
          </a:prstGeom>
          <a:noFill/>
        </p:spPr>
        <p:txBody>
          <a:bodyPr wrap="square">
            <a:spAutoFit/>
          </a:bodyPr>
          <a:lstStyle/>
          <a:p>
            <a:pPr algn="ctr"/>
            <a:r>
              <a:rPr sz="900" b="1" i="0">
                <a:solidFill>
                  <a:srgbClr val="1A1A2E"/>
                </a:solidFill>
              </a:rPr>
              <a:t>SEQ B</a:t>
            </a:r>
          </a:p>
        </p:txBody>
      </p:sp>
      <p:sp>
        <p:nvSpPr>
          <p:cNvPr id="18" name="TextBox 17"/>
          <p:cNvSpPr txBox="1"/>
          <p:nvPr/>
        </p:nvSpPr>
        <p:spPr>
          <a:xfrm>
            <a:off x="4498848" y="2542032"/>
            <a:ext cx="3401568" cy="347472"/>
          </a:xfrm>
          <a:prstGeom prst="rect">
            <a:avLst/>
          </a:prstGeom>
          <a:noFill/>
        </p:spPr>
        <p:txBody>
          <a:bodyPr wrap="square">
            <a:spAutoFit/>
          </a:bodyPr>
          <a:lstStyle/>
          <a:p>
            <a:pPr algn="l"/>
            <a:r>
              <a:rPr sz="1000" b="1" i="0">
                <a:solidFill>
                  <a:srgbClr val="FFFFFF"/>
                </a:solidFill>
              </a:rPr>
              <a:t>Pricing Complaint Signal</a:t>
            </a:r>
          </a:p>
        </p:txBody>
      </p:sp>
      <p:sp>
        <p:nvSpPr>
          <p:cNvPr id="19" name="TextBox 18"/>
          <p:cNvSpPr txBox="1"/>
          <p:nvPr/>
        </p:nvSpPr>
        <p:spPr>
          <a:xfrm>
            <a:off x="4498848" y="2962656"/>
            <a:ext cx="3401568" cy="274320"/>
          </a:xfrm>
          <a:prstGeom prst="rect">
            <a:avLst/>
          </a:prstGeom>
          <a:noFill/>
        </p:spPr>
        <p:txBody>
          <a:bodyPr wrap="square">
            <a:spAutoFit/>
          </a:bodyPr>
          <a:lstStyle/>
          <a:p>
            <a:pPr algn="l"/>
            <a:r>
              <a:rPr sz="850" b="1" i="1">
                <a:solidFill>
                  <a:srgbClr val="F0A020"/>
                </a:solidFill>
              </a:rPr>
              <a:t>Subject: noticed something about [Store Name]</a:t>
            </a:r>
          </a:p>
        </p:txBody>
      </p:sp>
      <p:sp>
        <p:nvSpPr>
          <p:cNvPr id="20" name="TextBox 19"/>
          <p:cNvSpPr txBox="1"/>
          <p:nvPr/>
        </p:nvSpPr>
        <p:spPr>
          <a:xfrm>
            <a:off x="4498848" y="3291840"/>
            <a:ext cx="3401568" cy="3108960"/>
          </a:xfrm>
          <a:prstGeom prst="rect">
            <a:avLst/>
          </a:prstGeom>
          <a:noFill/>
        </p:spPr>
        <p:txBody>
          <a:bodyPr wrap="square">
            <a:spAutoFit/>
          </a:bodyPr>
          <a:lstStyle/>
          <a:p>
            <a:pPr algn="l"/>
            <a:r>
              <a:rPr sz="850" b="0" i="0">
                <a:solidFill>
                  <a:srgbClr val="CCCCD8"/>
                </a:solidFill>
              </a:rPr>
              <a:t>Hi [Name], I saw a couple of reviews on Google for [Store Name] mentioning customers having trouble getting clear pricing on the floor. That's actually the exact problem we built QR Floor Genie to solve. QR labels on every sample. Customer scans it. Instant price-per-square-foot, product specs, and live availability. No staff interruption required. 10 minutes to show you how it works? -- [Your Name], QR Floor Genie</a:t>
            </a:r>
          </a:p>
        </p:txBody>
      </p:sp>
      <p:sp>
        <p:nvSpPr>
          <p:cNvPr id="21" name="Rectangle 20"/>
          <p:cNvSpPr/>
          <p:nvPr/>
        </p:nvSpPr>
        <p:spPr>
          <a:xfrm>
            <a:off x="8229600" y="2048256"/>
            <a:ext cx="3730752" cy="44622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0" y="2048256"/>
            <a:ext cx="3730752" cy="45720"/>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94192" y="2157984"/>
            <a:ext cx="1005840" cy="274320"/>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85632" y="2194560"/>
            <a:ext cx="822960" cy="201167"/>
          </a:xfrm>
          <a:prstGeom prst="rect">
            <a:avLst/>
          </a:prstGeom>
          <a:noFill/>
        </p:spPr>
        <p:txBody>
          <a:bodyPr wrap="square">
            <a:spAutoFit/>
          </a:bodyPr>
          <a:lstStyle/>
          <a:p>
            <a:pPr algn="ctr"/>
            <a:r>
              <a:rPr sz="900" b="1" i="0">
                <a:solidFill>
                  <a:srgbClr val="1A1A2E"/>
                </a:solidFill>
              </a:rPr>
              <a:t>SEQ C</a:t>
            </a:r>
          </a:p>
        </p:txBody>
      </p:sp>
      <p:sp>
        <p:nvSpPr>
          <p:cNvPr id="25" name="TextBox 24"/>
          <p:cNvSpPr txBox="1"/>
          <p:nvPr/>
        </p:nvSpPr>
        <p:spPr>
          <a:xfrm>
            <a:off x="8394192" y="2542032"/>
            <a:ext cx="3401568" cy="347472"/>
          </a:xfrm>
          <a:prstGeom prst="rect">
            <a:avLst/>
          </a:prstGeom>
          <a:noFill/>
        </p:spPr>
        <p:txBody>
          <a:bodyPr wrap="square">
            <a:spAutoFit/>
          </a:bodyPr>
          <a:lstStyle/>
          <a:p>
            <a:pPr algn="l"/>
            <a:r>
              <a:rPr sz="1000" b="1" i="0">
                <a:solidFill>
                  <a:srgbClr val="FFFFFF"/>
                </a:solidFill>
              </a:rPr>
              <a:t>TISE / Trade Show Attendee</a:t>
            </a:r>
          </a:p>
        </p:txBody>
      </p:sp>
      <p:sp>
        <p:nvSpPr>
          <p:cNvPr id="26" name="TextBox 25"/>
          <p:cNvSpPr txBox="1"/>
          <p:nvPr/>
        </p:nvSpPr>
        <p:spPr>
          <a:xfrm>
            <a:off x="8394192" y="2962656"/>
            <a:ext cx="3401568" cy="274320"/>
          </a:xfrm>
          <a:prstGeom prst="rect">
            <a:avLst/>
          </a:prstGeom>
          <a:noFill/>
        </p:spPr>
        <p:txBody>
          <a:bodyPr wrap="square">
            <a:spAutoFit/>
          </a:bodyPr>
          <a:lstStyle/>
          <a:p>
            <a:pPr algn="l"/>
            <a:r>
              <a:rPr sz="850" b="1" i="1">
                <a:solidFill>
                  <a:srgbClr val="28C870"/>
                </a:solidFill>
              </a:rPr>
              <a:t>Subject: from the Surfaces show</a:t>
            </a:r>
          </a:p>
        </p:txBody>
      </p:sp>
      <p:sp>
        <p:nvSpPr>
          <p:cNvPr id="27" name="TextBox 26"/>
          <p:cNvSpPr txBox="1"/>
          <p:nvPr/>
        </p:nvSpPr>
        <p:spPr>
          <a:xfrm>
            <a:off x="8394192" y="3291840"/>
            <a:ext cx="3401568" cy="3108960"/>
          </a:xfrm>
          <a:prstGeom prst="rect">
            <a:avLst/>
          </a:prstGeom>
          <a:noFill/>
        </p:spPr>
        <p:txBody>
          <a:bodyPr wrap="square">
            <a:spAutoFit/>
          </a:bodyPr>
          <a:lstStyle/>
          <a:p>
            <a:pPr algn="l"/>
            <a:r>
              <a:rPr sz="850" b="0" i="0">
                <a:solidFill>
                  <a:srgbClr val="CCCCD8"/>
                </a:solidFill>
              </a:rPr>
              <a:t>Hi [Name], I saw [Store Name] was at TISE this year. I know a lot of dealers were looking at digital showroom tools. QR Floor Genie connects your floor samples to live manufacturer pricing via QR code -- customers scan the sample, get instant pricing on their phone. No manual updates. AI reads the price sheets for you. We work with independent flooring dealers specifically. 10 minutes to see it on a demo showroom? -- [Your Name]</a:t>
            </a:r>
          </a:p>
        </p:txBody>
      </p:sp>
      <p:sp>
        <p:nvSpPr>
          <p:cNvPr id="28" name="TextBox 27"/>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7315200" cy="347472"/>
          </a:xfrm>
          <a:prstGeom prst="rect">
            <a:avLst/>
          </a:prstGeom>
          <a:noFill/>
        </p:spPr>
        <p:txBody>
          <a:bodyPr wrap="square">
            <a:spAutoFit/>
          </a:bodyPr>
          <a:lstStyle/>
          <a:p>
            <a:pPr algn="l"/>
            <a:r>
              <a:rPr sz="900" b="1" i="0">
                <a:solidFill>
                  <a:srgbClr val="B8860B"/>
                </a:solidFill>
              </a:rPr>
              <a:t>THE NUMBERS</a:t>
            </a:r>
          </a:p>
        </p:txBody>
      </p:sp>
      <p:sp>
        <p:nvSpPr>
          <p:cNvPr id="5" name="TextBox 4"/>
          <p:cNvSpPr txBox="1"/>
          <p:nvPr/>
        </p:nvSpPr>
        <p:spPr>
          <a:xfrm>
            <a:off x="502920" y="621792"/>
            <a:ext cx="8686800" cy="1170432"/>
          </a:xfrm>
          <a:prstGeom prst="rect">
            <a:avLst/>
          </a:prstGeom>
          <a:noFill/>
        </p:spPr>
        <p:txBody>
          <a:bodyPr wrap="square">
            <a:spAutoFit/>
          </a:bodyPr>
          <a:lstStyle/>
          <a:p>
            <a:pPr algn="l"/>
            <a:r>
              <a:rPr sz="3400" b="1" i="0">
                <a:solidFill>
                  <a:srgbClr val="FFFFFF"/>
                </a:solidFill>
              </a:rPr>
              <a:t>What This System Produces
for QR Floor Genie.</a:t>
            </a:r>
          </a:p>
        </p:txBody>
      </p:sp>
      <p:sp>
        <p:nvSpPr>
          <p:cNvPr id="6" name="Rectangle 5"/>
          <p:cNvSpPr/>
          <p:nvPr/>
        </p:nvSpPr>
        <p:spPr>
          <a:xfrm>
            <a:off x="502920" y="1883664"/>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2066543"/>
            <a:ext cx="3803904" cy="36576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2130551"/>
            <a:ext cx="3657600" cy="292608"/>
          </a:xfrm>
          <a:prstGeom prst="rect">
            <a:avLst/>
          </a:prstGeom>
          <a:noFill/>
        </p:spPr>
        <p:txBody>
          <a:bodyPr wrap="square">
            <a:spAutoFit/>
          </a:bodyPr>
          <a:lstStyle/>
          <a:p>
            <a:pPr algn="l"/>
            <a:r>
              <a:rPr sz="900" b="1" i="0">
                <a:solidFill>
                  <a:srgbClr val="1A1A2E"/>
                </a:solidFill>
              </a:rPr>
              <a:t>Metric</a:t>
            </a:r>
          </a:p>
        </p:txBody>
      </p:sp>
      <p:sp>
        <p:nvSpPr>
          <p:cNvPr id="9" name="Rectangle 8"/>
          <p:cNvSpPr/>
          <p:nvPr/>
        </p:nvSpPr>
        <p:spPr>
          <a:xfrm>
            <a:off x="4370832" y="2066543"/>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62272" y="2130551"/>
            <a:ext cx="2103120" cy="292608"/>
          </a:xfrm>
          <a:prstGeom prst="rect">
            <a:avLst/>
          </a:prstGeom>
          <a:noFill/>
        </p:spPr>
        <p:txBody>
          <a:bodyPr wrap="square">
            <a:spAutoFit/>
          </a:bodyPr>
          <a:lstStyle/>
          <a:p>
            <a:pPr algn="ctr"/>
            <a:r>
              <a:rPr sz="900" b="1" i="0">
                <a:solidFill>
                  <a:srgbClr val="E8B830"/>
                </a:solidFill>
              </a:rPr>
              <a:t>Conservative</a:t>
            </a:r>
          </a:p>
        </p:txBody>
      </p:sp>
      <p:sp>
        <p:nvSpPr>
          <p:cNvPr id="11" name="Rectangle 10"/>
          <p:cNvSpPr/>
          <p:nvPr/>
        </p:nvSpPr>
        <p:spPr>
          <a:xfrm>
            <a:off x="6748272" y="2066543"/>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39712" y="2130551"/>
            <a:ext cx="2103120" cy="292608"/>
          </a:xfrm>
          <a:prstGeom prst="rect">
            <a:avLst/>
          </a:prstGeom>
          <a:noFill/>
        </p:spPr>
        <p:txBody>
          <a:bodyPr wrap="square">
            <a:spAutoFit/>
          </a:bodyPr>
          <a:lstStyle/>
          <a:p>
            <a:pPr algn="ctr"/>
            <a:r>
              <a:rPr sz="900" b="1" i="0">
                <a:solidFill>
                  <a:srgbClr val="E8B830"/>
                </a:solidFill>
              </a:rPr>
              <a:t>Realistic</a:t>
            </a:r>
          </a:p>
        </p:txBody>
      </p:sp>
      <p:sp>
        <p:nvSpPr>
          <p:cNvPr id="13" name="Rectangle 12"/>
          <p:cNvSpPr/>
          <p:nvPr/>
        </p:nvSpPr>
        <p:spPr>
          <a:xfrm>
            <a:off x="9125712" y="2066543"/>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17152" y="2130551"/>
            <a:ext cx="2103120" cy="292608"/>
          </a:xfrm>
          <a:prstGeom prst="rect">
            <a:avLst/>
          </a:prstGeom>
          <a:noFill/>
        </p:spPr>
        <p:txBody>
          <a:bodyPr wrap="square">
            <a:spAutoFit/>
          </a:bodyPr>
          <a:lstStyle/>
          <a:p>
            <a:pPr algn="ctr"/>
            <a:r>
              <a:rPr sz="900" b="1" i="0">
                <a:solidFill>
                  <a:srgbClr val="E8B830"/>
                </a:solidFill>
              </a:rPr>
              <a:t>Upside</a:t>
            </a:r>
          </a:p>
        </p:txBody>
      </p:sp>
      <p:sp>
        <p:nvSpPr>
          <p:cNvPr id="15" name="Rectangle 14"/>
          <p:cNvSpPr/>
          <p:nvPr/>
        </p:nvSpPr>
        <p:spPr>
          <a:xfrm>
            <a:off x="438912" y="2468879"/>
            <a:ext cx="380390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532887"/>
            <a:ext cx="3657600" cy="292608"/>
          </a:xfrm>
          <a:prstGeom prst="rect">
            <a:avLst/>
          </a:prstGeom>
          <a:noFill/>
        </p:spPr>
        <p:txBody>
          <a:bodyPr wrap="square">
            <a:spAutoFit/>
          </a:bodyPr>
          <a:lstStyle/>
          <a:p>
            <a:pPr algn="l"/>
            <a:r>
              <a:rPr sz="900" b="0" i="0">
                <a:solidFill>
                  <a:srgbClr val="FFFFFF"/>
                </a:solidFill>
              </a:rPr>
              <a:t>Flooring stores contacted / mo</a:t>
            </a:r>
          </a:p>
        </p:txBody>
      </p:sp>
      <p:sp>
        <p:nvSpPr>
          <p:cNvPr id="17" name="Rectangle 16"/>
          <p:cNvSpPr/>
          <p:nvPr/>
        </p:nvSpPr>
        <p:spPr>
          <a:xfrm>
            <a:off x="4370832" y="2468879"/>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2272" y="2532887"/>
            <a:ext cx="2103120" cy="292608"/>
          </a:xfrm>
          <a:prstGeom prst="rect">
            <a:avLst/>
          </a:prstGeom>
          <a:noFill/>
        </p:spPr>
        <p:txBody>
          <a:bodyPr wrap="square">
            <a:spAutoFit/>
          </a:bodyPr>
          <a:lstStyle/>
          <a:p>
            <a:pPr algn="ctr"/>
            <a:r>
              <a:rPr sz="900" b="0" i="0">
                <a:solidFill>
                  <a:srgbClr val="CCCCD8"/>
                </a:solidFill>
              </a:rPr>
              <a:t>200</a:t>
            </a:r>
          </a:p>
        </p:txBody>
      </p:sp>
      <p:sp>
        <p:nvSpPr>
          <p:cNvPr id="19" name="Rectangle 18"/>
          <p:cNvSpPr/>
          <p:nvPr/>
        </p:nvSpPr>
        <p:spPr>
          <a:xfrm>
            <a:off x="6748272" y="2468879"/>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2" y="2532887"/>
            <a:ext cx="2103120" cy="292608"/>
          </a:xfrm>
          <a:prstGeom prst="rect">
            <a:avLst/>
          </a:prstGeom>
          <a:noFill/>
        </p:spPr>
        <p:txBody>
          <a:bodyPr wrap="square">
            <a:spAutoFit/>
          </a:bodyPr>
          <a:lstStyle/>
          <a:p>
            <a:pPr algn="ctr"/>
            <a:r>
              <a:rPr sz="900" b="0" i="0">
                <a:solidFill>
                  <a:srgbClr val="E8B830"/>
                </a:solidFill>
              </a:rPr>
              <a:t>300</a:t>
            </a:r>
          </a:p>
        </p:txBody>
      </p:sp>
      <p:sp>
        <p:nvSpPr>
          <p:cNvPr id="21" name="Rectangle 20"/>
          <p:cNvSpPr/>
          <p:nvPr/>
        </p:nvSpPr>
        <p:spPr>
          <a:xfrm>
            <a:off x="9125712" y="2468879"/>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17152" y="2532887"/>
            <a:ext cx="2103120" cy="292608"/>
          </a:xfrm>
          <a:prstGeom prst="rect">
            <a:avLst/>
          </a:prstGeom>
          <a:noFill/>
        </p:spPr>
        <p:txBody>
          <a:bodyPr wrap="square">
            <a:spAutoFit/>
          </a:bodyPr>
          <a:lstStyle/>
          <a:p>
            <a:pPr algn="ctr"/>
            <a:r>
              <a:rPr sz="900" b="0" i="0">
                <a:solidFill>
                  <a:srgbClr val="CCCCD8"/>
                </a:solidFill>
              </a:rPr>
              <a:t>500+</a:t>
            </a:r>
          </a:p>
        </p:txBody>
      </p:sp>
      <p:sp>
        <p:nvSpPr>
          <p:cNvPr id="23" name="Rectangle 22"/>
          <p:cNvSpPr/>
          <p:nvPr/>
        </p:nvSpPr>
        <p:spPr>
          <a:xfrm>
            <a:off x="438912" y="2871215"/>
            <a:ext cx="380390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2935223"/>
            <a:ext cx="3657600" cy="292608"/>
          </a:xfrm>
          <a:prstGeom prst="rect">
            <a:avLst/>
          </a:prstGeom>
          <a:noFill/>
        </p:spPr>
        <p:txBody>
          <a:bodyPr wrap="square">
            <a:spAutoFit/>
          </a:bodyPr>
          <a:lstStyle/>
          <a:p>
            <a:pPr algn="l"/>
            <a:r>
              <a:rPr sz="900" b="0" i="0">
                <a:solidFill>
                  <a:srgbClr val="FFFFFF"/>
                </a:solidFill>
              </a:rPr>
              <a:t>Signal-triggered reply rate</a:t>
            </a:r>
          </a:p>
        </p:txBody>
      </p:sp>
      <p:sp>
        <p:nvSpPr>
          <p:cNvPr id="25" name="Rectangle 24"/>
          <p:cNvSpPr/>
          <p:nvPr/>
        </p:nvSpPr>
        <p:spPr>
          <a:xfrm>
            <a:off x="4370832" y="2871215"/>
            <a:ext cx="224942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62272" y="2935223"/>
            <a:ext cx="2103120" cy="292608"/>
          </a:xfrm>
          <a:prstGeom prst="rect">
            <a:avLst/>
          </a:prstGeom>
          <a:noFill/>
        </p:spPr>
        <p:txBody>
          <a:bodyPr wrap="square">
            <a:spAutoFit/>
          </a:bodyPr>
          <a:lstStyle/>
          <a:p>
            <a:pPr algn="ctr"/>
            <a:r>
              <a:rPr sz="900" b="0" i="0">
                <a:solidFill>
                  <a:srgbClr val="CCCCD8"/>
                </a:solidFill>
              </a:rPr>
              <a:t>3%</a:t>
            </a:r>
          </a:p>
        </p:txBody>
      </p:sp>
      <p:sp>
        <p:nvSpPr>
          <p:cNvPr id="27" name="Rectangle 26"/>
          <p:cNvSpPr/>
          <p:nvPr/>
        </p:nvSpPr>
        <p:spPr>
          <a:xfrm>
            <a:off x="6748272" y="2871215"/>
            <a:ext cx="224942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39712" y="2935223"/>
            <a:ext cx="2103120" cy="292608"/>
          </a:xfrm>
          <a:prstGeom prst="rect">
            <a:avLst/>
          </a:prstGeom>
          <a:noFill/>
        </p:spPr>
        <p:txBody>
          <a:bodyPr wrap="square">
            <a:spAutoFit/>
          </a:bodyPr>
          <a:lstStyle/>
          <a:p>
            <a:pPr algn="ctr"/>
            <a:r>
              <a:rPr sz="900" b="0" i="0">
                <a:solidFill>
                  <a:srgbClr val="E8B830"/>
                </a:solidFill>
              </a:rPr>
              <a:t>5%</a:t>
            </a:r>
          </a:p>
        </p:txBody>
      </p:sp>
      <p:sp>
        <p:nvSpPr>
          <p:cNvPr id="29" name="Rectangle 28"/>
          <p:cNvSpPr/>
          <p:nvPr/>
        </p:nvSpPr>
        <p:spPr>
          <a:xfrm>
            <a:off x="9125712" y="2871215"/>
            <a:ext cx="224942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17152" y="2935223"/>
            <a:ext cx="2103120" cy="292608"/>
          </a:xfrm>
          <a:prstGeom prst="rect">
            <a:avLst/>
          </a:prstGeom>
          <a:noFill/>
        </p:spPr>
        <p:txBody>
          <a:bodyPr wrap="square">
            <a:spAutoFit/>
          </a:bodyPr>
          <a:lstStyle/>
          <a:p>
            <a:pPr algn="ctr"/>
            <a:r>
              <a:rPr sz="900" b="0" i="0">
                <a:solidFill>
                  <a:srgbClr val="CCCCD8"/>
                </a:solidFill>
              </a:rPr>
              <a:t>8%</a:t>
            </a:r>
          </a:p>
        </p:txBody>
      </p:sp>
      <p:sp>
        <p:nvSpPr>
          <p:cNvPr id="31" name="Rectangle 30"/>
          <p:cNvSpPr/>
          <p:nvPr/>
        </p:nvSpPr>
        <p:spPr>
          <a:xfrm>
            <a:off x="438912" y="3273552"/>
            <a:ext cx="380390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352" y="3337560"/>
            <a:ext cx="3657600" cy="292608"/>
          </a:xfrm>
          <a:prstGeom prst="rect">
            <a:avLst/>
          </a:prstGeom>
          <a:noFill/>
        </p:spPr>
        <p:txBody>
          <a:bodyPr wrap="square">
            <a:spAutoFit/>
          </a:bodyPr>
          <a:lstStyle/>
          <a:p>
            <a:pPr algn="l"/>
            <a:r>
              <a:rPr sz="900" b="0" i="0">
                <a:solidFill>
                  <a:srgbClr val="FFFFFF"/>
                </a:solidFill>
              </a:rPr>
              <a:t>Replies / month</a:t>
            </a:r>
          </a:p>
        </p:txBody>
      </p:sp>
      <p:sp>
        <p:nvSpPr>
          <p:cNvPr id="33" name="Rectangle 32"/>
          <p:cNvSpPr/>
          <p:nvPr/>
        </p:nvSpPr>
        <p:spPr>
          <a:xfrm>
            <a:off x="4370832" y="3273552"/>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2272" y="3337560"/>
            <a:ext cx="2103120" cy="292608"/>
          </a:xfrm>
          <a:prstGeom prst="rect">
            <a:avLst/>
          </a:prstGeom>
          <a:noFill/>
        </p:spPr>
        <p:txBody>
          <a:bodyPr wrap="square">
            <a:spAutoFit/>
          </a:bodyPr>
          <a:lstStyle/>
          <a:p>
            <a:pPr algn="ctr"/>
            <a:r>
              <a:rPr sz="900" b="0" i="0">
                <a:solidFill>
                  <a:srgbClr val="CCCCD8"/>
                </a:solidFill>
              </a:rPr>
              <a:t>6</a:t>
            </a:r>
          </a:p>
        </p:txBody>
      </p:sp>
      <p:sp>
        <p:nvSpPr>
          <p:cNvPr id="35" name="Rectangle 34"/>
          <p:cNvSpPr/>
          <p:nvPr/>
        </p:nvSpPr>
        <p:spPr>
          <a:xfrm>
            <a:off x="6748272" y="3273552"/>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39712" y="3337560"/>
            <a:ext cx="2103120" cy="292608"/>
          </a:xfrm>
          <a:prstGeom prst="rect">
            <a:avLst/>
          </a:prstGeom>
          <a:noFill/>
        </p:spPr>
        <p:txBody>
          <a:bodyPr wrap="square">
            <a:spAutoFit/>
          </a:bodyPr>
          <a:lstStyle/>
          <a:p>
            <a:pPr algn="ctr"/>
            <a:r>
              <a:rPr sz="900" b="0" i="0">
                <a:solidFill>
                  <a:srgbClr val="E8B830"/>
                </a:solidFill>
              </a:rPr>
              <a:t>15</a:t>
            </a:r>
          </a:p>
        </p:txBody>
      </p:sp>
      <p:sp>
        <p:nvSpPr>
          <p:cNvPr id="37" name="Rectangle 36"/>
          <p:cNvSpPr/>
          <p:nvPr/>
        </p:nvSpPr>
        <p:spPr>
          <a:xfrm>
            <a:off x="9125712" y="3273552"/>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17152" y="3337560"/>
            <a:ext cx="2103120" cy="292608"/>
          </a:xfrm>
          <a:prstGeom prst="rect">
            <a:avLst/>
          </a:prstGeom>
          <a:noFill/>
        </p:spPr>
        <p:txBody>
          <a:bodyPr wrap="square">
            <a:spAutoFit/>
          </a:bodyPr>
          <a:lstStyle/>
          <a:p>
            <a:pPr algn="ctr"/>
            <a:r>
              <a:rPr sz="900" b="0" i="0">
                <a:solidFill>
                  <a:srgbClr val="CCCCD8"/>
                </a:solidFill>
              </a:rPr>
              <a:t>40</a:t>
            </a:r>
          </a:p>
        </p:txBody>
      </p:sp>
      <p:sp>
        <p:nvSpPr>
          <p:cNvPr id="39" name="Rectangle 38"/>
          <p:cNvSpPr/>
          <p:nvPr/>
        </p:nvSpPr>
        <p:spPr>
          <a:xfrm>
            <a:off x="438912" y="3675887"/>
            <a:ext cx="380390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0352" y="3739896"/>
            <a:ext cx="3657600" cy="292608"/>
          </a:xfrm>
          <a:prstGeom prst="rect">
            <a:avLst/>
          </a:prstGeom>
          <a:noFill/>
        </p:spPr>
        <p:txBody>
          <a:bodyPr wrap="square">
            <a:spAutoFit/>
          </a:bodyPr>
          <a:lstStyle/>
          <a:p>
            <a:pPr algn="l"/>
            <a:r>
              <a:rPr sz="900" b="0" i="0">
                <a:solidFill>
                  <a:srgbClr val="FFFFFF"/>
                </a:solidFill>
              </a:rPr>
              <a:t>Demos booked / month</a:t>
            </a:r>
          </a:p>
        </p:txBody>
      </p:sp>
      <p:sp>
        <p:nvSpPr>
          <p:cNvPr id="41" name="Rectangle 40"/>
          <p:cNvSpPr/>
          <p:nvPr/>
        </p:nvSpPr>
        <p:spPr>
          <a:xfrm>
            <a:off x="4370832" y="3675887"/>
            <a:ext cx="224942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62272" y="3739896"/>
            <a:ext cx="2103120" cy="292608"/>
          </a:xfrm>
          <a:prstGeom prst="rect">
            <a:avLst/>
          </a:prstGeom>
          <a:noFill/>
        </p:spPr>
        <p:txBody>
          <a:bodyPr wrap="square">
            <a:spAutoFit/>
          </a:bodyPr>
          <a:lstStyle/>
          <a:p>
            <a:pPr algn="ctr"/>
            <a:r>
              <a:rPr sz="900" b="0" i="0">
                <a:solidFill>
                  <a:srgbClr val="CCCCD8"/>
                </a:solidFill>
              </a:rPr>
              <a:t>3</a:t>
            </a:r>
          </a:p>
        </p:txBody>
      </p:sp>
      <p:sp>
        <p:nvSpPr>
          <p:cNvPr id="43" name="Rectangle 42"/>
          <p:cNvSpPr/>
          <p:nvPr/>
        </p:nvSpPr>
        <p:spPr>
          <a:xfrm>
            <a:off x="6748272" y="3675887"/>
            <a:ext cx="224942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39712" y="3739896"/>
            <a:ext cx="2103120" cy="292608"/>
          </a:xfrm>
          <a:prstGeom prst="rect">
            <a:avLst/>
          </a:prstGeom>
          <a:noFill/>
        </p:spPr>
        <p:txBody>
          <a:bodyPr wrap="square">
            <a:spAutoFit/>
          </a:bodyPr>
          <a:lstStyle/>
          <a:p>
            <a:pPr algn="ctr"/>
            <a:r>
              <a:rPr sz="900" b="0" i="0">
                <a:solidFill>
                  <a:srgbClr val="E8B830"/>
                </a:solidFill>
              </a:rPr>
              <a:t>8</a:t>
            </a:r>
          </a:p>
        </p:txBody>
      </p:sp>
      <p:sp>
        <p:nvSpPr>
          <p:cNvPr id="45" name="Rectangle 44"/>
          <p:cNvSpPr/>
          <p:nvPr/>
        </p:nvSpPr>
        <p:spPr>
          <a:xfrm>
            <a:off x="9125712" y="3675887"/>
            <a:ext cx="224942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17152" y="3739896"/>
            <a:ext cx="2103120" cy="292608"/>
          </a:xfrm>
          <a:prstGeom prst="rect">
            <a:avLst/>
          </a:prstGeom>
          <a:noFill/>
        </p:spPr>
        <p:txBody>
          <a:bodyPr wrap="square">
            <a:spAutoFit/>
          </a:bodyPr>
          <a:lstStyle/>
          <a:p>
            <a:pPr algn="ctr"/>
            <a:r>
              <a:rPr sz="900" b="0" i="0">
                <a:solidFill>
                  <a:srgbClr val="CCCCD8"/>
                </a:solidFill>
              </a:rPr>
              <a:t>20</a:t>
            </a:r>
          </a:p>
        </p:txBody>
      </p:sp>
      <p:sp>
        <p:nvSpPr>
          <p:cNvPr id="47" name="Rectangle 46"/>
          <p:cNvSpPr/>
          <p:nvPr/>
        </p:nvSpPr>
        <p:spPr>
          <a:xfrm>
            <a:off x="438912" y="4078224"/>
            <a:ext cx="380390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0352" y="4142232"/>
            <a:ext cx="3657600" cy="292608"/>
          </a:xfrm>
          <a:prstGeom prst="rect">
            <a:avLst/>
          </a:prstGeom>
          <a:noFill/>
        </p:spPr>
        <p:txBody>
          <a:bodyPr wrap="square">
            <a:spAutoFit/>
          </a:bodyPr>
          <a:lstStyle/>
          <a:p>
            <a:pPr algn="l"/>
            <a:r>
              <a:rPr sz="900" b="0" i="0">
                <a:solidFill>
                  <a:srgbClr val="FFFFFF"/>
                </a:solidFill>
              </a:rPr>
              <a:t>Demo-to-close rate</a:t>
            </a:r>
          </a:p>
        </p:txBody>
      </p:sp>
      <p:sp>
        <p:nvSpPr>
          <p:cNvPr id="49" name="Rectangle 48"/>
          <p:cNvSpPr/>
          <p:nvPr/>
        </p:nvSpPr>
        <p:spPr>
          <a:xfrm>
            <a:off x="4370832" y="4078224"/>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462272" y="4142232"/>
            <a:ext cx="2103120" cy="292608"/>
          </a:xfrm>
          <a:prstGeom prst="rect">
            <a:avLst/>
          </a:prstGeom>
          <a:noFill/>
        </p:spPr>
        <p:txBody>
          <a:bodyPr wrap="square">
            <a:spAutoFit/>
          </a:bodyPr>
          <a:lstStyle/>
          <a:p>
            <a:pPr algn="ctr"/>
            <a:r>
              <a:rPr sz="900" b="0" i="0">
                <a:solidFill>
                  <a:srgbClr val="CCCCD8"/>
                </a:solidFill>
              </a:rPr>
              <a:t>25%</a:t>
            </a:r>
          </a:p>
        </p:txBody>
      </p:sp>
      <p:sp>
        <p:nvSpPr>
          <p:cNvPr id="51" name="Rectangle 50"/>
          <p:cNvSpPr/>
          <p:nvPr/>
        </p:nvSpPr>
        <p:spPr>
          <a:xfrm>
            <a:off x="6748272" y="4078224"/>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39712" y="4142232"/>
            <a:ext cx="2103120" cy="292608"/>
          </a:xfrm>
          <a:prstGeom prst="rect">
            <a:avLst/>
          </a:prstGeom>
          <a:noFill/>
        </p:spPr>
        <p:txBody>
          <a:bodyPr wrap="square">
            <a:spAutoFit/>
          </a:bodyPr>
          <a:lstStyle/>
          <a:p>
            <a:pPr algn="ctr"/>
            <a:r>
              <a:rPr sz="900" b="0" i="0">
                <a:solidFill>
                  <a:srgbClr val="E8B830"/>
                </a:solidFill>
              </a:rPr>
              <a:t>33%</a:t>
            </a:r>
          </a:p>
        </p:txBody>
      </p:sp>
      <p:sp>
        <p:nvSpPr>
          <p:cNvPr id="53" name="Rectangle 52"/>
          <p:cNvSpPr/>
          <p:nvPr/>
        </p:nvSpPr>
        <p:spPr>
          <a:xfrm>
            <a:off x="9125712" y="4078224"/>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17152" y="4142232"/>
            <a:ext cx="2103120" cy="292608"/>
          </a:xfrm>
          <a:prstGeom prst="rect">
            <a:avLst/>
          </a:prstGeom>
          <a:noFill/>
        </p:spPr>
        <p:txBody>
          <a:bodyPr wrap="square">
            <a:spAutoFit/>
          </a:bodyPr>
          <a:lstStyle/>
          <a:p>
            <a:pPr algn="ctr"/>
            <a:r>
              <a:rPr sz="900" b="0" i="0">
                <a:solidFill>
                  <a:srgbClr val="CCCCD8"/>
                </a:solidFill>
              </a:rPr>
              <a:t>40%</a:t>
            </a:r>
          </a:p>
        </p:txBody>
      </p:sp>
      <p:sp>
        <p:nvSpPr>
          <p:cNvPr id="55" name="Rectangle 54"/>
          <p:cNvSpPr/>
          <p:nvPr/>
        </p:nvSpPr>
        <p:spPr>
          <a:xfrm>
            <a:off x="438912" y="4480560"/>
            <a:ext cx="380390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0352" y="4544568"/>
            <a:ext cx="3657600" cy="292608"/>
          </a:xfrm>
          <a:prstGeom prst="rect">
            <a:avLst/>
          </a:prstGeom>
          <a:noFill/>
        </p:spPr>
        <p:txBody>
          <a:bodyPr wrap="square">
            <a:spAutoFit/>
          </a:bodyPr>
          <a:lstStyle/>
          <a:p>
            <a:pPr algn="l"/>
            <a:r>
              <a:rPr sz="900" b="0" i="0">
                <a:solidFill>
                  <a:srgbClr val="FFFFFF"/>
                </a:solidFill>
              </a:rPr>
              <a:t>New customers / month</a:t>
            </a:r>
          </a:p>
        </p:txBody>
      </p:sp>
      <p:sp>
        <p:nvSpPr>
          <p:cNvPr id="57" name="Rectangle 56"/>
          <p:cNvSpPr/>
          <p:nvPr/>
        </p:nvSpPr>
        <p:spPr>
          <a:xfrm>
            <a:off x="4370832" y="4480560"/>
            <a:ext cx="224942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462272" y="4544568"/>
            <a:ext cx="2103120" cy="292608"/>
          </a:xfrm>
          <a:prstGeom prst="rect">
            <a:avLst/>
          </a:prstGeom>
          <a:noFill/>
        </p:spPr>
        <p:txBody>
          <a:bodyPr wrap="square">
            <a:spAutoFit/>
          </a:bodyPr>
          <a:lstStyle/>
          <a:p>
            <a:pPr algn="ctr"/>
            <a:r>
              <a:rPr sz="900" b="0" i="0">
                <a:solidFill>
                  <a:srgbClr val="CCCCD8"/>
                </a:solidFill>
              </a:rPr>
              <a:t>0.75</a:t>
            </a:r>
          </a:p>
        </p:txBody>
      </p:sp>
      <p:sp>
        <p:nvSpPr>
          <p:cNvPr id="59" name="Rectangle 58"/>
          <p:cNvSpPr/>
          <p:nvPr/>
        </p:nvSpPr>
        <p:spPr>
          <a:xfrm>
            <a:off x="6748272" y="4480560"/>
            <a:ext cx="224942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39712" y="4544568"/>
            <a:ext cx="2103120" cy="292608"/>
          </a:xfrm>
          <a:prstGeom prst="rect">
            <a:avLst/>
          </a:prstGeom>
          <a:noFill/>
        </p:spPr>
        <p:txBody>
          <a:bodyPr wrap="square">
            <a:spAutoFit/>
          </a:bodyPr>
          <a:lstStyle/>
          <a:p>
            <a:pPr algn="ctr"/>
            <a:r>
              <a:rPr sz="900" b="0" i="0">
                <a:solidFill>
                  <a:srgbClr val="E8B830"/>
                </a:solidFill>
              </a:rPr>
              <a:t>2.6</a:t>
            </a:r>
          </a:p>
        </p:txBody>
      </p:sp>
      <p:sp>
        <p:nvSpPr>
          <p:cNvPr id="61" name="Rectangle 60"/>
          <p:cNvSpPr/>
          <p:nvPr/>
        </p:nvSpPr>
        <p:spPr>
          <a:xfrm>
            <a:off x="9125712" y="4480560"/>
            <a:ext cx="2249424" cy="36576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17152" y="4544568"/>
            <a:ext cx="2103120" cy="292608"/>
          </a:xfrm>
          <a:prstGeom prst="rect">
            <a:avLst/>
          </a:prstGeom>
          <a:noFill/>
        </p:spPr>
        <p:txBody>
          <a:bodyPr wrap="square">
            <a:spAutoFit/>
          </a:bodyPr>
          <a:lstStyle/>
          <a:p>
            <a:pPr algn="ctr"/>
            <a:r>
              <a:rPr sz="900" b="0" i="0">
                <a:solidFill>
                  <a:srgbClr val="CCCCD8"/>
                </a:solidFill>
              </a:rPr>
              <a:t>8</a:t>
            </a:r>
          </a:p>
        </p:txBody>
      </p:sp>
      <p:sp>
        <p:nvSpPr>
          <p:cNvPr id="63" name="Rectangle 62"/>
          <p:cNvSpPr/>
          <p:nvPr/>
        </p:nvSpPr>
        <p:spPr>
          <a:xfrm>
            <a:off x="438912" y="4882896"/>
            <a:ext cx="380390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30352" y="4946904"/>
            <a:ext cx="3657600" cy="292608"/>
          </a:xfrm>
          <a:prstGeom prst="rect">
            <a:avLst/>
          </a:prstGeom>
          <a:noFill/>
        </p:spPr>
        <p:txBody>
          <a:bodyPr wrap="square">
            <a:spAutoFit/>
          </a:bodyPr>
          <a:lstStyle/>
          <a:p>
            <a:pPr algn="l"/>
            <a:r>
              <a:rPr sz="900" b="0" i="0">
                <a:solidFill>
                  <a:srgbClr val="FFFFFF"/>
                </a:solidFill>
              </a:rPr>
              <a:t>Avg. monthly ACV</a:t>
            </a:r>
          </a:p>
        </p:txBody>
      </p:sp>
      <p:sp>
        <p:nvSpPr>
          <p:cNvPr id="65" name="Rectangle 64"/>
          <p:cNvSpPr/>
          <p:nvPr/>
        </p:nvSpPr>
        <p:spPr>
          <a:xfrm>
            <a:off x="4370832" y="4882896"/>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62272" y="4946904"/>
            <a:ext cx="2103120" cy="292608"/>
          </a:xfrm>
          <a:prstGeom prst="rect">
            <a:avLst/>
          </a:prstGeom>
          <a:noFill/>
        </p:spPr>
        <p:txBody>
          <a:bodyPr wrap="square">
            <a:spAutoFit/>
          </a:bodyPr>
          <a:lstStyle/>
          <a:p>
            <a:pPr algn="ctr"/>
            <a:r>
              <a:rPr sz="900" b="0" i="0">
                <a:solidFill>
                  <a:srgbClr val="CCCCD8"/>
                </a:solidFill>
              </a:rPr>
              <a:t>$350</a:t>
            </a:r>
          </a:p>
        </p:txBody>
      </p:sp>
      <p:sp>
        <p:nvSpPr>
          <p:cNvPr id="67" name="Rectangle 66"/>
          <p:cNvSpPr/>
          <p:nvPr/>
        </p:nvSpPr>
        <p:spPr>
          <a:xfrm>
            <a:off x="6748272" y="4882896"/>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839712" y="4946904"/>
            <a:ext cx="2103120" cy="292608"/>
          </a:xfrm>
          <a:prstGeom prst="rect">
            <a:avLst/>
          </a:prstGeom>
          <a:noFill/>
        </p:spPr>
        <p:txBody>
          <a:bodyPr wrap="square">
            <a:spAutoFit/>
          </a:bodyPr>
          <a:lstStyle/>
          <a:p>
            <a:pPr algn="ctr"/>
            <a:r>
              <a:rPr sz="900" b="0" i="0">
                <a:solidFill>
                  <a:srgbClr val="E8B830"/>
                </a:solidFill>
              </a:rPr>
              <a:t>$350</a:t>
            </a:r>
          </a:p>
        </p:txBody>
      </p:sp>
      <p:sp>
        <p:nvSpPr>
          <p:cNvPr id="69" name="Rectangle 68"/>
          <p:cNvSpPr/>
          <p:nvPr/>
        </p:nvSpPr>
        <p:spPr>
          <a:xfrm>
            <a:off x="9125712" y="4882896"/>
            <a:ext cx="2249424" cy="36576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217152" y="4946904"/>
            <a:ext cx="2103120" cy="292608"/>
          </a:xfrm>
          <a:prstGeom prst="rect">
            <a:avLst/>
          </a:prstGeom>
          <a:noFill/>
        </p:spPr>
        <p:txBody>
          <a:bodyPr wrap="square">
            <a:spAutoFit/>
          </a:bodyPr>
          <a:lstStyle/>
          <a:p>
            <a:pPr algn="ctr"/>
            <a:r>
              <a:rPr sz="900" b="0" i="0">
                <a:solidFill>
                  <a:srgbClr val="CCCCD8"/>
                </a:solidFill>
              </a:rPr>
              <a:t>$350</a:t>
            </a:r>
          </a:p>
        </p:txBody>
      </p:sp>
      <p:sp>
        <p:nvSpPr>
          <p:cNvPr id="71" name="Rectangle 70"/>
          <p:cNvSpPr/>
          <p:nvPr/>
        </p:nvSpPr>
        <p:spPr>
          <a:xfrm>
            <a:off x="438912" y="5285231"/>
            <a:ext cx="3803904" cy="36576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30352" y="5349240"/>
            <a:ext cx="3657600" cy="292608"/>
          </a:xfrm>
          <a:prstGeom prst="rect">
            <a:avLst/>
          </a:prstGeom>
          <a:noFill/>
        </p:spPr>
        <p:txBody>
          <a:bodyPr wrap="square">
            <a:spAutoFit/>
          </a:bodyPr>
          <a:lstStyle/>
          <a:p>
            <a:pPr algn="l"/>
            <a:r>
              <a:rPr sz="900" b="1" i="0">
                <a:solidFill>
                  <a:srgbClr val="1A1A2E"/>
                </a:solidFill>
              </a:rPr>
              <a:t>New MRR added / month</a:t>
            </a:r>
          </a:p>
        </p:txBody>
      </p:sp>
      <p:sp>
        <p:nvSpPr>
          <p:cNvPr id="73" name="Rectangle 72"/>
          <p:cNvSpPr/>
          <p:nvPr/>
        </p:nvSpPr>
        <p:spPr>
          <a:xfrm>
            <a:off x="4370832" y="5285231"/>
            <a:ext cx="2249424" cy="36576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462272" y="5349240"/>
            <a:ext cx="2103120" cy="292608"/>
          </a:xfrm>
          <a:prstGeom prst="rect">
            <a:avLst/>
          </a:prstGeom>
          <a:noFill/>
        </p:spPr>
        <p:txBody>
          <a:bodyPr wrap="square">
            <a:spAutoFit/>
          </a:bodyPr>
          <a:lstStyle/>
          <a:p>
            <a:pPr algn="ctr"/>
            <a:r>
              <a:rPr sz="900" b="1" i="0">
                <a:solidFill>
                  <a:srgbClr val="1A1A2E"/>
                </a:solidFill>
              </a:rPr>
              <a:t>$263</a:t>
            </a:r>
          </a:p>
        </p:txBody>
      </p:sp>
      <p:sp>
        <p:nvSpPr>
          <p:cNvPr id="75" name="Rectangle 74"/>
          <p:cNvSpPr/>
          <p:nvPr/>
        </p:nvSpPr>
        <p:spPr>
          <a:xfrm>
            <a:off x="6748272" y="5285231"/>
            <a:ext cx="2249424" cy="36576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839712" y="5349240"/>
            <a:ext cx="2103120" cy="292608"/>
          </a:xfrm>
          <a:prstGeom prst="rect">
            <a:avLst/>
          </a:prstGeom>
          <a:noFill/>
        </p:spPr>
        <p:txBody>
          <a:bodyPr wrap="square">
            <a:spAutoFit/>
          </a:bodyPr>
          <a:lstStyle/>
          <a:p>
            <a:pPr algn="ctr"/>
            <a:r>
              <a:rPr sz="900" b="1" i="0">
                <a:solidFill>
                  <a:srgbClr val="1A1A2E"/>
                </a:solidFill>
              </a:rPr>
              <a:t>$910</a:t>
            </a:r>
          </a:p>
        </p:txBody>
      </p:sp>
      <p:sp>
        <p:nvSpPr>
          <p:cNvPr id="77" name="Rectangle 76"/>
          <p:cNvSpPr/>
          <p:nvPr/>
        </p:nvSpPr>
        <p:spPr>
          <a:xfrm>
            <a:off x="9125712" y="5285231"/>
            <a:ext cx="2249424" cy="36576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217152" y="5349240"/>
            <a:ext cx="2103120" cy="292608"/>
          </a:xfrm>
          <a:prstGeom prst="rect">
            <a:avLst/>
          </a:prstGeom>
          <a:noFill/>
        </p:spPr>
        <p:txBody>
          <a:bodyPr wrap="square">
            <a:spAutoFit/>
          </a:bodyPr>
          <a:lstStyle/>
          <a:p>
            <a:pPr algn="ctr"/>
            <a:r>
              <a:rPr sz="900" b="1" i="0">
                <a:solidFill>
                  <a:srgbClr val="1A1A2E"/>
                </a:solidFill>
              </a:rPr>
              <a:t>$2,800</a:t>
            </a:r>
          </a:p>
        </p:txBody>
      </p:sp>
      <p:sp>
        <p:nvSpPr>
          <p:cNvPr id="79" name="Rectangle 78"/>
          <p:cNvSpPr/>
          <p:nvPr/>
        </p:nvSpPr>
        <p:spPr>
          <a:xfrm>
            <a:off x="438912" y="5687568"/>
            <a:ext cx="3803904" cy="36576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30352" y="5751576"/>
            <a:ext cx="3657600" cy="292608"/>
          </a:xfrm>
          <a:prstGeom prst="rect">
            <a:avLst/>
          </a:prstGeom>
          <a:noFill/>
        </p:spPr>
        <p:txBody>
          <a:bodyPr wrap="square">
            <a:spAutoFit/>
          </a:bodyPr>
          <a:lstStyle/>
          <a:p>
            <a:pPr algn="l"/>
            <a:r>
              <a:rPr sz="900" b="1" i="0">
                <a:solidFill>
                  <a:srgbClr val="1A1A2E"/>
                </a:solidFill>
              </a:rPr>
              <a:t>Annual new ARR</a:t>
            </a:r>
          </a:p>
        </p:txBody>
      </p:sp>
      <p:sp>
        <p:nvSpPr>
          <p:cNvPr id="81" name="Rectangle 80"/>
          <p:cNvSpPr/>
          <p:nvPr/>
        </p:nvSpPr>
        <p:spPr>
          <a:xfrm>
            <a:off x="4370832" y="5687568"/>
            <a:ext cx="2249424" cy="36576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462272" y="5751576"/>
            <a:ext cx="2103120" cy="292608"/>
          </a:xfrm>
          <a:prstGeom prst="rect">
            <a:avLst/>
          </a:prstGeom>
          <a:noFill/>
        </p:spPr>
        <p:txBody>
          <a:bodyPr wrap="square">
            <a:spAutoFit/>
          </a:bodyPr>
          <a:lstStyle/>
          <a:p>
            <a:pPr algn="ctr"/>
            <a:r>
              <a:rPr sz="900" b="1" i="0">
                <a:solidFill>
                  <a:srgbClr val="1A1A2E"/>
                </a:solidFill>
              </a:rPr>
              <a:t>$3,150</a:t>
            </a:r>
          </a:p>
        </p:txBody>
      </p:sp>
      <p:sp>
        <p:nvSpPr>
          <p:cNvPr id="83" name="Rectangle 82"/>
          <p:cNvSpPr/>
          <p:nvPr/>
        </p:nvSpPr>
        <p:spPr>
          <a:xfrm>
            <a:off x="6748272" y="5687568"/>
            <a:ext cx="2249424" cy="36576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839712" y="5751576"/>
            <a:ext cx="2103120" cy="292608"/>
          </a:xfrm>
          <a:prstGeom prst="rect">
            <a:avLst/>
          </a:prstGeom>
          <a:noFill/>
        </p:spPr>
        <p:txBody>
          <a:bodyPr wrap="square">
            <a:spAutoFit/>
          </a:bodyPr>
          <a:lstStyle/>
          <a:p>
            <a:pPr algn="ctr"/>
            <a:r>
              <a:rPr sz="900" b="1" i="0">
                <a:solidFill>
                  <a:srgbClr val="1A1A2E"/>
                </a:solidFill>
              </a:rPr>
              <a:t>$10,920</a:t>
            </a:r>
          </a:p>
        </p:txBody>
      </p:sp>
      <p:sp>
        <p:nvSpPr>
          <p:cNvPr id="85" name="Rectangle 84"/>
          <p:cNvSpPr/>
          <p:nvPr/>
        </p:nvSpPr>
        <p:spPr>
          <a:xfrm>
            <a:off x="9125712" y="5687568"/>
            <a:ext cx="2249424" cy="36576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217152" y="5751576"/>
            <a:ext cx="2103120" cy="292608"/>
          </a:xfrm>
          <a:prstGeom prst="rect">
            <a:avLst/>
          </a:prstGeom>
          <a:noFill/>
        </p:spPr>
        <p:txBody>
          <a:bodyPr wrap="square">
            <a:spAutoFit/>
          </a:bodyPr>
          <a:lstStyle/>
          <a:p>
            <a:pPr algn="ctr"/>
            <a:r>
              <a:rPr sz="900" b="1" i="0">
                <a:solidFill>
                  <a:srgbClr val="1A1A2E"/>
                </a:solidFill>
              </a:rPr>
              <a:t>$33,600+</a:t>
            </a:r>
          </a:p>
        </p:txBody>
      </p:sp>
      <p:sp>
        <p:nvSpPr>
          <p:cNvPr id="87" name="TextBox 86"/>
          <p:cNvSpPr txBox="1"/>
          <p:nvPr/>
        </p:nvSpPr>
        <p:spPr>
          <a:xfrm>
            <a:off x="502920" y="6455664"/>
            <a:ext cx="11155680" cy="310896"/>
          </a:xfrm>
          <a:prstGeom prst="rect">
            <a:avLst/>
          </a:prstGeom>
          <a:noFill/>
        </p:spPr>
        <p:txBody>
          <a:bodyPr wrap="square">
            <a:spAutoFit/>
          </a:bodyPr>
          <a:lstStyle/>
          <a:p>
            <a:pPr algn="l"/>
            <a:r>
              <a:rPr sz="950" b="1" i="0">
                <a:solidFill>
                  <a:srgbClr val="E8B830"/>
                </a:solidFill>
              </a:rPr>
              <a:t>Conservative uses $350/mo ACV. Adjust for your actual pricing. At $500/mo ACV, realistic scenario = $15,600 new ARR per month.</a:t>
            </a:r>
          </a:p>
        </p:txBody>
      </p:sp>
      <p:sp>
        <p:nvSpPr>
          <p:cNvPr id="88" name="TextBox 87"/>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elll_logo_clean.png"/>
          <p:cNvPicPr>
            <a:picLocks noChangeAspect="1"/>
          </p:cNvPicPr>
          <p:nvPr/>
        </p:nvPicPr>
        <p:blipFill>
          <a:blip r:embed="rId2"/>
          <a:stretch>
            <a:fillRect/>
          </a:stretch>
        </p:blipFill>
        <p:spPr>
          <a:xfrm>
            <a:off x="384048" y="164592"/>
            <a:ext cx="2286000" cy="502920"/>
          </a:xfrm>
          <a:prstGeom prst="rect">
            <a:avLst/>
          </a:prstGeom>
        </p:spPr>
      </p:pic>
      <p:sp>
        <p:nvSpPr>
          <p:cNvPr id="5" name="TextBox 4"/>
          <p:cNvSpPr txBox="1"/>
          <p:nvPr/>
        </p:nvSpPr>
        <p:spPr>
          <a:xfrm>
            <a:off x="3200400" y="201168"/>
            <a:ext cx="4572000" cy="347472"/>
          </a:xfrm>
          <a:prstGeom prst="rect">
            <a:avLst/>
          </a:prstGeom>
          <a:noFill/>
        </p:spPr>
        <p:txBody>
          <a:bodyPr wrap="square">
            <a:spAutoFit/>
          </a:bodyPr>
          <a:lstStyle/>
          <a:p>
            <a:pPr algn="l"/>
            <a:r>
              <a:rPr sz="900" b="1" i="0">
                <a:solidFill>
                  <a:srgbClr val="B8860B"/>
                </a:solidFill>
              </a:rPr>
              <a:t>THE PLAN</a:t>
            </a:r>
          </a:p>
        </p:txBody>
      </p:sp>
      <p:sp>
        <p:nvSpPr>
          <p:cNvPr id="6" name="TextBox 5"/>
          <p:cNvSpPr txBox="1"/>
          <p:nvPr/>
        </p:nvSpPr>
        <p:spPr>
          <a:xfrm>
            <a:off x="3200400" y="566928"/>
            <a:ext cx="7315200" cy="658368"/>
          </a:xfrm>
          <a:prstGeom prst="rect">
            <a:avLst/>
          </a:prstGeom>
          <a:noFill/>
        </p:spPr>
        <p:txBody>
          <a:bodyPr wrap="square">
            <a:spAutoFit/>
          </a:bodyPr>
          <a:lstStyle/>
          <a:p>
            <a:pPr algn="l"/>
            <a:r>
              <a:rPr sz="3400" b="1" i="0">
                <a:solidFill>
                  <a:srgbClr val="FFFFFF"/>
                </a:solidFill>
              </a:rPr>
              <a:t>Choose Your Launch Speed.</a:t>
            </a:r>
          </a:p>
        </p:txBody>
      </p:sp>
      <p:sp>
        <p:nvSpPr>
          <p:cNvPr id="7" name="Rectangle 6"/>
          <p:cNvSpPr/>
          <p:nvPr/>
        </p:nvSpPr>
        <p:spPr>
          <a:xfrm>
            <a:off x="502920" y="1389888"/>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1536192"/>
            <a:ext cx="3730752" cy="5047488"/>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1536192"/>
            <a:ext cx="3730752" cy="54864"/>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29967"/>
            <a:ext cx="3383280" cy="347472"/>
          </a:xfrm>
          <a:prstGeom prst="rect">
            <a:avLst/>
          </a:prstGeom>
          <a:noFill/>
        </p:spPr>
        <p:txBody>
          <a:bodyPr wrap="square">
            <a:spAutoFit/>
          </a:bodyPr>
          <a:lstStyle/>
          <a:p>
            <a:pPr algn="l"/>
            <a:r>
              <a:rPr sz="1400" b="1" i="0">
                <a:solidFill>
                  <a:srgbClr val="FFFFFF"/>
                </a:solidFill>
              </a:rPr>
              <a:t>FOUNDATION</a:t>
            </a:r>
          </a:p>
        </p:txBody>
      </p:sp>
      <p:sp>
        <p:nvSpPr>
          <p:cNvPr id="11" name="TextBox 10"/>
          <p:cNvSpPr txBox="1"/>
          <p:nvPr/>
        </p:nvSpPr>
        <p:spPr>
          <a:xfrm>
            <a:off x="621792" y="2414015"/>
            <a:ext cx="3383280" cy="274320"/>
          </a:xfrm>
          <a:prstGeom prst="rect">
            <a:avLst/>
          </a:prstGeom>
          <a:noFill/>
        </p:spPr>
        <p:txBody>
          <a:bodyPr wrap="square">
            <a:spAutoFit/>
          </a:bodyPr>
          <a:lstStyle/>
          <a:p>
            <a:pPr algn="l"/>
            <a:r>
              <a:rPr sz="900" b="0" i="1">
                <a:solidFill>
                  <a:srgbClr val="CCCCD8"/>
                </a:solidFill>
              </a:rPr>
              <a:t>Email only, lean start</a:t>
            </a:r>
          </a:p>
        </p:txBody>
      </p:sp>
      <p:sp>
        <p:nvSpPr>
          <p:cNvPr id="12" name="TextBox 11"/>
          <p:cNvSpPr txBox="1"/>
          <p:nvPr/>
        </p:nvSpPr>
        <p:spPr>
          <a:xfrm>
            <a:off x="621792" y="2761488"/>
            <a:ext cx="3383280" cy="347472"/>
          </a:xfrm>
          <a:prstGeom prst="rect">
            <a:avLst/>
          </a:prstGeom>
          <a:noFill/>
        </p:spPr>
        <p:txBody>
          <a:bodyPr wrap="square">
            <a:spAutoFit/>
          </a:bodyPr>
          <a:lstStyle/>
          <a:p>
            <a:pPr algn="l"/>
            <a:r>
              <a:rPr sz="900" b="0" i="0">
                <a:solidFill>
                  <a:srgbClr val="CCCCD8"/>
                </a:solidFill>
              </a:rPr>
              <a:t>+ 2 signal-triggered sequences</a:t>
            </a:r>
          </a:p>
        </p:txBody>
      </p:sp>
      <p:sp>
        <p:nvSpPr>
          <p:cNvPr id="13" name="TextBox 12"/>
          <p:cNvSpPr txBox="1"/>
          <p:nvPr/>
        </p:nvSpPr>
        <p:spPr>
          <a:xfrm>
            <a:off x="621792" y="3163824"/>
            <a:ext cx="3383280" cy="347472"/>
          </a:xfrm>
          <a:prstGeom prst="rect">
            <a:avLst/>
          </a:prstGeom>
          <a:noFill/>
        </p:spPr>
        <p:txBody>
          <a:bodyPr wrap="square">
            <a:spAutoFit/>
          </a:bodyPr>
          <a:lstStyle/>
          <a:p>
            <a:pPr algn="l"/>
            <a:r>
              <a:rPr sz="900" b="0" i="0">
                <a:solidFill>
                  <a:srgbClr val="CCCCD8"/>
                </a:solidFill>
              </a:rPr>
              <a:t>+ 200 flooring stores/month</a:t>
            </a:r>
          </a:p>
        </p:txBody>
      </p:sp>
      <p:sp>
        <p:nvSpPr>
          <p:cNvPr id="14" name="TextBox 13"/>
          <p:cNvSpPr txBox="1"/>
          <p:nvPr/>
        </p:nvSpPr>
        <p:spPr>
          <a:xfrm>
            <a:off x="621792" y="3566160"/>
            <a:ext cx="3383280" cy="347472"/>
          </a:xfrm>
          <a:prstGeom prst="rect">
            <a:avLst/>
          </a:prstGeom>
          <a:noFill/>
        </p:spPr>
        <p:txBody>
          <a:bodyPr wrap="square">
            <a:spAutoFit/>
          </a:bodyPr>
          <a:lstStyle/>
          <a:p>
            <a:pPr algn="l"/>
            <a:r>
              <a:rPr sz="900" b="0" i="0">
                <a:solidFill>
                  <a:srgbClr val="CCCCD8"/>
                </a:solidFill>
              </a:rPr>
              <a:t>+ Email outreach only</a:t>
            </a:r>
          </a:p>
        </p:txBody>
      </p:sp>
      <p:sp>
        <p:nvSpPr>
          <p:cNvPr id="15" name="TextBox 14"/>
          <p:cNvSpPr txBox="1"/>
          <p:nvPr/>
        </p:nvSpPr>
        <p:spPr>
          <a:xfrm>
            <a:off x="621792" y="3968496"/>
            <a:ext cx="3383280" cy="347472"/>
          </a:xfrm>
          <a:prstGeom prst="rect">
            <a:avLst/>
          </a:prstGeom>
          <a:noFill/>
        </p:spPr>
        <p:txBody>
          <a:bodyPr wrap="square">
            <a:spAutoFit/>
          </a:bodyPr>
          <a:lstStyle/>
          <a:p>
            <a:pPr algn="l"/>
            <a:r>
              <a:rPr sz="900" b="0" i="0">
                <a:solidFill>
                  <a:srgbClr val="CCCCD8"/>
                </a:solidFill>
              </a:rPr>
              <a:t>+ Domain warmup + deliverability</a:t>
            </a:r>
          </a:p>
        </p:txBody>
      </p:sp>
      <p:sp>
        <p:nvSpPr>
          <p:cNvPr id="16" name="TextBox 15"/>
          <p:cNvSpPr txBox="1"/>
          <p:nvPr/>
        </p:nvSpPr>
        <p:spPr>
          <a:xfrm>
            <a:off x="621792" y="4370832"/>
            <a:ext cx="3383280" cy="347472"/>
          </a:xfrm>
          <a:prstGeom prst="rect">
            <a:avLst/>
          </a:prstGeom>
          <a:noFill/>
        </p:spPr>
        <p:txBody>
          <a:bodyPr wrap="square">
            <a:spAutoFit/>
          </a:bodyPr>
          <a:lstStyle/>
          <a:p>
            <a:pPr algn="l"/>
            <a:r>
              <a:rPr sz="900" b="0" i="0">
                <a:solidFill>
                  <a:srgbClr val="CCCCD8"/>
                </a:solidFill>
              </a:rPr>
              <a:t>+ Monthly strategy review</a:t>
            </a:r>
          </a:p>
        </p:txBody>
      </p:sp>
      <p:sp>
        <p:nvSpPr>
          <p:cNvPr id="17" name="TextBox 16"/>
          <p:cNvSpPr txBox="1"/>
          <p:nvPr/>
        </p:nvSpPr>
        <p:spPr>
          <a:xfrm>
            <a:off x="621792" y="4773168"/>
            <a:ext cx="3383280" cy="347472"/>
          </a:xfrm>
          <a:prstGeom prst="rect">
            <a:avLst/>
          </a:prstGeom>
          <a:noFill/>
        </p:spPr>
        <p:txBody>
          <a:bodyPr wrap="square">
            <a:spAutoFit/>
          </a:bodyPr>
          <a:lstStyle/>
          <a:p>
            <a:pPr algn="l"/>
            <a:r>
              <a:rPr sz="900" b="0" i="0">
                <a:solidFill>
                  <a:srgbClr val="CCCCD8"/>
                </a:solidFill>
              </a:rPr>
              <a:t>+ Full IP ownership</a:t>
            </a:r>
          </a:p>
        </p:txBody>
      </p:sp>
      <p:sp>
        <p:nvSpPr>
          <p:cNvPr id="18" name="Rectangle 17"/>
          <p:cNvSpPr/>
          <p:nvPr/>
        </p:nvSpPr>
        <p:spPr>
          <a:xfrm>
            <a:off x="4334256" y="1536192"/>
            <a:ext cx="3730752" cy="5047488"/>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34256" y="1536192"/>
            <a:ext cx="37307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98848" y="1645919"/>
            <a:ext cx="1737360" cy="2743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0288" y="1682495"/>
            <a:ext cx="1554480" cy="201167"/>
          </a:xfrm>
          <a:prstGeom prst="rect">
            <a:avLst/>
          </a:prstGeom>
          <a:noFill/>
        </p:spPr>
        <p:txBody>
          <a:bodyPr wrap="square">
            <a:spAutoFit/>
          </a:bodyPr>
          <a:lstStyle/>
          <a:p>
            <a:pPr algn="ctr"/>
            <a:r>
              <a:rPr sz="900" b="1" i="0">
                <a:solidFill>
                  <a:srgbClr val="1A1A2E"/>
                </a:solidFill>
              </a:rPr>
              <a:t>RECOMMENDED</a:t>
            </a:r>
          </a:p>
        </p:txBody>
      </p:sp>
      <p:sp>
        <p:nvSpPr>
          <p:cNvPr id="22" name="TextBox 21"/>
          <p:cNvSpPr txBox="1"/>
          <p:nvPr/>
        </p:nvSpPr>
        <p:spPr>
          <a:xfrm>
            <a:off x="4517136" y="2029967"/>
            <a:ext cx="3383280" cy="347472"/>
          </a:xfrm>
          <a:prstGeom prst="rect">
            <a:avLst/>
          </a:prstGeom>
          <a:noFill/>
        </p:spPr>
        <p:txBody>
          <a:bodyPr wrap="square">
            <a:spAutoFit/>
          </a:bodyPr>
          <a:lstStyle/>
          <a:p>
            <a:pPr algn="l"/>
            <a:r>
              <a:rPr sz="1400" b="1" i="0">
                <a:solidFill>
                  <a:srgbClr val="E8B830"/>
                </a:solidFill>
              </a:rPr>
              <a:t>GROWTH</a:t>
            </a:r>
          </a:p>
        </p:txBody>
      </p:sp>
      <p:sp>
        <p:nvSpPr>
          <p:cNvPr id="23" name="TextBox 22"/>
          <p:cNvSpPr txBox="1"/>
          <p:nvPr/>
        </p:nvSpPr>
        <p:spPr>
          <a:xfrm>
            <a:off x="4517136" y="2414015"/>
            <a:ext cx="3383280" cy="274320"/>
          </a:xfrm>
          <a:prstGeom prst="rect">
            <a:avLst/>
          </a:prstGeom>
          <a:noFill/>
        </p:spPr>
        <p:txBody>
          <a:bodyPr wrap="square">
            <a:spAutoFit/>
          </a:bodyPr>
          <a:lstStyle/>
          <a:p>
            <a:pPr algn="l"/>
            <a:r>
              <a:rPr sz="900" b="0" i="1">
                <a:solidFill>
                  <a:srgbClr val="CCCCD8"/>
                </a:solidFill>
              </a:rPr>
              <a:t>Recommended for QR Floor Genie</a:t>
            </a:r>
          </a:p>
        </p:txBody>
      </p:sp>
      <p:sp>
        <p:nvSpPr>
          <p:cNvPr id="24" name="TextBox 23"/>
          <p:cNvSpPr txBox="1"/>
          <p:nvPr/>
        </p:nvSpPr>
        <p:spPr>
          <a:xfrm>
            <a:off x="4517136" y="2761488"/>
            <a:ext cx="3383280" cy="347472"/>
          </a:xfrm>
          <a:prstGeom prst="rect">
            <a:avLst/>
          </a:prstGeom>
          <a:noFill/>
        </p:spPr>
        <p:txBody>
          <a:bodyPr wrap="square">
            <a:spAutoFit/>
          </a:bodyPr>
          <a:lstStyle/>
          <a:p>
            <a:pPr algn="l"/>
            <a:r>
              <a:rPr sz="950" b="0" i="0">
                <a:solidFill>
                  <a:srgbClr val="FFFFFF"/>
                </a:solidFill>
              </a:rPr>
              <a:t>+ 3 sequences (incl. TISE list)</a:t>
            </a:r>
          </a:p>
        </p:txBody>
      </p:sp>
      <p:sp>
        <p:nvSpPr>
          <p:cNvPr id="25" name="TextBox 24"/>
          <p:cNvSpPr txBox="1"/>
          <p:nvPr/>
        </p:nvSpPr>
        <p:spPr>
          <a:xfrm>
            <a:off x="4517136" y="3163824"/>
            <a:ext cx="3383280" cy="347472"/>
          </a:xfrm>
          <a:prstGeom prst="rect">
            <a:avLst/>
          </a:prstGeom>
          <a:noFill/>
        </p:spPr>
        <p:txBody>
          <a:bodyPr wrap="square">
            <a:spAutoFit/>
          </a:bodyPr>
          <a:lstStyle/>
          <a:p>
            <a:pPr algn="l"/>
            <a:r>
              <a:rPr sz="950" b="0" i="0">
                <a:solidFill>
                  <a:srgbClr val="FFFFFF"/>
                </a:solidFill>
              </a:rPr>
              <a:t>+ 300 flooring stores/month</a:t>
            </a:r>
          </a:p>
        </p:txBody>
      </p:sp>
      <p:sp>
        <p:nvSpPr>
          <p:cNvPr id="26" name="TextBox 25"/>
          <p:cNvSpPr txBox="1"/>
          <p:nvPr/>
        </p:nvSpPr>
        <p:spPr>
          <a:xfrm>
            <a:off x="4517136" y="3566160"/>
            <a:ext cx="3383280" cy="347472"/>
          </a:xfrm>
          <a:prstGeom prst="rect">
            <a:avLst/>
          </a:prstGeom>
          <a:noFill/>
        </p:spPr>
        <p:txBody>
          <a:bodyPr wrap="square">
            <a:spAutoFit/>
          </a:bodyPr>
          <a:lstStyle/>
          <a:p>
            <a:pPr algn="l"/>
            <a:r>
              <a:rPr sz="950" b="0" i="0">
                <a:solidFill>
                  <a:srgbClr val="FFFFFF"/>
                </a:solidFill>
              </a:rPr>
              <a:t>+ Email + cold call combined</a:t>
            </a:r>
          </a:p>
        </p:txBody>
      </p:sp>
      <p:sp>
        <p:nvSpPr>
          <p:cNvPr id="27" name="TextBox 26"/>
          <p:cNvSpPr txBox="1"/>
          <p:nvPr/>
        </p:nvSpPr>
        <p:spPr>
          <a:xfrm>
            <a:off x="4517136" y="3968496"/>
            <a:ext cx="3383280" cy="347472"/>
          </a:xfrm>
          <a:prstGeom prst="rect">
            <a:avLst/>
          </a:prstGeom>
          <a:noFill/>
        </p:spPr>
        <p:txBody>
          <a:bodyPr wrap="square">
            <a:spAutoFit/>
          </a:bodyPr>
          <a:lstStyle/>
          <a:p>
            <a:pPr algn="l"/>
            <a:r>
              <a:rPr sz="950" b="0" i="0">
                <a:solidFill>
                  <a:srgbClr val="FFFFFF"/>
                </a:solidFill>
              </a:rPr>
              <a:t>+ 5 live signal triggers monitored</a:t>
            </a:r>
          </a:p>
        </p:txBody>
      </p:sp>
      <p:sp>
        <p:nvSpPr>
          <p:cNvPr id="28" name="TextBox 27"/>
          <p:cNvSpPr txBox="1"/>
          <p:nvPr/>
        </p:nvSpPr>
        <p:spPr>
          <a:xfrm>
            <a:off x="4517136" y="4370832"/>
            <a:ext cx="3383280" cy="347472"/>
          </a:xfrm>
          <a:prstGeom prst="rect">
            <a:avLst/>
          </a:prstGeom>
          <a:noFill/>
        </p:spPr>
        <p:txBody>
          <a:bodyPr wrap="square">
            <a:spAutoFit/>
          </a:bodyPr>
          <a:lstStyle/>
          <a:p>
            <a:pPr algn="l"/>
            <a:r>
              <a:rPr sz="950" b="0" i="0">
                <a:solidFill>
                  <a:srgbClr val="FFFFFF"/>
                </a:solidFill>
              </a:rPr>
              <a:t>+ Pricing-complaint Google signal</a:t>
            </a:r>
          </a:p>
        </p:txBody>
      </p:sp>
      <p:sp>
        <p:nvSpPr>
          <p:cNvPr id="29" name="TextBox 28"/>
          <p:cNvSpPr txBox="1"/>
          <p:nvPr/>
        </p:nvSpPr>
        <p:spPr>
          <a:xfrm>
            <a:off x="4517136" y="4773168"/>
            <a:ext cx="3383280" cy="347472"/>
          </a:xfrm>
          <a:prstGeom prst="rect">
            <a:avLst/>
          </a:prstGeom>
          <a:noFill/>
        </p:spPr>
        <p:txBody>
          <a:bodyPr wrap="square">
            <a:spAutoFit/>
          </a:bodyPr>
          <a:lstStyle/>
          <a:p>
            <a:pPr algn="l"/>
            <a:r>
              <a:rPr sz="950" b="0" i="0">
                <a:solidFill>
                  <a:srgbClr val="FFFFFF"/>
                </a:solidFill>
              </a:rPr>
              <a:t>+ Bi-weekly iteration + reporting</a:t>
            </a:r>
          </a:p>
        </p:txBody>
      </p:sp>
      <p:sp>
        <p:nvSpPr>
          <p:cNvPr id="30" name="TextBox 29"/>
          <p:cNvSpPr txBox="1"/>
          <p:nvPr/>
        </p:nvSpPr>
        <p:spPr>
          <a:xfrm>
            <a:off x="4517136" y="5175504"/>
            <a:ext cx="3383280" cy="347472"/>
          </a:xfrm>
          <a:prstGeom prst="rect">
            <a:avLst/>
          </a:prstGeom>
          <a:noFill/>
        </p:spPr>
        <p:txBody>
          <a:bodyPr wrap="square">
            <a:spAutoFit/>
          </a:bodyPr>
          <a:lstStyle/>
          <a:p>
            <a:pPr algn="l"/>
            <a:r>
              <a:rPr sz="950" b="0" i="0">
                <a:solidFill>
                  <a:srgbClr val="FFFFFF"/>
                </a:solidFill>
              </a:rPr>
              <a:t>+ Demo booking as primary CTA</a:t>
            </a:r>
          </a:p>
        </p:txBody>
      </p:sp>
      <p:sp>
        <p:nvSpPr>
          <p:cNvPr id="31" name="TextBox 30"/>
          <p:cNvSpPr txBox="1"/>
          <p:nvPr/>
        </p:nvSpPr>
        <p:spPr>
          <a:xfrm>
            <a:off x="4517136" y="5577840"/>
            <a:ext cx="3383280" cy="347472"/>
          </a:xfrm>
          <a:prstGeom prst="rect">
            <a:avLst/>
          </a:prstGeom>
          <a:noFill/>
        </p:spPr>
        <p:txBody>
          <a:bodyPr wrap="square">
            <a:spAutoFit/>
          </a:bodyPr>
          <a:lstStyle/>
          <a:p>
            <a:pPr algn="l"/>
            <a:r>
              <a:rPr sz="950" b="0" i="0">
                <a:solidFill>
                  <a:srgbClr val="FFFFFF"/>
                </a:solidFill>
              </a:rPr>
              <a:t>+ Full IP ownership</a:t>
            </a:r>
          </a:p>
        </p:txBody>
      </p:sp>
      <p:sp>
        <p:nvSpPr>
          <p:cNvPr id="32" name="Rectangle 31"/>
          <p:cNvSpPr/>
          <p:nvPr/>
        </p:nvSpPr>
        <p:spPr>
          <a:xfrm>
            <a:off x="8229600" y="1536192"/>
            <a:ext cx="3730752" cy="5047488"/>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29600" y="1536192"/>
            <a:ext cx="3730752" cy="54864"/>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0" y="2029967"/>
            <a:ext cx="3383280" cy="347472"/>
          </a:xfrm>
          <a:prstGeom prst="rect">
            <a:avLst/>
          </a:prstGeom>
          <a:noFill/>
        </p:spPr>
        <p:txBody>
          <a:bodyPr wrap="square">
            <a:spAutoFit/>
          </a:bodyPr>
          <a:lstStyle/>
          <a:p>
            <a:pPr algn="l"/>
            <a:r>
              <a:rPr sz="1400" b="1" i="0">
                <a:solidFill>
                  <a:srgbClr val="FFFFFF"/>
                </a:solidFill>
              </a:rPr>
              <a:t>ENTERPRISE</a:t>
            </a:r>
          </a:p>
        </p:txBody>
      </p:sp>
      <p:sp>
        <p:nvSpPr>
          <p:cNvPr id="35" name="TextBox 34"/>
          <p:cNvSpPr txBox="1"/>
          <p:nvPr/>
        </p:nvSpPr>
        <p:spPr>
          <a:xfrm>
            <a:off x="8412480" y="2414015"/>
            <a:ext cx="3383280" cy="274320"/>
          </a:xfrm>
          <a:prstGeom prst="rect">
            <a:avLst/>
          </a:prstGeom>
          <a:noFill/>
        </p:spPr>
        <p:txBody>
          <a:bodyPr wrap="square">
            <a:spAutoFit/>
          </a:bodyPr>
          <a:lstStyle/>
          <a:p>
            <a:pPr algn="l"/>
            <a:r>
              <a:rPr sz="900" b="0" i="1">
                <a:solidFill>
                  <a:srgbClr val="CCCCD8"/>
                </a:solidFill>
              </a:rPr>
              <a:t>Full outbound engine</a:t>
            </a:r>
          </a:p>
        </p:txBody>
      </p:sp>
      <p:sp>
        <p:nvSpPr>
          <p:cNvPr id="36" name="TextBox 35"/>
          <p:cNvSpPr txBox="1"/>
          <p:nvPr/>
        </p:nvSpPr>
        <p:spPr>
          <a:xfrm>
            <a:off x="8412480" y="2761488"/>
            <a:ext cx="3383280" cy="347472"/>
          </a:xfrm>
          <a:prstGeom prst="rect">
            <a:avLst/>
          </a:prstGeom>
          <a:noFill/>
        </p:spPr>
        <p:txBody>
          <a:bodyPr wrap="square">
            <a:spAutoFit/>
          </a:bodyPr>
          <a:lstStyle/>
          <a:p>
            <a:pPr algn="l"/>
            <a:r>
              <a:rPr sz="900" b="0" i="0">
                <a:solidFill>
                  <a:srgbClr val="CCCCD8"/>
                </a:solidFill>
              </a:rPr>
              <a:t>+ 5 sequences across all signals</a:t>
            </a:r>
          </a:p>
        </p:txBody>
      </p:sp>
      <p:sp>
        <p:nvSpPr>
          <p:cNvPr id="37" name="TextBox 36"/>
          <p:cNvSpPr txBox="1"/>
          <p:nvPr/>
        </p:nvSpPr>
        <p:spPr>
          <a:xfrm>
            <a:off x="8412480" y="3163824"/>
            <a:ext cx="3383280" cy="347472"/>
          </a:xfrm>
          <a:prstGeom prst="rect">
            <a:avLst/>
          </a:prstGeom>
          <a:noFill/>
        </p:spPr>
        <p:txBody>
          <a:bodyPr wrap="square">
            <a:spAutoFit/>
          </a:bodyPr>
          <a:lstStyle/>
          <a:p>
            <a:pPr algn="l"/>
            <a:r>
              <a:rPr sz="900" b="0" i="0">
                <a:solidFill>
                  <a:srgbClr val="CCCCD8"/>
                </a:solidFill>
              </a:rPr>
              <a:t>+ 500+ stores/month</a:t>
            </a:r>
          </a:p>
        </p:txBody>
      </p:sp>
      <p:sp>
        <p:nvSpPr>
          <p:cNvPr id="38" name="TextBox 37"/>
          <p:cNvSpPr txBox="1"/>
          <p:nvPr/>
        </p:nvSpPr>
        <p:spPr>
          <a:xfrm>
            <a:off x="8412480" y="3566160"/>
            <a:ext cx="3383280" cy="347472"/>
          </a:xfrm>
          <a:prstGeom prst="rect">
            <a:avLst/>
          </a:prstGeom>
          <a:noFill/>
        </p:spPr>
        <p:txBody>
          <a:bodyPr wrap="square">
            <a:spAutoFit/>
          </a:bodyPr>
          <a:lstStyle/>
          <a:p>
            <a:pPr algn="l"/>
            <a:r>
              <a:rPr sz="900" b="0" i="0">
                <a:solidFill>
                  <a:srgbClr val="CCCCD8"/>
                </a:solidFill>
              </a:rPr>
              <a:t>+ Email + call + LinkedIn</a:t>
            </a:r>
          </a:p>
        </p:txBody>
      </p:sp>
      <p:sp>
        <p:nvSpPr>
          <p:cNvPr id="39" name="TextBox 38"/>
          <p:cNvSpPr txBox="1"/>
          <p:nvPr/>
        </p:nvSpPr>
        <p:spPr>
          <a:xfrm>
            <a:off x="8412480" y="3968496"/>
            <a:ext cx="3383280" cy="347472"/>
          </a:xfrm>
          <a:prstGeom prst="rect">
            <a:avLst/>
          </a:prstGeom>
          <a:noFill/>
        </p:spPr>
        <p:txBody>
          <a:bodyPr wrap="square">
            <a:spAutoFit/>
          </a:bodyPr>
          <a:lstStyle/>
          <a:p>
            <a:pPr algn="l"/>
            <a:r>
              <a:rPr sz="900" b="0" i="0">
                <a:solidFill>
                  <a:srgbClr val="CCCCD8"/>
                </a:solidFill>
              </a:rPr>
              <a:t>+ Trade association outreach</a:t>
            </a:r>
          </a:p>
        </p:txBody>
      </p:sp>
      <p:sp>
        <p:nvSpPr>
          <p:cNvPr id="40" name="TextBox 39"/>
          <p:cNvSpPr txBox="1"/>
          <p:nvPr/>
        </p:nvSpPr>
        <p:spPr>
          <a:xfrm>
            <a:off x="8412480" y="4370832"/>
            <a:ext cx="3383280" cy="347472"/>
          </a:xfrm>
          <a:prstGeom prst="rect">
            <a:avLst/>
          </a:prstGeom>
          <a:noFill/>
        </p:spPr>
        <p:txBody>
          <a:bodyPr wrap="square">
            <a:spAutoFit/>
          </a:bodyPr>
          <a:lstStyle/>
          <a:p>
            <a:pPr algn="l"/>
            <a:r>
              <a:rPr sz="900" b="0" i="0">
                <a:solidFill>
                  <a:srgbClr val="CCCCD8"/>
                </a:solidFill>
              </a:rPr>
              <a:t>+ Founder content strategy</a:t>
            </a:r>
          </a:p>
        </p:txBody>
      </p:sp>
      <p:sp>
        <p:nvSpPr>
          <p:cNvPr id="41" name="TextBox 40"/>
          <p:cNvSpPr txBox="1"/>
          <p:nvPr/>
        </p:nvSpPr>
        <p:spPr>
          <a:xfrm>
            <a:off x="8412480" y="4773168"/>
            <a:ext cx="3383280" cy="347472"/>
          </a:xfrm>
          <a:prstGeom prst="rect">
            <a:avLst/>
          </a:prstGeom>
          <a:noFill/>
        </p:spPr>
        <p:txBody>
          <a:bodyPr wrap="square">
            <a:spAutoFit/>
          </a:bodyPr>
          <a:lstStyle/>
          <a:p>
            <a:pPr algn="l"/>
            <a:r>
              <a:rPr sz="900" b="0" i="0">
                <a:solidFill>
                  <a:srgbClr val="CCCCD8"/>
                </a:solidFill>
              </a:rPr>
              <a:t>+ Weekly sprint reviews</a:t>
            </a:r>
          </a:p>
        </p:txBody>
      </p:sp>
      <p:sp>
        <p:nvSpPr>
          <p:cNvPr id="42" name="TextBox 41"/>
          <p:cNvSpPr txBox="1"/>
          <p:nvPr/>
        </p:nvSpPr>
        <p:spPr>
          <a:xfrm>
            <a:off x="8412480" y="5175504"/>
            <a:ext cx="3383280" cy="347472"/>
          </a:xfrm>
          <a:prstGeom prst="rect">
            <a:avLst/>
          </a:prstGeom>
          <a:noFill/>
        </p:spPr>
        <p:txBody>
          <a:bodyPr wrap="square">
            <a:spAutoFit/>
          </a:bodyPr>
          <a:lstStyle/>
          <a:p>
            <a:pPr algn="l"/>
            <a:r>
              <a:rPr sz="900" b="0" i="0">
                <a:solidFill>
                  <a:srgbClr val="CCCCD8"/>
                </a:solidFill>
              </a:rPr>
              <a:t>+ Dedicated SELLL strategist</a:t>
            </a:r>
          </a:p>
        </p:txBody>
      </p:sp>
      <p:sp>
        <p:nvSpPr>
          <p:cNvPr id="43" name="TextBox 42"/>
          <p:cNvSpPr txBox="1"/>
          <p:nvPr/>
        </p:nvSpPr>
        <p:spPr>
          <a:xfrm>
            <a:off x="8412480" y="5577840"/>
            <a:ext cx="3383280" cy="347472"/>
          </a:xfrm>
          <a:prstGeom prst="rect">
            <a:avLst/>
          </a:prstGeom>
          <a:noFill/>
        </p:spPr>
        <p:txBody>
          <a:bodyPr wrap="square">
            <a:spAutoFit/>
          </a:bodyPr>
          <a:lstStyle/>
          <a:p>
            <a:pPr algn="l"/>
            <a:r>
              <a:rPr sz="900" b="0" i="0">
                <a:solidFill>
                  <a:srgbClr val="CCCCD8"/>
                </a:solidFill>
              </a:rPr>
              <a:t>+ Full IP ownership</a:t>
            </a:r>
          </a:p>
        </p:txBody>
      </p:sp>
      <p:sp>
        <p:nvSpPr>
          <p:cNvPr id="44" name="TextBox 43"/>
          <p:cNvSpPr txBox="1"/>
          <p:nvPr/>
        </p:nvSpPr>
        <p:spPr>
          <a:xfrm>
            <a:off x="502920" y="6455664"/>
            <a:ext cx="11155680" cy="310896"/>
          </a:xfrm>
          <a:prstGeom prst="rect">
            <a:avLst/>
          </a:prstGeom>
          <a:noFill/>
        </p:spPr>
        <p:txBody>
          <a:bodyPr wrap="square">
            <a:spAutoFit/>
          </a:bodyPr>
          <a:lstStyle/>
          <a:p>
            <a:pPr algn="ctr"/>
            <a:r>
              <a:rPr sz="900" b="1" i="0">
                <a:solidFill>
                  <a:srgbClr val="E8B830"/>
                </a:solidFill>
              </a:rPr>
              <a:t>All plans: month-to-month  |  14-day launch  |  First demos in 30 days  |  Full IP yours at exit</a:t>
            </a:r>
          </a:p>
        </p:txBody>
      </p:sp>
      <p:sp>
        <p:nvSpPr>
          <p:cNvPr id="45" name="TextBox 44"/>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0F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24944" y="0"/>
            <a:ext cx="64008" cy="685800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 y="6803136"/>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
            <a:ext cx="7315200" cy="347472"/>
          </a:xfrm>
          <a:prstGeom prst="rect">
            <a:avLst/>
          </a:prstGeom>
          <a:noFill/>
        </p:spPr>
        <p:txBody>
          <a:bodyPr wrap="square">
            <a:spAutoFit/>
          </a:bodyPr>
          <a:lstStyle/>
          <a:p>
            <a:pPr algn="l"/>
            <a:r>
              <a:rPr sz="900" b="1" i="0">
                <a:solidFill>
                  <a:srgbClr val="E84040"/>
                </a:solidFill>
              </a:rPr>
              <a:t>THE CASE FOR NOW</a:t>
            </a:r>
          </a:p>
        </p:txBody>
      </p:sp>
      <p:sp>
        <p:nvSpPr>
          <p:cNvPr id="7" name="TextBox 6"/>
          <p:cNvSpPr txBox="1"/>
          <p:nvPr/>
        </p:nvSpPr>
        <p:spPr>
          <a:xfrm>
            <a:off x="548640" y="621792"/>
            <a:ext cx="8686800" cy="1170432"/>
          </a:xfrm>
          <a:prstGeom prst="rect">
            <a:avLst/>
          </a:prstGeom>
          <a:noFill/>
        </p:spPr>
        <p:txBody>
          <a:bodyPr wrap="square">
            <a:spAutoFit/>
          </a:bodyPr>
          <a:lstStyle/>
          <a:p>
            <a:pPr algn="l"/>
            <a:r>
              <a:rPr sz="3400" b="1" i="0">
                <a:solidFill>
                  <a:srgbClr val="FFFFFF"/>
                </a:solidFill>
              </a:rPr>
              <a:t>Four Reasons This Is
a This-Month Decision.</a:t>
            </a:r>
          </a:p>
        </p:txBody>
      </p:sp>
      <p:sp>
        <p:nvSpPr>
          <p:cNvPr id="8" name="Rectangle 7"/>
          <p:cNvSpPr/>
          <p:nvPr/>
        </p:nvSpPr>
        <p:spPr>
          <a:xfrm>
            <a:off x="548640" y="1883664"/>
            <a:ext cx="11155680" cy="36576"/>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084831"/>
            <a:ext cx="5650992" cy="188366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 y="2084831"/>
            <a:ext cx="5650992" cy="54864"/>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2084831"/>
            <a:ext cx="54864" cy="1883664"/>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212848"/>
            <a:ext cx="457200" cy="402336"/>
          </a:xfrm>
          <a:prstGeom prst="rect">
            <a:avLst/>
          </a:prstGeom>
          <a:noFill/>
        </p:spPr>
        <p:txBody>
          <a:bodyPr wrap="square">
            <a:spAutoFit/>
          </a:bodyPr>
          <a:lstStyle/>
          <a:p>
            <a:pPr algn="l"/>
            <a:r>
              <a:rPr sz="2000" b="1" i="0">
                <a:solidFill>
                  <a:srgbClr val="E84040"/>
                </a:solidFill>
              </a:rPr>
              <a:t>01</a:t>
            </a:r>
          </a:p>
        </p:txBody>
      </p:sp>
      <p:sp>
        <p:nvSpPr>
          <p:cNvPr id="13" name="TextBox 12"/>
          <p:cNvSpPr txBox="1"/>
          <p:nvPr/>
        </p:nvSpPr>
        <p:spPr>
          <a:xfrm>
            <a:off x="1152144" y="2212848"/>
            <a:ext cx="4846320" cy="402336"/>
          </a:xfrm>
          <a:prstGeom prst="rect">
            <a:avLst/>
          </a:prstGeom>
          <a:noFill/>
        </p:spPr>
        <p:txBody>
          <a:bodyPr wrap="square">
            <a:spAutoFit/>
          </a:bodyPr>
          <a:lstStyle/>
          <a:p>
            <a:pPr algn="l"/>
            <a:r>
              <a:rPr sz="1100" b="1" i="0">
                <a:solidFill>
                  <a:srgbClr val="FFFFFF"/>
                </a:solidFill>
              </a:rPr>
              <a:t>Showroom Pricing is actively outreaching your market.</a:t>
            </a:r>
          </a:p>
        </p:txBody>
      </p:sp>
      <p:sp>
        <p:nvSpPr>
          <p:cNvPr id="14" name="TextBox 13"/>
          <p:cNvSpPr txBox="1"/>
          <p:nvPr/>
        </p:nvSpPr>
        <p:spPr>
          <a:xfrm>
            <a:off x="640080" y="2706624"/>
            <a:ext cx="5303520" cy="1133856"/>
          </a:xfrm>
          <a:prstGeom prst="rect">
            <a:avLst/>
          </a:prstGeom>
          <a:noFill/>
        </p:spPr>
        <p:txBody>
          <a:bodyPr wrap="square">
            <a:spAutoFit/>
          </a:bodyPr>
          <a:lstStyle/>
          <a:p>
            <a:pPr algn="l"/>
            <a:r>
              <a:rPr sz="950" b="0" i="0">
                <a:solidFill>
                  <a:srgbClr val="CCCCD8"/>
                </a:solidFill>
              </a:rPr>
              <a:t>They have 6 years, a national TV feature, and a 35-year industry veteran. Every month without outbound is another month they compound their lead over you in flooring store owner awareness.</a:t>
            </a:r>
          </a:p>
        </p:txBody>
      </p:sp>
      <p:sp>
        <p:nvSpPr>
          <p:cNvPr id="15" name="Rectangle 14"/>
          <p:cNvSpPr/>
          <p:nvPr/>
        </p:nvSpPr>
        <p:spPr>
          <a:xfrm>
            <a:off x="6309360" y="2084831"/>
            <a:ext cx="5650992" cy="188366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2084831"/>
            <a:ext cx="5650992" cy="54864"/>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2084831"/>
            <a:ext cx="54864" cy="1883664"/>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2212848"/>
            <a:ext cx="457200" cy="402336"/>
          </a:xfrm>
          <a:prstGeom prst="rect">
            <a:avLst/>
          </a:prstGeom>
          <a:noFill/>
        </p:spPr>
        <p:txBody>
          <a:bodyPr wrap="square">
            <a:spAutoFit/>
          </a:bodyPr>
          <a:lstStyle/>
          <a:p>
            <a:pPr algn="l"/>
            <a:r>
              <a:rPr sz="2000" b="1" i="0">
                <a:solidFill>
                  <a:srgbClr val="E84040"/>
                </a:solidFill>
              </a:rPr>
              <a:t>02</a:t>
            </a:r>
          </a:p>
        </p:txBody>
      </p:sp>
      <p:sp>
        <p:nvSpPr>
          <p:cNvPr id="19" name="TextBox 18"/>
          <p:cNvSpPr txBox="1"/>
          <p:nvPr/>
        </p:nvSpPr>
        <p:spPr>
          <a:xfrm>
            <a:off x="7022592" y="2212848"/>
            <a:ext cx="4846320" cy="402336"/>
          </a:xfrm>
          <a:prstGeom prst="rect">
            <a:avLst/>
          </a:prstGeom>
          <a:noFill/>
        </p:spPr>
        <p:txBody>
          <a:bodyPr wrap="square">
            <a:spAutoFit/>
          </a:bodyPr>
          <a:lstStyle/>
          <a:p>
            <a:pPr algn="l"/>
            <a:r>
              <a:rPr sz="1100" b="1" i="0">
                <a:solidFill>
                  <a:srgbClr val="FFFFFF"/>
                </a:solidFill>
              </a:rPr>
              <a:t>New flooring stores are opening this month.</a:t>
            </a:r>
          </a:p>
        </p:txBody>
      </p:sp>
      <p:sp>
        <p:nvSpPr>
          <p:cNvPr id="20" name="TextBox 19"/>
          <p:cNvSpPr txBox="1"/>
          <p:nvPr/>
        </p:nvSpPr>
        <p:spPr>
          <a:xfrm>
            <a:off x="6510528" y="2706624"/>
            <a:ext cx="5303520" cy="1133856"/>
          </a:xfrm>
          <a:prstGeom prst="rect">
            <a:avLst/>
          </a:prstGeom>
          <a:noFill/>
        </p:spPr>
        <p:txBody>
          <a:bodyPr wrap="square">
            <a:spAutoFit/>
          </a:bodyPr>
          <a:lstStyle/>
          <a:p>
            <a:pPr algn="l"/>
            <a:r>
              <a:rPr sz="950" b="0" i="0">
                <a:solidFill>
                  <a:srgbClr val="CCCCD8"/>
                </a:solidFill>
              </a:rPr>
              <a:t>Every week, new flooring showrooms register and open their doors. They are setting up their pricing systems RIGHT NOW. There is no better moment to reach a flooring store owner than Month 1.</a:t>
            </a:r>
          </a:p>
        </p:txBody>
      </p:sp>
      <p:sp>
        <p:nvSpPr>
          <p:cNvPr id="21" name="Rectangle 20"/>
          <p:cNvSpPr/>
          <p:nvPr/>
        </p:nvSpPr>
        <p:spPr>
          <a:xfrm>
            <a:off x="438912" y="4187952"/>
            <a:ext cx="5650992" cy="188366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 y="4187952"/>
            <a:ext cx="5650992" cy="54864"/>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 y="4187952"/>
            <a:ext cx="54864" cy="1883664"/>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315968"/>
            <a:ext cx="457200" cy="402336"/>
          </a:xfrm>
          <a:prstGeom prst="rect">
            <a:avLst/>
          </a:prstGeom>
          <a:noFill/>
        </p:spPr>
        <p:txBody>
          <a:bodyPr wrap="square">
            <a:spAutoFit/>
          </a:bodyPr>
          <a:lstStyle/>
          <a:p>
            <a:pPr algn="l"/>
            <a:r>
              <a:rPr sz="2000" b="1" i="0">
                <a:solidFill>
                  <a:srgbClr val="F0A020"/>
                </a:solidFill>
              </a:rPr>
              <a:t>03</a:t>
            </a:r>
          </a:p>
        </p:txBody>
      </p:sp>
      <p:sp>
        <p:nvSpPr>
          <p:cNvPr id="25" name="TextBox 24"/>
          <p:cNvSpPr txBox="1"/>
          <p:nvPr/>
        </p:nvSpPr>
        <p:spPr>
          <a:xfrm>
            <a:off x="1152144" y="4315968"/>
            <a:ext cx="4846320" cy="402336"/>
          </a:xfrm>
          <a:prstGeom prst="rect">
            <a:avLst/>
          </a:prstGeom>
          <a:noFill/>
        </p:spPr>
        <p:txBody>
          <a:bodyPr wrap="square">
            <a:spAutoFit/>
          </a:bodyPr>
          <a:lstStyle/>
          <a:p>
            <a:pPr algn="l"/>
            <a:r>
              <a:rPr sz="1100" b="1" i="0">
                <a:solidFill>
                  <a:srgbClr val="FFFFFF"/>
                </a:solidFill>
              </a:rPr>
              <a:t>TISE attendee lists are fresh and actionable.</a:t>
            </a:r>
          </a:p>
        </p:txBody>
      </p:sp>
      <p:sp>
        <p:nvSpPr>
          <p:cNvPr id="26" name="TextBox 25"/>
          <p:cNvSpPr txBox="1"/>
          <p:nvPr/>
        </p:nvSpPr>
        <p:spPr>
          <a:xfrm>
            <a:off x="640080" y="4809744"/>
            <a:ext cx="5303520" cy="1133856"/>
          </a:xfrm>
          <a:prstGeom prst="rect">
            <a:avLst/>
          </a:prstGeom>
          <a:noFill/>
        </p:spPr>
        <p:txBody>
          <a:bodyPr wrap="square">
            <a:spAutoFit/>
          </a:bodyPr>
          <a:lstStyle/>
          <a:p>
            <a:pPr algn="l"/>
            <a:r>
              <a:rPr sz="950" b="0" i="0">
                <a:solidFill>
                  <a:srgbClr val="CCCCD8"/>
                </a:solidFill>
              </a:rPr>
              <a:t>The International Surface Event runs annually. Post-show, the attendee list is at peak intent. A sequence targeting that list right now converts at the highest rate of the year.</a:t>
            </a:r>
          </a:p>
        </p:txBody>
      </p:sp>
      <p:sp>
        <p:nvSpPr>
          <p:cNvPr id="27" name="Rectangle 26"/>
          <p:cNvSpPr/>
          <p:nvPr/>
        </p:nvSpPr>
        <p:spPr>
          <a:xfrm>
            <a:off x="6309360" y="4187952"/>
            <a:ext cx="5650992" cy="188366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4187952"/>
            <a:ext cx="5650992" cy="54864"/>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4187952"/>
            <a:ext cx="54864" cy="1883664"/>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4315968"/>
            <a:ext cx="457200" cy="402336"/>
          </a:xfrm>
          <a:prstGeom prst="rect">
            <a:avLst/>
          </a:prstGeom>
          <a:noFill/>
        </p:spPr>
        <p:txBody>
          <a:bodyPr wrap="square">
            <a:spAutoFit/>
          </a:bodyPr>
          <a:lstStyle/>
          <a:p>
            <a:pPr algn="l"/>
            <a:r>
              <a:rPr sz="2000" b="1" i="0">
                <a:solidFill>
                  <a:srgbClr val="F0A020"/>
                </a:solidFill>
              </a:rPr>
              <a:t>04</a:t>
            </a:r>
          </a:p>
        </p:txBody>
      </p:sp>
      <p:sp>
        <p:nvSpPr>
          <p:cNvPr id="31" name="TextBox 30"/>
          <p:cNvSpPr txBox="1"/>
          <p:nvPr/>
        </p:nvSpPr>
        <p:spPr>
          <a:xfrm>
            <a:off x="7022592" y="4315968"/>
            <a:ext cx="4846320" cy="402336"/>
          </a:xfrm>
          <a:prstGeom prst="rect">
            <a:avLst/>
          </a:prstGeom>
          <a:noFill/>
        </p:spPr>
        <p:txBody>
          <a:bodyPr wrap="square">
            <a:spAutoFit/>
          </a:bodyPr>
          <a:lstStyle/>
          <a:p>
            <a:pPr algn="l"/>
            <a:r>
              <a:rPr sz="1100" b="1" i="0">
                <a:solidFill>
                  <a:srgbClr val="FFFFFF"/>
                </a:solidFill>
              </a:rPr>
              <a:t>Every week waiting is demos not booked.</a:t>
            </a:r>
          </a:p>
        </p:txBody>
      </p:sp>
      <p:sp>
        <p:nvSpPr>
          <p:cNvPr id="32" name="TextBox 31"/>
          <p:cNvSpPr txBox="1"/>
          <p:nvPr/>
        </p:nvSpPr>
        <p:spPr>
          <a:xfrm>
            <a:off x="6510528" y="4809744"/>
            <a:ext cx="5303520" cy="1133856"/>
          </a:xfrm>
          <a:prstGeom prst="rect">
            <a:avLst/>
          </a:prstGeom>
          <a:noFill/>
        </p:spPr>
        <p:txBody>
          <a:bodyPr wrap="square">
            <a:spAutoFit/>
          </a:bodyPr>
          <a:lstStyle/>
          <a:p>
            <a:pPr algn="l"/>
            <a:r>
              <a:rPr sz="950" b="0" i="0">
                <a:solidFill>
                  <a:srgbClr val="CCCCD8"/>
                </a:solidFill>
              </a:rPr>
              <a:t>At realistic projections: 8 demos per month, 33% close rate = 2.6 new customers per month. A 90-day delay costs 7-8 potential customers and lets Showroom Pricing walk in the door first.</a:t>
            </a:r>
          </a:p>
        </p:txBody>
      </p:sp>
      <p:sp>
        <p:nvSpPr>
          <p:cNvPr id="33" name="TextBox 32"/>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24944"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6400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93992"/>
            <a:ext cx="12188952" cy="6400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lll_logo_clean.png"/>
          <p:cNvPicPr>
            <a:picLocks noChangeAspect="1"/>
          </p:cNvPicPr>
          <p:nvPr/>
        </p:nvPicPr>
        <p:blipFill>
          <a:blip r:embed="rId2"/>
          <a:stretch>
            <a:fillRect/>
          </a:stretch>
        </p:blipFill>
        <p:spPr>
          <a:xfrm>
            <a:off x="384048" y="182880"/>
            <a:ext cx="2560320" cy="563270"/>
          </a:xfrm>
          <a:prstGeom prst="rect">
            <a:avLst/>
          </a:prstGeom>
        </p:spPr>
      </p:pic>
      <p:sp>
        <p:nvSpPr>
          <p:cNvPr id="7" name="TextBox 6"/>
          <p:cNvSpPr txBox="1"/>
          <p:nvPr/>
        </p:nvSpPr>
        <p:spPr>
          <a:xfrm>
            <a:off x="3200400" y="256032"/>
            <a:ext cx="6400800" cy="347472"/>
          </a:xfrm>
          <a:prstGeom prst="rect">
            <a:avLst/>
          </a:prstGeom>
          <a:noFill/>
        </p:spPr>
        <p:txBody>
          <a:bodyPr wrap="square">
            <a:spAutoFit/>
          </a:bodyPr>
          <a:lstStyle/>
          <a:p>
            <a:pPr algn="l"/>
            <a:r>
              <a:rPr sz="900" b="1" i="0">
                <a:solidFill>
                  <a:srgbClr val="B8860B"/>
                </a:solidFill>
              </a:rPr>
              <a:t>ONE DECISION</a:t>
            </a:r>
          </a:p>
        </p:txBody>
      </p:sp>
      <p:sp>
        <p:nvSpPr>
          <p:cNvPr id="8" name="TextBox 7"/>
          <p:cNvSpPr txBox="1"/>
          <p:nvPr/>
        </p:nvSpPr>
        <p:spPr>
          <a:xfrm>
            <a:off x="3200400" y="585216"/>
            <a:ext cx="7315200" cy="1170432"/>
          </a:xfrm>
          <a:prstGeom prst="rect">
            <a:avLst/>
          </a:prstGeom>
          <a:noFill/>
        </p:spPr>
        <p:txBody>
          <a:bodyPr wrap="square">
            <a:spAutoFit/>
          </a:bodyPr>
          <a:lstStyle/>
          <a:p>
            <a:pPr algn="l"/>
            <a:r>
              <a:rPr sz="3200" b="1" i="0">
                <a:solidFill>
                  <a:srgbClr val="FFFFFF"/>
                </a:solidFill>
              </a:rPr>
              <a:t>Three Steps to Your
First Outbound-Booked Demo.</a:t>
            </a:r>
          </a:p>
        </p:txBody>
      </p:sp>
      <p:sp>
        <p:nvSpPr>
          <p:cNvPr id="9" name="Rectangle 8"/>
          <p:cNvSpPr/>
          <p:nvPr/>
        </p:nvSpPr>
        <p:spPr>
          <a:xfrm>
            <a:off x="502920" y="1883664"/>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 y="2066543"/>
            <a:ext cx="3730752" cy="4315968"/>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2066543"/>
            <a:ext cx="37307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2066543"/>
            <a:ext cx="54864" cy="431596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194560"/>
            <a:ext cx="1005840" cy="29260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19" y="2231136"/>
            <a:ext cx="822960" cy="219456"/>
          </a:xfrm>
          <a:prstGeom prst="rect">
            <a:avLst/>
          </a:prstGeom>
          <a:noFill/>
        </p:spPr>
        <p:txBody>
          <a:bodyPr wrap="square">
            <a:spAutoFit/>
          </a:bodyPr>
          <a:lstStyle/>
          <a:p>
            <a:pPr algn="ctr"/>
            <a:r>
              <a:rPr sz="900" b="1" i="0">
                <a:solidFill>
                  <a:srgbClr val="1A1A2E"/>
                </a:solidFill>
              </a:rPr>
              <a:t>TODAY</a:t>
            </a:r>
          </a:p>
        </p:txBody>
      </p:sp>
      <p:sp>
        <p:nvSpPr>
          <p:cNvPr id="15" name="TextBox 14"/>
          <p:cNvSpPr txBox="1"/>
          <p:nvPr/>
        </p:nvSpPr>
        <p:spPr>
          <a:xfrm>
            <a:off x="640080" y="2596896"/>
            <a:ext cx="3383280" cy="402336"/>
          </a:xfrm>
          <a:prstGeom prst="rect">
            <a:avLst/>
          </a:prstGeom>
          <a:noFill/>
        </p:spPr>
        <p:txBody>
          <a:bodyPr wrap="square">
            <a:spAutoFit/>
          </a:bodyPr>
          <a:lstStyle/>
          <a:p>
            <a:pPr algn="l"/>
            <a:r>
              <a:rPr sz="1200" b="1" i="0">
                <a:solidFill>
                  <a:srgbClr val="FFFFFF"/>
                </a:solidFill>
              </a:rPr>
              <a:t>Say yes to the Growth plan</a:t>
            </a:r>
          </a:p>
        </p:txBody>
      </p:sp>
      <p:sp>
        <p:nvSpPr>
          <p:cNvPr id="16" name="TextBox 15"/>
          <p:cNvSpPr txBox="1"/>
          <p:nvPr/>
        </p:nvSpPr>
        <p:spPr>
          <a:xfrm>
            <a:off x="640080" y="3072384"/>
            <a:ext cx="3401568" cy="3108960"/>
          </a:xfrm>
          <a:prstGeom prst="rect">
            <a:avLst/>
          </a:prstGeom>
          <a:noFill/>
        </p:spPr>
        <p:txBody>
          <a:bodyPr wrap="square">
            <a:spAutoFit/>
          </a:bodyPr>
          <a:lstStyle/>
          <a:p>
            <a:pPr algn="l"/>
            <a:r>
              <a:rPr sz="950" b="0" i="0">
                <a:solidFill>
                  <a:srgbClr val="CCCCD8"/>
                </a:solidFill>
              </a:rPr>
              <a:t>We send a one-page agreement. Month-to-month. Sign same day. No onboarding forms. No 30-day procurement cycle. We start building your signal infrastructure the moment you sign.</a:t>
            </a:r>
          </a:p>
        </p:txBody>
      </p:sp>
      <p:sp>
        <p:nvSpPr>
          <p:cNvPr id="17" name="Rectangle 16"/>
          <p:cNvSpPr/>
          <p:nvPr/>
        </p:nvSpPr>
        <p:spPr>
          <a:xfrm>
            <a:off x="4334256" y="2066543"/>
            <a:ext cx="3730752" cy="4315968"/>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34256" y="2066543"/>
            <a:ext cx="3730752" cy="54864"/>
          </a:xfrm>
          <a:prstGeom prst="rect">
            <a:avLst/>
          </a:prstGeom>
          <a:solidFill>
            <a:srgbClr val="F5D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34256" y="2066543"/>
            <a:ext cx="54864" cy="4315968"/>
          </a:xfrm>
          <a:prstGeom prst="rect">
            <a:avLst/>
          </a:prstGeom>
          <a:solidFill>
            <a:srgbClr val="F5D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35424" y="2194560"/>
            <a:ext cx="1005840" cy="292608"/>
          </a:xfrm>
          <a:prstGeom prst="rect">
            <a:avLst/>
          </a:prstGeom>
          <a:solidFill>
            <a:srgbClr val="F5D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26864" y="2231136"/>
            <a:ext cx="822960" cy="219456"/>
          </a:xfrm>
          <a:prstGeom prst="rect">
            <a:avLst/>
          </a:prstGeom>
          <a:noFill/>
        </p:spPr>
        <p:txBody>
          <a:bodyPr wrap="square">
            <a:spAutoFit/>
          </a:bodyPr>
          <a:lstStyle/>
          <a:p>
            <a:pPr algn="ctr"/>
            <a:r>
              <a:rPr sz="900" b="1" i="0">
                <a:solidFill>
                  <a:srgbClr val="1A1A2E"/>
                </a:solidFill>
              </a:rPr>
              <a:t>DAY 2</a:t>
            </a:r>
          </a:p>
        </p:txBody>
      </p:sp>
      <p:sp>
        <p:nvSpPr>
          <p:cNvPr id="22" name="TextBox 21"/>
          <p:cNvSpPr txBox="1"/>
          <p:nvPr/>
        </p:nvSpPr>
        <p:spPr>
          <a:xfrm>
            <a:off x="4535424" y="2596896"/>
            <a:ext cx="3383280" cy="402336"/>
          </a:xfrm>
          <a:prstGeom prst="rect">
            <a:avLst/>
          </a:prstGeom>
          <a:noFill/>
        </p:spPr>
        <p:txBody>
          <a:bodyPr wrap="square">
            <a:spAutoFit/>
          </a:bodyPr>
          <a:lstStyle/>
          <a:p>
            <a:pPr algn="l"/>
            <a:r>
              <a:rPr sz="1200" b="1" i="0">
                <a:solidFill>
                  <a:srgbClr val="FFFFFF"/>
                </a:solidFill>
              </a:rPr>
              <a:t>30-min kickoff call</a:t>
            </a:r>
          </a:p>
        </p:txBody>
      </p:sp>
      <p:sp>
        <p:nvSpPr>
          <p:cNvPr id="23" name="TextBox 22"/>
          <p:cNvSpPr txBox="1"/>
          <p:nvPr/>
        </p:nvSpPr>
        <p:spPr>
          <a:xfrm>
            <a:off x="4535424" y="3072384"/>
            <a:ext cx="3401568" cy="3108960"/>
          </a:xfrm>
          <a:prstGeom prst="rect">
            <a:avLst/>
          </a:prstGeom>
          <a:noFill/>
        </p:spPr>
        <p:txBody>
          <a:bodyPr wrap="square">
            <a:spAutoFit/>
          </a:bodyPr>
          <a:lstStyle/>
          <a:p>
            <a:pPr algn="l"/>
            <a:r>
              <a:rPr sz="950" b="0" i="0">
                <a:solidFill>
                  <a:srgbClr val="CCCCD8"/>
                </a:solidFill>
              </a:rPr>
              <a:t>Confirm your ICP within flooring (size of store, geography). Build the TISE attendee list. Set up signal monitoring. Domain warmup begins. Sequence drafts written by end of day.</a:t>
            </a:r>
          </a:p>
        </p:txBody>
      </p:sp>
      <p:sp>
        <p:nvSpPr>
          <p:cNvPr id="24" name="Rectangle 23"/>
          <p:cNvSpPr/>
          <p:nvPr/>
        </p:nvSpPr>
        <p:spPr>
          <a:xfrm>
            <a:off x="8229600" y="2066543"/>
            <a:ext cx="3730752" cy="4315968"/>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0" y="2066543"/>
            <a:ext cx="3730752" cy="54864"/>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0" y="2066543"/>
            <a:ext cx="54864" cy="4315968"/>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30768" y="2194560"/>
            <a:ext cx="1005840" cy="292608"/>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22208" y="2231136"/>
            <a:ext cx="822960" cy="219456"/>
          </a:xfrm>
          <a:prstGeom prst="rect">
            <a:avLst/>
          </a:prstGeom>
          <a:noFill/>
        </p:spPr>
        <p:txBody>
          <a:bodyPr wrap="square">
            <a:spAutoFit/>
          </a:bodyPr>
          <a:lstStyle/>
          <a:p>
            <a:pPr algn="ctr"/>
            <a:r>
              <a:rPr sz="900" b="1" i="0">
                <a:solidFill>
                  <a:srgbClr val="1A1A2E"/>
                </a:solidFill>
              </a:rPr>
              <a:t>DAY 30</a:t>
            </a:r>
          </a:p>
        </p:txBody>
      </p:sp>
      <p:sp>
        <p:nvSpPr>
          <p:cNvPr id="29" name="TextBox 28"/>
          <p:cNvSpPr txBox="1"/>
          <p:nvPr/>
        </p:nvSpPr>
        <p:spPr>
          <a:xfrm>
            <a:off x="8430768" y="2596896"/>
            <a:ext cx="3383280" cy="402336"/>
          </a:xfrm>
          <a:prstGeom prst="rect">
            <a:avLst/>
          </a:prstGeom>
          <a:noFill/>
        </p:spPr>
        <p:txBody>
          <a:bodyPr wrap="square">
            <a:spAutoFit/>
          </a:bodyPr>
          <a:lstStyle/>
          <a:p>
            <a:pPr algn="l"/>
            <a:r>
              <a:rPr sz="1200" b="1" i="0">
                <a:solidFill>
                  <a:srgbClr val="FFFFFF"/>
                </a:solidFill>
              </a:rPr>
              <a:t>First demo booked from outbound</a:t>
            </a:r>
          </a:p>
        </p:txBody>
      </p:sp>
      <p:sp>
        <p:nvSpPr>
          <p:cNvPr id="30" name="TextBox 29"/>
          <p:cNvSpPr txBox="1"/>
          <p:nvPr/>
        </p:nvSpPr>
        <p:spPr>
          <a:xfrm>
            <a:off x="8430768" y="3072384"/>
            <a:ext cx="3401568" cy="3108960"/>
          </a:xfrm>
          <a:prstGeom prst="rect">
            <a:avLst/>
          </a:prstGeom>
          <a:noFill/>
        </p:spPr>
        <p:txBody>
          <a:bodyPr wrap="square">
            <a:spAutoFit/>
          </a:bodyPr>
          <a:lstStyle/>
          <a:p>
            <a:pPr algn="l"/>
            <a:r>
              <a:rPr sz="950" b="0" i="0">
                <a:solidFill>
                  <a:srgbClr val="CCCCD8"/>
                </a:solidFill>
              </a:rPr>
              <a:t>Sequences fire by Day 14. First signal-triggered replies arrive by Day 20. First flooring store owner books a demo by Day 30. You show up and show them the QR code. They convert.</a:t>
            </a:r>
          </a:p>
        </p:txBody>
      </p:sp>
      <p:sp>
        <p:nvSpPr>
          <p:cNvPr id="31" name="Rectangle 30"/>
          <p:cNvSpPr/>
          <p:nvPr/>
        </p:nvSpPr>
        <p:spPr>
          <a:xfrm>
            <a:off x="2194560" y="6400800"/>
            <a:ext cx="7790688" cy="40233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31720" y="6455664"/>
            <a:ext cx="7516368" cy="274320"/>
          </a:xfrm>
          <a:prstGeom prst="rect">
            <a:avLst/>
          </a:prstGeom>
          <a:noFill/>
        </p:spPr>
        <p:txBody>
          <a:bodyPr wrap="square">
            <a:spAutoFit/>
          </a:bodyPr>
          <a:lstStyle/>
          <a:p>
            <a:pPr algn="ctr"/>
            <a:r>
              <a:rPr sz="1200" b="1" i="0">
                <a:solidFill>
                  <a:srgbClr val="1A1A2E"/>
                </a:solidFill>
              </a:rPr>
              <a:t>Ready to start?  Reply here  or  book at  cal.com/collins-collins-h1q7yn/30min</a:t>
            </a:r>
          </a:p>
        </p:txBody>
      </p:sp>
      <p:sp>
        <p:nvSpPr>
          <p:cNvPr id="33" name="TextBox 32"/>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