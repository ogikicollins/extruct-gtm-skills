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0F1C"/>
        </a:solidFill>
        <a:effectLst/>
      </p:bgPr>
    </p:bg>
    <p:spTree>
      <p:nvGrpSpPr>
        <p:cNvPr id="1" name=""/>
        <p:cNvGrpSpPr/>
        <p:nvPr/>
      </p:nvGrpSpPr>
      <p:grpSpPr/>
      <p:sp>
        <p:nvSpPr>
          <p:cNvPr id="2" name="Rectangle 1"/>
          <p:cNvSpPr/>
          <p:nvPr/>
        </p:nvSpPr>
        <p:spPr>
          <a:xfrm>
            <a:off x="0" y="0"/>
            <a:ext cx="54864" cy="6858000"/>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34088" y="0"/>
            <a:ext cx="54864" cy="6858000"/>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88952" cy="54864"/>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803136"/>
            <a:ext cx="12188952" cy="54864"/>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0" y="54864"/>
            <a:ext cx="4818888" cy="566928"/>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24927" y="146304"/>
            <a:ext cx="4663440" cy="347472"/>
          </a:xfrm>
          <a:prstGeom prst="rect">
            <a:avLst/>
          </a:prstGeom>
          <a:noFill/>
        </p:spPr>
        <p:txBody>
          <a:bodyPr wrap="square">
            <a:spAutoFit/>
          </a:bodyPr>
          <a:lstStyle/>
          <a:p>
            <a:pPr algn="l"/>
            <a:r>
              <a:rPr sz="1000" b="1" i="0">
                <a:solidFill>
                  <a:srgbClr val="1A1A2E"/>
                </a:solidFill>
              </a:rPr>
              <a:t>Prepared for:  James  |  QR Floor Genie / Genie Technologies</a:t>
            </a:r>
          </a:p>
        </p:txBody>
      </p:sp>
      <p:pic>
        <p:nvPicPr>
          <p:cNvPr id="8" name="Picture 7" descr="selll_logo_clean.png"/>
          <p:cNvPicPr>
            <a:picLocks noChangeAspect="1"/>
          </p:cNvPicPr>
          <p:nvPr/>
        </p:nvPicPr>
        <p:blipFill>
          <a:blip r:embed="rId2"/>
          <a:stretch>
            <a:fillRect/>
          </a:stretch>
        </p:blipFill>
        <p:spPr>
          <a:xfrm>
            <a:off x="384048" y="201168"/>
            <a:ext cx="2651760" cy="583387"/>
          </a:xfrm>
          <a:prstGeom prst="rect">
            <a:avLst/>
          </a:prstGeom>
        </p:spPr>
      </p:pic>
      <p:sp>
        <p:nvSpPr>
          <p:cNvPr id="9" name="TextBox 8"/>
          <p:cNvSpPr txBox="1"/>
          <p:nvPr/>
        </p:nvSpPr>
        <p:spPr>
          <a:xfrm>
            <a:off x="548640" y="1389888"/>
            <a:ext cx="10972800" cy="786384"/>
          </a:xfrm>
          <a:prstGeom prst="rect">
            <a:avLst/>
          </a:prstGeom>
          <a:noFill/>
        </p:spPr>
        <p:txBody>
          <a:bodyPr wrap="square">
            <a:spAutoFit/>
          </a:bodyPr>
          <a:lstStyle/>
          <a:p>
            <a:pPr algn="l"/>
            <a:r>
              <a:rPr sz="4400" b="1" i="0">
                <a:solidFill>
                  <a:srgbClr val="FFFFFF"/>
                </a:solidFill>
              </a:rPr>
              <a:t>The Revenue Engine.</a:t>
            </a:r>
          </a:p>
        </p:txBody>
      </p:sp>
      <p:sp>
        <p:nvSpPr>
          <p:cNvPr id="10" name="TextBox 9"/>
          <p:cNvSpPr txBox="1"/>
          <p:nvPr/>
        </p:nvSpPr>
        <p:spPr>
          <a:xfrm>
            <a:off x="548640" y="2176272"/>
            <a:ext cx="10972800" cy="457200"/>
          </a:xfrm>
          <a:prstGeom prst="rect">
            <a:avLst/>
          </a:prstGeom>
          <a:noFill/>
        </p:spPr>
        <p:txBody>
          <a:bodyPr wrap="square">
            <a:spAutoFit/>
          </a:bodyPr>
          <a:lstStyle/>
          <a:p>
            <a:pPr algn="l"/>
            <a:r>
              <a:rPr sz="1800" b="1" i="0">
                <a:solidFill>
                  <a:srgbClr val="E8B830"/>
                </a:solidFill>
              </a:rPr>
              <a:t>Signal-Triggered. SDR-Powered. 3-4 Demos in Month 1. Guaranteed.</a:t>
            </a:r>
          </a:p>
        </p:txBody>
      </p:sp>
      <p:sp>
        <p:nvSpPr>
          <p:cNvPr id="11" name="Rectangle 10"/>
          <p:cNvSpPr/>
          <p:nvPr/>
        </p:nvSpPr>
        <p:spPr>
          <a:xfrm>
            <a:off x="548640" y="2798064"/>
            <a:ext cx="5486400" cy="36576"/>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926080"/>
            <a:ext cx="10241280" cy="402336"/>
          </a:xfrm>
          <a:prstGeom prst="rect">
            <a:avLst/>
          </a:prstGeom>
          <a:noFill/>
        </p:spPr>
        <p:txBody>
          <a:bodyPr wrap="square">
            <a:spAutoFit/>
          </a:bodyPr>
          <a:lstStyle/>
          <a:p>
            <a:pPr algn="l"/>
            <a:r>
              <a:rPr sz="1100" b="0" i="1">
                <a:solidFill>
                  <a:srgbClr val="CCCCD8"/>
                </a:solidFill>
              </a:rPr>
              <a:t>A complete GTM build plan for QR Floor Genie — the signals, the sequences, the channels, and the timeline.</a:t>
            </a:r>
          </a:p>
        </p:txBody>
      </p:sp>
      <p:sp>
        <p:nvSpPr>
          <p:cNvPr id="13" name="Rectangle 12"/>
          <p:cNvSpPr/>
          <p:nvPr/>
        </p:nvSpPr>
        <p:spPr>
          <a:xfrm>
            <a:off x="411480" y="3822191"/>
            <a:ext cx="2651760" cy="914400"/>
          </a:xfrm>
          <a:prstGeom prst="rect">
            <a:avLst/>
          </a:prstGeom>
          <a:solidFill>
            <a:srgbClr val="26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11480" y="3822191"/>
            <a:ext cx="2651760" cy="45720"/>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57784" y="3913631"/>
            <a:ext cx="2377440" cy="457200"/>
          </a:xfrm>
          <a:prstGeom prst="rect">
            <a:avLst/>
          </a:prstGeom>
          <a:noFill/>
        </p:spPr>
        <p:txBody>
          <a:bodyPr wrap="square">
            <a:spAutoFit/>
          </a:bodyPr>
          <a:lstStyle/>
          <a:p>
            <a:pPr algn="l"/>
            <a:r>
              <a:rPr sz="2600" b="1" i="0">
                <a:solidFill>
                  <a:srgbClr val="E8B830"/>
                </a:solidFill>
              </a:rPr>
              <a:t>11,900</a:t>
            </a:r>
          </a:p>
        </p:txBody>
      </p:sp>
      <p:sp>
        <p:nvSpPr>
          <p:cNvPr id="16" name="TextBox 15"/>
          <p:cNvSpPr txBox="1"/>
          <p:nvPr/>
        </p:nvSpPr>
        <p:spPr>
          <a:xfrm>
            <a:off x="557784" y="4352544"/>
            <a:ext cx="2377440" cy="310896"/>
          </a:xfrm>
          <a:prstGeom prst="rect">
            <a:avLst/>
          </a:prstGeom>
          <a:noFill/>
        </p:spPr>
        <p:txBody>
          <a:bodyPr wrap="square">
            <a:spAutoFit/>
          </a:bodyPr>
          <a:lstStyle/>
          <a:p>
            <a:pPr algn="l"/>
            <a:r>
              <a:rPr sz="850" b="0" i="0">
                <a:solidFill>
                  <a:srgbClr val="CCCCD8"/>
                </a:solidFill>
              </a:rPr>
              <a:t>stores on paper pricing</a:t>
            </a:r>
          </a:p>
        </p:txBody>
      </p:sp>
      <p:sp>
        <p:nvSpPr>
          <p:cNvPr id="17" name="Rectangle 16"/>
          <p:cNvSpPr/>
          <p:nvPr/>
        </p:nvSpPr>
        <p:spPr>
          <a:xfrm>
            <a:off x="3337560" y="3822191"/>
            <a:ext cx="2651760" cy="914400"/>
          </a:xfrm>
          <a:prstGeom prst="rect">
            <a:avLst/>
          </a:prstGeom>
          <a:solidFill>
            <a:srgbClr val="26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337560" y="3822191"/>
            <a:ext cx="2651760" cy="45720"/>
          </a:xfrm>
          <a:prstGeom prst="rect">
            <a:avLst/>
          </a:prstGeom>
          <a:solidFill>
            <a:srgbClr val="F0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483864" y="3913631"/>
            <a:ext cx="2377440" cy="457200"/>
          </a:xfrm>
          <a:prstGeom prst="rect">
            <a:avLst/>
          </a:prstGeom>
          <a:noFill/>
        </p:spPr>
        <p:txBody>
          <a:bodyPr wrap="square">
            <a:spAutoFit/>
          </a:bodyPr>
          <a:lstStyle/>
          <a:p>
            <a:pPr algn="l"/>
            <a:r>
              <a:rPr sz="2600" b="1" i="0">
                <a:solidFill>
                  <a:srgbClr val="F0A020"/>
                </a:solidFill>
              </a:rPr>
              <a:t>5</a:t>
            </a:r>
          </a:p>
        </p:txBody>
      </p:sp>
      <p:sp>
        <p:nvSpPr>
          <p:cNvPr id="20" name="TextBox 19"/>
          <p:cNvSpPr txBox="1"/>
          <p:nvPr/>
        </p:nvSpPr>
        <p:spPr>
          <a:xfrm>
            <a:off x="3483864" y="4352544"/>
            <a:ext cx="2377440" cy="310896"/>
          </a:xfrm>
          <a:prstGeom prst="rect">
            <a:avLst/>
          </a:prstGeom>
          <a:noFill/>
        </p:spPr>
        <p:txBody>
          <a:bodyPr wrap="square">
            <a:spAutoFit/>
          </a:bodyPr>
          <a:lstStyle/>
          <a:p>
            <a:pPr algn="l"/>
            <a:r>
              <a:rPr sz="850" b="0" i="0">
                <a:solidFill>
                  <a:srgbClr val="CCCCD8"/>
                </a:solidFill>
              </a:rPr>
              <a:t>signal triggers wired up</a:t>
            </a:r>
          </a:p>
        </p:txBody>
      </p:sp>
      <p:sp>
        <p:nvSpPr>
          <p:cNvPr id="21" name="Rectangle 20"/>
          <p:cNvSpPr/>
          <p:nvPr/>
        </p:nvSpPr>
        <p:spPr>
          <a:xfrm>
            <a:off x="6263640" y="3822191"/>
            <a:ext cx="2651760" cy="914400"/>
          </a:xfrm>
          <a:prstGeom prst="rect">
            <a:avLst/>
          </a:prstGeom>
          <a:solidFill>
            <a:srgbClr val="26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63640" y="3822191"/>
            <a:ext cx="2651760" cy="45720"/>
          </a:xfrm>
          <a:prstGeom prst="rect">
            <a:avLst/>
          </a:prstGeom>
          <a:solidFill>
            <a:srgbClr val="28C8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9944" y="3913631"/>
            <a:ext cx="2377440" cy="457200"/>
          </a:xfrm>
          <a:prstGeom prst="rect">
            <a:avLst/>
          </a:prstGeom>
          <a:noFill/>
        </p:spPr>
        <p:txBody>
          <a:bodyPr wrap="square">
            <a:spAutoFit/>
          </a:bodyPr>
          <a:lstStyle/>
          <a:p>
            <a:pPr algn="l"/>
            <a:r>
              <a:rPr sz="2600" b="1" i="0">
                <a:solidFill>
                  <a:srgbClr val="28C870"/>
                </a:solidFill>
              </a:rPr>
              <a:t>14</a:t>
            </a:r>
          </a:p>
        </p:txBody>
      </p:sp>
      <p:sp>
        <p:nvSpPr>
          <p:cNvPr id="24" name="TextBox 23"/>
          <p:cNvSpPr txBox="1"/>
          <p:nvPr/>
        </p:nvSpPr>
        <p:spPr>
          <a:xfrm>
            <a:off x="6409944" y="4352544"/>
            <a:ext cx="2377440" cy="310896"/>
          </a:xfrm>
          <a:prstGeom prst="rect">
            <a:avLst/>
          </a:prstGeom>
          <a:noFill/>
        </p:spPr>
        <p:txBody>
          <a:bodyPr wrap="square">
            <a:spAutoFit/>
          </a:bodyPr>
          <a:lstStyle/>
          <a:p>
            <a:pPr algn="l"/>
            <a:r>
              <a:rPr sz="850" b="0" i="0">
                <a:solidFill>
                  <a:srgbClr val="CCCCD8"/>
                </a:solidFill>
              </a:rPr>
              <a:t>days to first sequences live</a:t>
            </a:r>
          </a:p>
        </p:txBody>
      </p:sp>
      <p:sp>
        <p:nvSpPr>
          <p:cNvPr id="25" name="Rectangle 24"/>
          <p:cNvSpPr/>
          <p:nvPr/>
        </p:nvSpPr>
        <p:spPr>
          <a:xfrm>
            <a:off x="9189720" y="3822191"/>
            <a:ext cx="2651760" cy="914400"/>
          </a:xfrm>
          <a:prstGeom prst="rect">
            <a:avLst/>
          </a:prstGeom>
          <a:solidFill>
            <a:srgbClr val="26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189720" y="3822191"/>
            <a:ext cx="2651760" cy="45720"/>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36024" y="3913631"/>
            <a:ext cx="2377440" cy="457200"/>
          </a:xfrm>
          <a:prstGeom prst="rect">
            <a:avLst/>
          </a:prstGeom>
          <a:noFill/>
        </p:spPr>
        <p:txBody>
          <a:bodyPr wrap="square">
            <a:spAutoFit/>
          </a:bodyPr>
          <a:lstStyle/>
          <a:p>
            <a:pPr algn="l"/>
            <a:r>
              <a:rPr sz="2600" b="1" i="0">
                <a:solidFill>
                  <a:srgbClr val="E8B830"/>
                </a:solidFill>
              </a:rPr>
              <a:t>3-4</a:t>
            </a:r>
          </a:p>
        </p:txBody>
      </p:sp>
      <p:sp>
        <p:nvSpPr>
          <p:cNvPr id="28" name="TextBox 27"/>
          <p:cNvSpPr txBox="1"/>
          <p:nvPr/>
        </p:nvSpPr>
        <p:spPr>
          <a:xfrm>
            <a:off x="9336024" y="4352544"/>
            <a:ext cx="2377440" cy="310896"/>
          </a:xfrm>
          <a:prstGeom prst="rect">
            <a:avLst/>
          </a:prstGeom>
          <a:noFill/>
        </p:spPr>
        <p:txBody>
          <a:bodyPr wrap="square">
            <a:spAutoFit/>
          </a:bodyPr>
          <a:lstStyle/>
          <a:p>
            <a:pPr algn="l"/>
            <a:r>
              <a:rPr sz="850" b="0" i="0">
                <a:solidFill>
                  <a:srgbClr val="CCCCD8"/>
                </a:solidFill>
              </a:rPr>
              <a:t>demos guaranteed — Month 1</a:t>
            </a:r>
          </a:p>
        </p:txBody>
      </p:sp>
      <p:sp>
        <p:nvSpPr>
          <p:cNvPr id="29" name="TextBox 28"/>
          <p:cNvSpPr txBox="1"/>
          <p:nvPr/>
        </p:nvSpPr>
        <p:spPr>
          <a:xfrm>
            <a:off x="548640" y="6446520"/>
            <a:ext cx="11064240" cy="310896"/>
          </a:xfrm>
          <a:prstGeom prst="rect">
            <a:avLst/>
          </a:prstGeom>
          <a:noFill/>
        </p:spPr>
        <p:txBody>
          <a:bodyPr wrap="square">
            <a:spAutoFit/>
          </a:bodyPr>
          <a:lstStyle/>
          <a:p>
            <a:pPr algn="ctr"/>
            <a:r>
              <a:rPr sz="900" b="0" i="0">
                <a:solidFill>
                  <a:srgbClr val="888899"/>
                </a:solidFill>
              </a:rPr>
              <a:t>SELLL.io  |  Signal-Intelligent Revenue Engine  |  cal.com/collins-ogiki-x4fokk/30min</a:t>
            </a:r>
          </a:p>
        </p:txBody>
      </p:sp>
      <p:sp>
        <p:nvSpPr>
          <p:cNvPr id="30" name="TextBox 29"/>
          <p:cNvSpPr txBox="1"/>
          <p:nvPr/>
        </p:nvSpPr>
        <p:spPr>
          <a:xfrm>
            <a:off x="11722608" y="6492240"/>
            <a:ext cx="420624" cy="310896"/>
          </a:xfrm>
          <a:prstGeom prst="rect">
            <a:avLst/>
          </a:prstGeom>
          <a:noFill/>
        </p:spPr>
        <p:txBody>
          <a:bodyPr wrap="square">
            <a:spAutoFit/>
          </a:bodyPr>
          <a:lstStyle/>
          <a:p>
            <a:pPr algn="r"/>
            <a:r>
              <a:rPr sz="900" b="0" i="0">
                <a:solidFill>
                  <a:srgbClr val="888899"/>
                </a:solidFill>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CF0"/>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4864" cy="6858000"/>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82880"/>
            <a:ext cx="7315200" cy="347472"/>
          </a:xfrm>
          <a:prstGeom prst="rect">
            <a:avLst/>
          </a:prstGeom>
          <a:noFill/>
        </p:spPr>
        <p:txBody>
          <a:bodyPr wrap="square">
            <a:spAutoFit/>
          </a:bodyPr>
          <a:lstStyle/>
          <a:p>
            <a:pPr algn="l"/>
            <a:r>
              <a:rPr sz="900" b="1" i="0">
                <a:solidFill>
                  <a:srgbClr val="B8860B"/>
                </a:solidFill>
              </a:rPr>
              <a:t>THE MISSION</a:t>
            </a:r>
          </a:p>
        </p:txBody>
      </p:sp>
      <p:sp>
        <p:nvSpPr>
          <p:cNvPr id="5" name="TextBox 4"/>
          <p:cNvSpPr txBox="1"/>
          <p:nvPr/>
        </p:nvSpPr>
        <p:spPr>
          <a:xfrm>
            <a:off x="502920" y="566928"/>
            <a:ext cx="9601200" cy="1170432"/>
          </a:xfrm>
          <a:prstGeom prst="rect">
            <a:avLst/>
          </a:prstGeom>
          <a:noFill/>
        </p:spPr>
        <p:txBody>
          <a:bodyPr wrap="square">
            <a:spAutoFit/>
          </a:bodyPr>
          <a:lstStyle/>
          <a:p>
            <a:pPr algn="l"/>
            <a:r>
              <a:rPr sz="3600" b="1" i="0">
                <a:solidFill>
                  <a:srgbClr val="1A1A2E"/>
                </a:solidFill>
              </a:rPr>
              <a:t>One Goal.
Three to Four Demos. Month One.</a:t>
            </a:r>
          </a:p>
        </p:txBody>
      </p:sp>
      <p:sp>
        <p:nvSpPr>
          <p:cNvPr id="6" name="TextBox 5"/>
          <p:cNvSpPr txBox="1"/>
          <p:nvPr/>
        </p:nvSpPr>
        <p:spPr>
          <a:xfrm>
            <a:off x="502920" y="1847088"/>
            <a:ext cx="10058400" cy="365760"/>
          </a:xfrm>
          <a:prstGeom prst="rect">
            <a:avLst/>
          </a:prstGeom>
          <a:noFill/>
        </p:spPr>
        <p:txBody>
          <a:bodyPr wrap="square">
            <a:spAutoFit/>
          </a:bodyPr>
          <a:lstStyle/>
          <a:p>
            <a:pPr algn="l"/>
            <a:r>
              <a:rPr sz="1100" b="0" i="1">
                <a:solidFill>
                  <a:srgbClr val="888899"/>
                </a:solidFill>
              </a:rPr>
              <a:t>Everything we build serves this number. Not impressions. Not replies. Demos.</a:t>
            </a:r>
          </a:p>
        </p:txBody>
      </p:sp>
      <p:sp>
        <p:nvSpPr>
          <p:cNvPr id="7" name="Rectangle 6"/>
          <p:cNvSpPr/>
          <p:nvPr/>
        </p:nvSpPr>
        <p:spPr>
          <a:xfrm>
            <a:off x="502920" y="2304288"/>
            <a:ext cx="11247120" cy="36576"/>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8912" y="2432304"/>
            <a:ext cx="5650992" cy="1627632"/>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8912" y="2432304"/>
            <a:ext cx="45720" cy="1627632"/>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560320"/>
            <a:ext cx="5285232" cy="347472"/>
          </a:xfrm>
          <a:prstGeom prst="rect">
            <a:avLst/>
          </a:prstGeom>
          <a:noFill/>
        </p:spPr>
        <p:txBody>
          <a:bodyPr wrap="square">
            <a:spAutoFit/>
          </a:bodyPr>
          <a:lstStyle/>
          <a:p>
            <a:pPr algn="l"/>
            <a:r>
              <a:rPr sz="950" b="1" i="0">
                <a:solidFill>
                  <a:srgbClr val="E8B830"/>
                </a:solidFill>
              </a:rPr>
              <a:t>THE PROBLEM IS NOT YOUR PRODUCT.</a:t>
            </a:r>
          </a:p>
        </p:txBody>
      </p:sp>
      <p:sp>
        <p:nvSpPr>
          <p:cNvPr id="11" name="TextBox 10"/>
          <p:cNvSpPr txBox="1"/>
          <p:nvPr/>
        </p:nvSpPr>
        <p:spPr>
          <a:xfrm>
            <a:off x="640080" y="2962656"/>
            <a:ext cx="5285232" cy="1005840"/>
          </a:xfrm>
          <a:prstGeom prst="rect">
            <a:avLst/>
          </a:prstGeom>
          <a:noFill/>
        </p:spPr>
        <p:txBody>
          <a:bodyPr wrap="square">
            <a:spAutoFit/>
          </a:bodyPr>
          <a:lstStyle/>
          <a:p>
            <a:pPr algn="l"/>
            <a:r>
              <a:rPr sz="900" b="0" i="0">
                <a:solidFill>
                  <a:srgbClr val="CCCCD8"/>
                </a:solidFill>
              </a:rPr>
              <a:t>QR Floor Genie solves a documented, quantified pain. 67% of US flooring stores still run paper price sheets. That is 11,900 stores who need what you built. The problem is not product-market fit. It is reach.</a:t>
            </a:r>
          </a:p>
        </p:txBody>
      </p:sp>
      <p:sp>
        <p:nvSpPr>
          <p:cNvPr id="12" name="Rectangle 11"/>
          <p:cNvSpPr/>
          <p:nvPr/>
        </p:nvSpPr>
        <p:spPr>
          <a:xfrm>
            <a:off x="6309360" y="2432304"/>
            <a:ext cx="5650992" cy="1627632"/>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09360" y="2432304"/>
            <a:ext cx="45720" cy="1627632"/>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10528" y="2560320"/>
            <a:ext cx="5285232" cy="347472"/>
          </a:xfrm>
          <a:prstGeom prst="rect">
            <a:avLst/>
          </a:prstGeom>
          <a:noFill/>
        </p:spPr>
        <p:txBody>
          <a:bodyPr wrap="square">
            <a:spAutoFit/>
          </a:bodyPr>
          <a:lstStyle/>
          <a:p>
            <a:pPr algn="l"/>
            <a:r>
              <a:rPr sz="950" b="1" i="0">
                <a:solidFill>
                  <a:srgbClr val="E8B830"/>
                </a:solidFill>
              </a:rPr>
              <a:t>THE PROBLEM IS NOT YOUR CHANNEL.</a:t>
            </a:r>
          </a:p>
        </p:txBody>
      </p:sp>
      <p:sp>
        <p:nvSpPr>
          <p:cNvPr id="15" name="TextBox 14"/>
          <p:cNvSpPr txBox="1"/>
          <p:nvPr/>
        </p:nvSpPr>
        <p:spPr>
          <a:xfrm>
            <a:off x="6510528" y="2962656"/>
            <a:ext cx="5285232" cy="1005840"/>
          </a:xfrm>
          <a:prstGeom prst="rect">
            <a:avLst/>
          </a:prstGeom>
          <a:noFill/>
        </p:spPr>
        <p:txBody>
          <a:bodyPr wrap="square">
            <a:spAutoFit/>
          </a:bodyPr>
          <a:lstStyle/>
          <a:p>
            <a:pPr algn="l"/>
            <a:r>
              <a:rPr sz="900" b="0" i="0">
                <a:solidFill>
                  <a:srgbClr val="CCCCD8"/>
                </a:solidFill>
              </a:rPr>
              <a:t>You are getting a 15-16% connect rate on cold calls. That is strong for this ICP. Flooring store owners pick up the phone. The problem is that the calls are going to the wrong stores at the wrong time.</a:t>
            </a:r>
          </a:p>
        </p:txBody>
      </p:sp>
      <p:sp>
        <p:nvSpPr>
          <p:cNvPr id="16" name="Rectangle 15"/>
          <p:cNvSpPr/>
          <p:nvPr/>
        </p:nvSpPr>
        <p:spPr>
          <a:xfrm>
            <a:off x="438912" y="4242816"/>
            <a:ext cx="5650992" cy="1627632"/>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8912" y="4242816"/>
            <a:ext cx="45720" cy="1627632"/>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4370832"/>
            <a:ext cx="5285232" cy="347472"/>
          </a:xfrm>
          <a:prstGeom prst="rect">
            <a:avLst/>
          </a:prstGeom>
          <a:noFill/>
        </p:spPr>
        <p:txBody>
          <a:bodyPr wrap="square">
            <a:spAutoFit/>
          </a:bodyPr>
          <a:lstStyle/>
          <a:p>
            <a:pPr algn="l"/>
            <a:r>
              <a:rPr sz="950" b="1" i="0">
                <a:solidFill>
                  <a:srgbClr val="E8B830"/>
                </a:solidFill>
              </a:rPr>
              <a:t>THE PROBLEM IS TIMING AND TARGETING.</a:t>
            </a:r>
          </a:p>
        </p:txBody>
      </p:sp>
      <p:sp>
        <p:nvSpPr>
          <p:cNvPr id="19" name="TextBox 18"/>
          <p:cNvSpPr txBox="1"/>
          <p:nvPr/>
        </p:nvSpPr>
        <p:spPr>
          <a:xfrm>
            <a:off x="640080" y="4773168"/>
            <a:ext cx="5285232" cy="1005840"/>
          </a:xfrm>
          <a:prstGeom prst="rect">
            <a:avLst/>
          </a:prstGeom>
          <a:noFill/>
        </p:spPr>
        <p:txBody>
          <a:bodyPr wrap="square">
            <a:spAutoFit/>
          </a:bodyPr>
          <a:lstStyle/>
          <a:p>
            <a:pPr algn="l"/>
            <a:r>
              <a:rPr sz="900" b="0" i="0">
                <a:solidFill>
                  <a:srgbClr val="CCCCD8"/>
                </a:solidFill>
              </a:rPr>
              <a:t>Your Apollo-Smartlead setup treats every store on the list equally. It does not know who just opened last week, who just hired a showroom manager, who just got a bad Google review about pricing confusion. We do.</a:t>
            </a:r>
          </a:p>
        </p:txBody>
      </p:sp>
      <p:sp>
        <p:nvSpPr>
          <p:cNvPr id="20" name="Rectangle 19"/>
          <p:cNvSpPr/>
          <p:nvPr/>
        </p:nvSpPr>
        <p:spPr>
          <a:xfrm>
            <a:off x="6309360" y="4242816"/>
            <a:ext cx="5650992" cy="1627632"/>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09360" y="4242816"/>
            <a:ext cx="45720" cy="1627632"/>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10528" y="4370832"/>
            <a:ext cx="5285232" cy="347472"/>
          </a:xfrm>
          <a:prstGeom prst="rect">
            <a:avLst/>
          </a:prstGeom>
          <a:noFill/>
        </p:spPr>
        <p:txBody>
          <a:bodyPr wrap="square">
            <a:spAutoFit/>
          </a:bodyPr>
          <a:lstStyle/>
          <a:p>
            <a:pPr algn="l"/>
            <a:r>
              <a:rPr sz="950" b="1" i="0">
                <a:solidFill>
                  <a:srgbClr val="E8B830"/>
                </a:solidFill>
              </a:rPr>
              <a:t>THE SOLUTION IS A SIGNAL LAYER.</a:t>
            </a:r>
          </a:p>
        </p:txBody>
      </p:sp>
      <p:sp>
        <p:nvSpPr>
          <p:cNvPr id="23" name="TextBox 22"/>
          <p:cNvSpPr txBox="1"/>
          <p:nvPr/>
        </p:nvSpPr>
        <p:spPr>
          <a:xfrm>
            <a:off x="6510528" y="4773168"/>
            <a:ext cx="5285232" cy="1005840"/>
          </a:xfrm>
          <a:prstGeom prst="rect">
            <a:avLst/>
          </a:prstGeom>
          <a:noFill/>
        </p:spPr>
        <p:txBody>
          <a:bodyPr wrap="square">
            <a:spAutoFit/>
          </a:bodyPr>
          <a:lstStyle/>
          <a:p>
            <a:pPr algn="l"/>
            <a:r>
              <a:rPr sz="900" b="0" i="0">
                <a:solidFill>
                  <a:srgbClr val="CCCCD8"/>
                </a:solidFill>
              </a:rPr>
              <a:t>We build a system that detects five specific buying events in your ICP and fires a cold call + email + LinkedIn sequence within 24 hours of each event. Right channel. Right store. Right moment. That is how you get to 3-4 demos in Month 1 — and 6-8 by Month 3.</a:t>
            </a:r>
          </a:p>
        </p:txBody>
      </p:sp>
      <p:sp>
        <p:nvSpPr>
          <p:cNvPr id="24" name="TextBox 23"/>
          <p:cNvSpPr txBox="1"/>
          <p:nvPr/>
        </p:nvSpPr>
        <p:spPr>
          <a:xfrm>
            <a:off x="11722608" y="6492240"/>
            <a:ext cx="420624" cy="310896"/>
          </a:xfrm>
          <a:prstGeom prst="rect">
            <a:avLst/>
          </a:prstGeom>
          <a:noFill/>
        </p:spPr>
        <p:txBody>
          <a:bodyPr wrap="square">
            <a:spAutoFit/>
          </a:bodyPr>
          <a:lstStyle/>
          <a:p>
            <a:pPr algn="r"/>
            <a:r>
              <a:rPr sz="900" b="0" i="0">
                <a:solidFill>
                  <a:srgbClr val="888899"/>
                </a:solidFil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64008" cy="6858000"/>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 y="0"/>
            <a:ext cx="12124944" cy="36576"/>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9144000" cy="347472"/>
          </a:xfrm>
          <a:prstGeom prst="rect">
            <a:avLst/>
          </a:prstGeom>
          <a:noFill/>
        </p:spPr>
        <p:txBody>
          <a:bodyPr wrap="square">
            <a:spAutoFit/>
          </a:bodyPr>
          <a:lstStyle/>
          <a:p>
            <a:pPr algn="l"/>
            <a:r>
              <a:rPr sz="900" b="1" i="0">
                <a:solidFill>
                  <a:srgbClr val="E8B830"/>
                </a:solidFill>
              </a:rPr>
              <a:t>THE SIGNAL ARCHITECTURE</a:t>
            </a:r>
          </a:p>
        </p:txBody>
      </p:sp>
      <p:sp>
        <p:nvSpPr>
          <p:cNvPr id="5" name="TextBox 4"/>
          <p:cNvSpPr txBox="1"/>
          <p:nvPr/>
        </p:nvSpPr>
        <p:spPr>
          <a:xfrm>
            <a:off x="502920" y="566928"/>
            <a:ext cx="9601200" cy="1005840"/>
          </a:xfrm>
          <a:prstGeom prst="rect">
            <a:avLst/>
          </a:prstGeom>
          <a:noFill/>
        </p:spPr>
        <p:txBody>
          <a:bodyPr wrap="square">
            <a:spAutoFit/>
          </a:bodyPr>
          <a:lstStyle/>
          <a:p>
            <a:pPr algn="l"/>
            <a:r>
              <a:rPr sz="3400" b="1" i="0">
                <a:solidFill>
                  <a:srgbClr val="FFFFFF"/>
                </a:solidFill>
              </a:rPr>
              <a:t>Five Triggers. Every Sequence
Fires Within 24 Hours.</a:t>
            </a:r>
          </a:p>
        </p:txBody>
      </p:sp>
      <p:sp>
        <p:nvSpPr>
          <p:cNvPr id="6" name="TextBox 5"/>
          <p:cNvSpPr txBox="1"/>
          <p:nvPr/>
        </p:nvSpPr>
        <p:spPr>
          <a:xfrm>
            <a:off x="502920" y="1664208"/>
            <a:ext cx="10515600" cy="347472"/>
          </a:xfrm>
          <a:prstGeom prst="rect">
            <a:avLst/>
          </a:prstGeom>
          <a:noFill/>
        </p:spPr>
        <p:txBody>
          <a:bodyPr wrap="square">
            <a:spAutoFit/>
          </a:bodyPr>
          <a:lstStyle/>
          <a:p>
            <a:pPr algn="l"/>
            <a:r>
              <a:rPr sz="1100" b="0" i="1">
                <a:solidFill>
                  <a:srgbClr val="CCCCD8"/>
                </a:solidFill>
              </a:rPr>
              <a:t>No generic lists. No spray-and-pray. Every contact triggered by a specific buying event.</a:t>
            </a:r>
          </a:p>
        </p:txBody>
      </p:sp>
      <p:sp>
        <p:nvSpPr>
          <p:cNvPr id="7" name="Rectangle 6"/>
          <p:cNvSpPr/>
          <p:nvPr/>
        </p:nvSpPr>
        <p:spPr>
          <a:xfrm>
            <a:off x="502920" y="2103120"/>
            <a:ext cx="11247120" cy="36576"/>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8912" y="2231136"/>
            <a:ext cx="5687568" cy="1719072"/>
          </a:xfrm>
          <a:prstGeom prst="rect">
            <a:avLst/>
          </a:prstGeom>
          <a:solidFill>
            <a:srgbClr val="26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8912" y="2231136"/>
            <a:ext cx="5687568" cy="45720"/>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3503" y="2340864"/>
            <a:ext cx="5413248" cy="329184"/>
          </a:xfrm>
          <a:prstGeom prst="rect">
            <a:avLst/>
          </a:prstGeom>
          <a:noFill/>
        </p:spPr>
        <p:txBody>
          <a:bodyPr wrap="square">
            <a:spAutoFit/>
          </a:bodyPr>
          <a:lstStyle/>
          <a:p>
            <a:pPr algn="l"/>
            <a:r>
              <a:rPr sz="950" b="1" i="0">
                <a:solidFill>
                  <a:srgbClr val="E8B830"/>
                </a:solidFill>
              </a:rPr>
              <a:t>01  NEW STORE OPENING</a:t>
            </a:r>
          </a:p>
        </p:txBody>
      </p:sp>
      <p:sp>
        <p:nvSpPr>
          <p:cNvPr id="11" name="TextBox 10"/>
          <p:cNvSpPr txBox="1"/>
          <p:nvPr/>
        </p:nvSpPr>
        <p:spPr>
          <a:xfrm>
            <a:off x="603503" y="2724912"/>
            <a:ext cx="5413248" cy="1133856"/>
          </a:xfrm>
          <a:prstGeom prst="rect">
            <a:avLst/>
          </a:prstGeom>
          <a:noFill/>
        </p:spPr>
        <p:txBody>
          <a:bodyPr wrap="square">
            <a:spAutoFit/>
          </a:bodyPr>
          <a:lstStyle/>
          <a:p>
            <a:pPr algn="l"/>
            <a:r>
              <a:rPr sz="850" b="0" i="0">
                <a:solidFill>
                  <a:srgbClr val="CCCCD8"/>
                </a:solidFill>
              </a:rPr>
              <a:t>Source: Google Maps, business registrations
Window: Within 7 days of opening
Why: No legacy system. Every vendor decision open.
Sequence: Call D1 + Email D2 + LinkedIn D5</a:t>
            </a:r>
          </a:p>
        </p:txBody>
      </p:sp>
      <p:sp>
        <p:nvSpPr>
          <p:cNvPr id="12" name="Rectangle 11"/>
          <p:cNvSpPr/>
          <p:nvPr/>
        </p:nvSpPr>
        <p:spPr>
          <a:xfrm>
            <a:off x="6345936" y="2231136"/>
            <a:ext cx="5687568" cy="1719072"/>
          </a:xfrm>
          <a:prstGeom prst="rect">
            <a:avLst/>
          </a:prstGeom>
          <a:solidFill>
            <a:srgbClr val="26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45936" y="2231136"/>
            <a:ext cx="5687568" cy="45720"/>
          </a:xfrm>
          <a:prstGeom prst="rect">
            <a:avLst/>
          </a:prstGeom>
          <a:solidFill>
            <a:srgbClr val="F0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10528" y="2340864"/>
            <a:ext cx="5413248" cy="329184"/>
          </a:xfrm>
          <a:prstGeom prst="rect">
            <a:avLst/>
          </a:prstGeom>
          <a:noFill/>
        </p:spPr>
        <p:txBody>
          <a:bodyPr wrap="square">
            <a:spAutoFit/>
          </a:bodyPr>
          <a:lstStyle/>
          <a:p>
            <a:pPr algn="l"/>
            <a:r>
              <a:rPr sz="950" b="1" i="0">
                <a:solidFill>
                  <a:srgbClr val="F0A020"/>
                </a:solidFill>
              </a:rPr>
              <a:t>02  SHOWROOM MANAGER HIRE</a:t>
            </a:r>
          </a:p>
        </p:txBody>
      </p:sp>
      <p:sp>
        <p:nvSpPr>
          <p:cNvPr id="15" name="TextBox 14"/>
          <p:cNvSpPr txBox="1"/>
          <p:nvPr/>
        </p:nvSpPr>
        <p:spPr>
          <a:xfrm>
            <a:off x="6510528" y="2724912"/>
            <a:ext cx="5413248" cy="1133856"/>
          </a:xfrm>
          <a:prstGeom prst="rect">
            <a:avLst/>
          </a:prstGeom>
          <a:noFill/>
        </p:spPr>
        <p:txBody>
          <a:bodyPr wrap="square">
            <a:spAutoFit/>
          </a:bodyPr>
          <a:lstStyle/>
          <a:p>
            <a:pPr algn="l"/>
            <a:r>
              <a:rPr sz="850" b="0" i="0">
                <a:solidFill>
                  <a:srgbClr val="CCCCD8"/>
                </a:solidFill>
              </a:rPr>
              <a:t>Source: LinkedIn, Indeed, ZipRecruiter
Window: Within 3 days of posting
Why: New hire = training liability = urgency to modernise.
Sequence: Call D1 + Email D3</a:t>
            </a:r>
          </a:p>
        </p:txBody>
      </p:sp>
      <p:sp>
        <p:nvSpPr>
          <p:cNvPr id="16" name="Rectangle 15"/>
          <p:cNvSpPr/>
          <p:nvPr/>
        </p:nvSpPr>
        <p:spPr>
          <a:xfrm>
            <a:off x="438912" y="4169663"/>
            <a:ext cx="5687568" cy="1719072"/>
          </a:xfrm>
          <a:prstGeom prst="rect">
            <a:avLst/>
          </a:prstGeom>
          <a:solidFill>
            <a:srgbClr val="26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8912" y="4169663"/>
            <a:ext cx="5687568" cy="45720"/>
          </a:xfrm>
          <a:prstGeom prst="rect">
            <a:avLst/>
          </a:prstGeom>
          <a:solidFill>
            <a:srgbClr val="E8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3503" y="4279392"/>
            <a:ext cx="5413248" cy="329184"/>
          </a:xfrm>
          <a:prstGeom prst="rect">
            <a:avLst/>
          </a:prstGeom>
          <a:noFill/>
        </p:spPr>
        <p:txBody>
          <a:bodyPr wrap="square">
            <a:spAutoFit/>
          </a:bodyPr>
          <a:lstStyle/>
          <a:p>
            <a:pPr algn="l"/>
            <a:r>
              <a:rPr sz="950" b="1" i="0">
                <a:solidFill>
                  <a:srgbClr val="E84040"/>
                </a:solidFill>
              </a:rPr>
              <a:t>03  POOR GOOGLE REVIEWS</a:t>
            </a:r>
          </a:p>
        </p:txBody>
      </p:sp>
      <p:sp>
        <p:nvSpPr>
          <p:cNvPr id="19" name="TextBox 18"/>
          <p:cNvSpPr txBox="1"/>
          <p:nvPr/>
        </p:nvSpPr>
        <p:spPr>
          <a:xfrm>
            <a:off x="603503" y="4663440"/>
            <a:ext cx="5413248" cy="1133856"/>
          </a:xfrm>
          <a:prstGeom prst="rect">
            <a:avLst/>
          </a:prstGeom>
          <a:noFill/>
        </p:spPr>
        <p:txBody>
          <a:bodyPr wrap="square">
            <a:spAutoFit/>
          </a:bodyPr>
          <a:lstStyle/>
          <a:p>
            <a:pPr algn="l"/>
            <a:r>
              <a:rPr sz="850" b="0" i="0">
                <a:solidFill>
                  <a:srgbClr val="CCCCD8"/>
                </a:solidFill>
              </a:rPr>
              <a:t>Source: Google Reviews API — pricing keywords
Window: Same week as review posted
Why: Public evidence of the exact pain you solve.
Sequence: Email D1 + Call D3</a:t>
            </a:r>
          </a:p>
        </p:txBody>
      </p:sp>
      <p:sp>
        <p:nvSpPr>
          <p:cNvPr id="20" name="Rectangle 19"/>
          <p:cNvSpPr/>
          <p:nvPr/>
        </p:nvSpPr>
        <p:spPr>
          <a:xfrm>
            <a:off x="6345936" y="4169663"/>
            <a:ext cx="2706624" cy="1719072"/>
          </a:xfrm>
          <a:prstGeom prst="rect">
            <a:avLst/>
          </a:prstGeom>
          <a:solidFill>
            <a:srgbClr val="26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45936" y="4169663"/>
            <a:ext cx="2706624" cy="45720"/>
          </a:xfrm>
          <a:prstGeom prst="rect">
            <a:avLst/>
          </a:prstGeom>
          <a:solidFill>
            <a:srgbClr val="F5D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73952" y="4279392"/>
            <a:ext cx="2487168" cy="329184"/>
          </a:xfrm>
          <a:prstGeom prst="rect">
            <a:avLst/>
          </a:prstGeom>
          <a:noFill/>
        </p:spPr>
        <p:txBody>
          <a:bodyPr wrap="square">
            <a:spAutoFit/>
          </a:bodyPr>
          <a:lstStyle/>
          <a:p>
            <a:pPr algn="l"/>
            <a:r>
              <a:rPr sz="900" b="1" i="0">
                <a:solidFill>
                  <a:srgbClr val="F5D060"/>
                </a:solidFill>
              </a:rPr>
              <a:t>04  TRADE SHOW ATTENDANCE</a:t>
            </a:r>
          </a:p>
        </p:txBody>
      </p:sp>
      <p:sp>
        <p:nvSpPr>
          <p:cNvPr id="23" name="TextBox 22"/>
          <p:cNvSpPr txBox="1"/>
          <p:nvPr/>
        </p:nvSpPr>
        <p:spPr>
          <a:xfrm>
            <a:off x="6473952" y="4663440"/>
            <a:ext cx="2487168" cy="1133856"/>
          </a:xfrm>
          <a:prstGeom prst="rect">
            <a:avLst/>
          </a:prstGeom>
          <a:noFill/>
        </p:spPr>
        <p:txBody>
          <a:bodyPr wrap="square">
            <a:spAutoFit/>
          </a:bodyPr>
          <a:lstStyle/>
          <a:p>
            <a:pPr algn="l"/>
            <a:r>
              <a:rPr sz="800" b="0" i="0">
                <a:solidFill>
                  <a:srgbClr val="CCCCD8"/>
                </a:solidFill>
              </a:rPr>
              <a:t>Source: Floor Covering News, exhibitor lists
Window: 2 weeks before + 3 days after show
Why: Active solution-seeking mode. Buy intent live.
Sequence: LinkedIn pre-show + Call post-show</a:t>
            </a:r>
          </a:p>
        </p:txBody>
      </p:sp>
      <p:sp>
        <p:nvSpPr>
          <p:cNvPr id="24" name="Rectangle 23"/>
          <p:cNvSpPr/>
          <p:nvPr/>
        </p:nvSpPr>
        <p:spPr>
          <a:xfrm>
            <a:off x="3401568" y="4169663"/>
            <a:ext cx="2706624" cy="1719072"/>
          </a:xfrm>
          <a:prstGeom prst="rect">
            <a:avLst/>
          </a:prstGeom>
          <a:solidFill>
            <a:srgbClr val="26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401568" y="4169663"/>
            <a:ext cx="2706624" cy="45720"/>
          </a:xfrm>
          <a:prstGeom prst="rect">
            <a:avLst/>
          </a:prstGeom>
          <a:solidFill>
            <a:srgbClr val="28C8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529584" y="4279392"/>
            <a:ext cx="2487168" cy="329184"/>
          </a:xfrm>
          <a:prstGeom prst="rect">
            <a:avLst/>
          </a:prstGeom>
          <a:noFill/>
        </p:spPr>
        <p:txBody>
          <a:bodyPr wrap="square">
            <a:spAutoFit/>
          </a:bodyPr>
          <a:lstStyle/>
          <a:p>
            <a:pPr algn="l"/>
            <a:r>
              <a:rPr sz="900" b="1" i="0">
                <a:solidFill>
                  <a:srgbClr val="28C870"/>
                </a:solidFill>
              </a:rPr>
              <a:t>05  NEW WEBSITE LAUNCH</a:t>
            </a:r>
          </a:p>
        </p:txBody>
      </p:sp>
      <p:sp>
        <p:nvSpPr>
          <p:cNvPr id="27" name="TextBox 26"/>
          <p:cNvSpPr txBox="1"/>
          <p:nvPr/>
        </p:nvSpPr>
        <p:spPr>
          <a:xfrm>
            <a:off x="3529584" y="4663440"/>
            <a:ext cx="2487168" cy="1133856"/>
          </a:xfrm>
          <a:prstGeom prst="rect">
            <a:avLst/>
          </a:prstGeom>
          <a:noFill/>
        </p:spPr>
        <p:txBody>
          <a:bodyPr wrap="square">
            <a:spAutoFit/>
          </a:bodyPr>
          <a:lstStyle/>
          <a:p>
            <a:pPr algn="l"/>
            <a:r>
              <a:rPr sz="800" b="0" i="0">
                <a:solidFill>
                  <a:srgbClr val="CCCCD8"/>
                </a:solidFill>
              </a:rPr>
              <a:t>Source: BuiltWith, domain registration data
Window: Within 30 days of launch
Why: Growth mindset. Investing in customer experience.
Sequence: Email D1 + Call D4</a:t>
            </a:r>
          </a:p>
        </p:txBody>
      </p:sp>
      <p:sp>
        <p:nvSpPr>
          <p:cNvPr id="28" name="TextBox 27"/>
          <p:cNvSpPr txBox="1"/>
          <p:nvPr/>
        </p:nvSpPr>
        <p:spPr>
          <a:xfrm>
            <a:off x="11722608" y="6492240"/>
            <a:ext cx="420624" cy="310896"/>
          </a:xfrm>
          <a:prstGeom prst="rect">
            <a:avLst/>
          </a:prstGeom>
          <a:noFill/>
        </p:spPr>
        <p:txBody>
          <a:bodyPr wrap="square">
            <a:spAutoFit/>
          </a:bodyPr>
          <a:lstStyle/>
          <a:p>
            <a:pPr algn="r"/>
            <a:r>
              <a:rPr sz="900" b="0" i="0">
                <a:solidFill>
                  <a:srgbClr val="888899"/>
                </a:solidFil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CF0"/>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4864" cy="6858000"/>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82880"/>
            <a:ext cx="7315200" cy="347472"/>
          </a:xfrm>
          <a:prstGeom prst="rect">
            <a:avLst/>
          </a:prstGeom>
          <a:noFill/>
        </p:spPr>
        <p:txBody>
          <a:bodyPr wrap="square">
            <a:spAutoFit/>
          </a:bodyPr>
          <a:lstStyle/>
          <a:p>
            <a:pPr algn="l"/>
            <a:r>
              <a:rPr sz="900" b="1" i="0">
                <a:solidFill>
                  <a:srgbClr val="B8860B"/>
                </a:solidFill>
              </a:rPr>
              <a:t>THE CHANNEL MIX</a:t>
            </a:r>
          </a:p>
        </p:txBody>
      </p:sp>
      <p:sp>
        <p:nvSpPr>
          <p:cNvPr id="5" name="TextBox 4"/>
          <p:cNvSpPr txBox="1"/>
          <p:nvPr/>
        </p:nvSpPr>
        <p:spPr>
          <a:xfrm>
            <a:off x="502920" y="585216"/>
            <a:ext cx="9601200" cy="1097280"/>
          </a:xfrm>
          <a:prstGeom prst="rect">
            <a:avLst/>
          </a:prstGeom>
          <a:noFill/>
        </p:spPr>
        <p:txBody>
          <a:bodyPr wrap="square">
            <a:spAutoFit/>
          </a:bodyPr>
          <a:lstStyle/>
          <a:p>
            <a:pPr algn="l"/>
            <a:r>
              <a:rPr sz="3600" b="1" i="0">
                <a:solidFill>
                  <a:srgbClr val="1A1A2E"/>
                </a:solidFill>
              </a:rPr>
              <a:t>Cold Calling is Primary.
Here is Why.</a:t>
            </a:r>
          </a:p>
        </p:txBody>
      </p:sp>
      <p:sp>
        <p:nvSpPr>
          <p:cNvPr id="6" name="TextBox 5"/>
          <p:cNvSpPr txBox="1"/>
          <p:nvPr/>
        </p:nvSpPr>
        <p:spPr>
          <a:xfrm>
            <a:off x="502920" y="1792224"/>
            <a:ext cx="10058400" cy="402336"/>
          </a:xfrm>
          <a:prstGeom prst="rect">
            <a:avLst/>
          </a:prstGeom>
          <a:noFill/>
        </p:spPr>
        <p:txBody>
          <a:bodyPr wrap="square">
            <a:spAutoFit/>
          </a:bodyPr>
          <a:lstStyle/>
          <a:p>
            <a:pPr algn="l"/>
            <a:r>
              <a:rPr sz="1100" b="0" i="1">
                <a:solidFill>
                  <a:srgbClr val="888899"/>
                </a:solidFill>
              </a:rPr>
              <a:t>You confirmed a 15-16% connect rate on cold calls. That is strong. We are not changing the channel. We are changing the targeting.</a:t>
            </a:r>
          </a:p>
        </p:txBody>
      </p:sp>
      <p:sp>
        <p:nvSpPr>
          <p:cNvPr id="7" name="Rectangle 6"/>
          <p:cNvSpPr/>
          <p:nvPr/>
        </p:nvSpPr>
        <p:spPr>
          <a:xfrm>
            <a:off x="502920" y="2304288"/>
            <a:ext cx="11247120" cy="36576"/>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8912" y="2487168"/>
            <a:ext cx="3712463" cy="4005072"/>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8912" y="2487168"/>
            <a:ext cx="3712463" cy="54864"/>
          </a:xfrm>
          <a:prstGeom prst="rect">
            <a:avLst/>
          </a:prstGeom>
          <a:solidFill>
            <a:srgbClr val="28C8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03503" y="2633472"/>
            <a:ext cx="2011680" cy="274320"/>
          </a:xfrm>
          <a:prstGeom prst="rect">
            <a:avLst/>
          </a:prstGeom>
          <a:solidFill>
            <a:srgbClr val="28C8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4943" y="2670048"/>
            <a:ext cx="1828800" cy="201167"/>
          </a:xfrm>
          <a:prstGeom prst="rect">
            <a:avLst/>
          </a:prstGeom>
          <a:noFill/>
        </p:spPr>
        <p:txBody>
          <a:bodyPr wrap="square">
            <a:spAutoFit/>
          </a:bodyPr>
          <a:lstStyle/>
          <a:p>
            <a:pPr algn="ctr"/>
            <a:r>
              <a:rPr sz="900" b="1" i="0">
                <a:solidFill>
                  <a:srgbClr val="1A1A2E"/>
                </a:solidFill>
              </a:rPr>
              <a:t>PRIMARY CHANNEL</a:t>
            </a:r>
          </a:p>
        </p:txBody>
      </p:sp>
      <p:sp>
        <p:nvSpPr>
          <p:cNvPr id="12" name="TextBox 11"/>
          <p:cNvSpPr txBox="1"/>
          <p:nvPr/>
        </p:nvSpPr>
        <p:spPr>
          <a:xfrm>
            <a:off x="640080" y="3017520"/>
            <a:ext cx="3291840" cy="384048"/>
          </a:xfrm>
          <a:prstGeom prst="rect">
            <a:avLst/>
          </a:prstGeom>
          <a:noFill/>
        </p:spPr>
        <p:txBody>
          <a:bodyPr wrap="square">
            <a:spAutoFit/>
          </a:bodyPr>
          <a:lstStyle/>
          <a:p>
            <a:pPr algn="l"/>
            <a:r>
              <a:rPr sz="1400" b="1" i="0">
                <a:solidFill>
                  <a:srgbClr val="28C870"/>
                </a:solidFill>
              </a:rPr>
              <a:t>COLD CALLING</a:t>
            </a:r>
          </a:p>
        </p:txBody>
      </p:sp>
      <p:sp>
        <p:nvSpPr>
          <p:cNvPr id="13" name="TextBox 12"/>
          <p:cNvSpPr txBox="1"/>
          <p:nvPr/>
        </p:nvSpPr>
        <p:spPr>
          <a:xfrm>
            <a:off x="640080" y="3493008"/>
            <a:ext cx="3291840" cy="2834640"/>
          </a:xfrm>
          <a:prstGeom prst="rect">
            <a:avLst/>
          </a:prstGeom>
          <a:noFill/>
        </p:spPr>
        <p:txBody>
          <a:bodyPr wrap="square">
            <a:spAutoFit/>
          </a:bodyPr>
          <a:lstStyle/>
          <a:p>
            <a:pPr algn="l"/>
            <a:r>
              <a:rPr sz="950" b="0" i="0">
                <a:solidFill>
                  <a:srgbClr val="CCCCD8"/>
                </a:solidFill>
              </a:rPr>
              <a:t>15-16% connect rate confirmed.
Flooring store owners pick up the phone.
SDR calls every signal-triggered store
within 24h of the trigger event.
40-60 calls per day. Signal-specific
opening line every time.</a:t>
            </a:r>
          </a:p>
        </p:txBody>
      </p:sp>
      <p:sp>
        <p:nvSpPr>
          <p:cNvPr id="14" name="Rectangle 13"/>
          <p:cNvSpPr/>
          <p:nvPr/>
        </p:nvSpPr>
        <p:spPr>
          <a:xfrm>
            <a:off x="4352544" y="2487168"/>
            <a:ext cx="3712463" cy="4005072"/>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52544" y="2487168"/>
            <a:ext cx="3712463" cy="54864"/>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17136" y="2633472"/>
            <a:ext cx="2011680" cy="274320"/>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08575" y="2670048"/>
            <a:ext cx="1828800" cy="201167"/>
          </a:xfrm>
          <a:prstGeom prst="rect">
            <a:avLst/>
          </a:prstGeom>
          <a:noFill/>
        </p:spPr>
        <p:txBody>
          <a:bodyPr wrap="square">
            <a:spAutoFit/>
          </a:bodyPr>
          <a:lstStyle/>
          <a:p>
            <a:pPr algn="ctr"/>
            <a:r>
              <a:rPr sz="900" b="1" i="0">
                <a:solidFill>
                  <a:srgbClr val="1A1A2E"/>
                </a:solidFill>
              </a:rPr>
              <a:t>SUPPORT CHANNEL</a:t>
            </a:r>
          </a:p>
        </p:txBody>
      </p:sp>
      <p:sp>
        <p:nvSpPr>
          <p:cNvPr id="18" name="TextBox 17"/>
          <p:cNvSpPr txBox="1"/>
          <p:nvPr/>
        </p:nvSpPr>
        <p:spPr>
          <a:xfrm>
            <a:off x="4553712" y="3017520"/>
            <a:ext cx="3291840" cy="384048"/>
          </a:xfrm>
          <a:prstGeom prst="rect">
            <a:avLst/>
          </a:prstGeom>
          <a:noFill/>
        </p:spPr>
        <p:txBody>
          <a:bodyPr wrap="square">
            <a:spAutoFit/>
          </a:bodyPr>
          <a:lstStyle/>
          <a:p>
            <a:pPr algn="l"/>
            <a:r>
              <a:rPr sz="1400" b="1" i="0">
                <a:solidFill>
                  <a:srgbClr val="E8B830"/>
                </a:solidFill>
              </a:rPr>
              <a:t>EMAIL</a:t>
            </a:r>
          </a:p>
        </p:txBody>
      </p:sp>
      <p:sp>
        <p:nvSpPr>
          <p:cNvPr id="19" name="TextBox 18"/>
          <p:cNvSpPr txBox="1"/>
          <p:nvPr/>
        </p:nvSpPr>
        <p:spPr>
          <a:xfrm>
            <a:off x="4553712" y="3493008"/>
            <a:ext cx="3291840" cy="2834640"/>
          </a:xfrm>
          <a:prstGeom prst="rect">
            <a:avLst/>
          </a:prstGeom>
          <a:noFill/>
        </p:spPr>
        <p:txBody>
          <a:bodyPr wrap="square">
            <a:spAutoFit/>
          </a:bodyPr>
          <a:lstStyle/>
          <a:p>
            <a:pPr algn="l"/>
            <a:r>
              <a:rPr sz="950" b="0" i="0">
                <a:solidFill>
                  <a:srgbClr val="CCCCD8"/>
                </a:solidFill>
              </a:rPr>
              <a:t>Signal-specific copy. Not templates.
A 'new store opening' email reads
completely differently from a 'poor
Google review' email.
Fires behind every cold call.
4-6% reply rate on triggered sends.</a:t>
            </a:r>
          </a:p>
        </p:txBody>
      </p:sp>
      <p:sp>
        <p:nvSpPr>
          <p:cNvPr id="20" name="Rectangle 19"/>
          <p:cNvSpPr/>
          <p:nvPr/>
        </p:nvSpPr>
        <p:spPr>
          <a:xfrm>
            <a:off x="8266176" y="2487168"/>
            <a:ext cx="3712463" cy="4005072"/>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66176" y="2487168"/>
            <a:ext cx="3712463" cy="54864"/>
          </a:xfrm>
          <a:prstGeom prst="rect">
            <a:avLst/>
          </a:prstGeom>
          <a:solidFill>
            <a:srgbClr val="F0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430768" y="2633472"/>
            <a:ext cx="2011680" cy="274320"/>
          </a:xfrm>
          <a:prstGeom prst="rect">
            <a:avLst/>
          </a:prstGeom>
          <a:solidFill>
            <a:srgbClr val="F0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22208" y="2670048"/>
            <a:ext cx="1828800" cy="201167"/>
          </a:xfrm>
          <a:prstGeom prst="rect">
            <a:avLst/>
          </a:prstGeom>
          <a:noFill/>
        </p:spPr>
        <p:txBody>
          <a:bodyPr wrap="square">
            <a:spAutoFit/>
          </a:bodyPr>
          <a:lstStyle/>
          <a:p>
            <a:pPr algn="ctr"/>
            <a:r>
              <a:rPr sz="900" b="1" i="0">
                <a:solidFill>
                  <a:srgbClr val="1A1A2E"/>
                </a:solidFill>
              </a:rPr>
              <a:t>DATA + LIGHT TOUCH</a:t>
            </a:r>
          </a:p>
        </p:txBody>
      </p:sp>
      <p:sp>
        <p:nvSpPr>
          <p:cNvPr id="24" name="TextBox 23"/>
          <p:cNvSpPr txBox="1"/>
          <p:nvPr/>
        </p:nvSpPr>
        <p:spPr>
          <a:xfrm>
            <a:off x="8467344" y="3017520"/>
            <a:ext cx="3291840" cy="384048"/>
          </a:xfrm>
          <a:prstGeom prst="rect">
            <a:avLst/>
          </a:prstGeom>
          <a:noFill/>
        </p:spPr>
        <p:txBody>
          <a:bodyPr wrap="square">
            <a:spAutoFit/>
          </a:bodyPr>
          <a:lstStyle/>
          <a:p>
            <a:pPr algn="l"/>
            <a:r>
              <a:rPr sz="1400" b="1" i="0">
                <a:solidFill>
                  <a:srgbClr val="F0A020"/>
                </a:solidFill>
              </a:rPr>
              <a:t>LINKEDIN</a:t>
            </a:r>
          </a:p>
        </p:txBody>
      </p:sp>
      <p:sp>
        <p:nvSpPr>
          <p:cNvPr id="25" name="TextBox 24"/>
          <p:cNvSpPr txBox="1"/>
          <p:nvPr/>
        </p:nvSpPr>
        <p:spPr>
          <a:xfrm>
            <a:off x="8467344" y="3493008"/>
            <a:ext cx="3291840" cy="2834640"/>
          </a:xfrm>
          <a:prstGeom prst="rect">
            <a:avLst/>
          </a:prstGeom>
          <a:noFill/>
        </p:spPr>
        <p:txBody>
          <a:bodyPr wrap="square">
            <a:spAutoFit/>
          </a:bodyPr>
          <a:lstStyle/>
          <a:p>
            <a:pPr algn="l"/>
            <a:r>
              <a:rPr sz="950" b="0" i="0">
                <a:solidFill>
                  <a:srgbClr val="CCCCD8"/>
                </a:solidFill>
              </a:rPr>
              <a:t>ProxyCurl + PhantomBuster for
backend contact enrichment.
LinkedIn sequences for trade show
signal (pre and post-show).
Not the primary channel for this ICP.
Used as a data source first.</a:t>
            </a:r>
          </a:p>
        </p:txBody>
      </p:sp>
      <p:sp>
        <p:nvSpPr>
          <p:cNvPr id="26" name="TextBox 25"/>
          <p:cNvSpPr txBox="1"/>
          <p:nvPr/>
        </p:nvSpPr>
        <p:spPr>
          <a:xfrm>
            <a:off x="11722608" y="6492240"/>
            <a:ext cx="420624" cy="310896"/>
          </a:xfrm>
          <a:prstGeom prst="rect">
            <a:avLst/>
          </a:prstGeom>
          <a:noFill/>
        </p:spPr>
        <p:txBody>
          <a:bodyPr wrap="square">
            <a:spAutoFit/>
          </a:bodyPr>
          <a:lstStyle/>
          <a:p>
            <a:pPr algn="r"/>
            <a:r>
              <a:rPr sz="900" b="0" i="0">
                <a:solidFill>
                  <a:srgbClr val="888899"/>
                </a:solidFil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64008" cy="6858000"/>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 y="0"/>
            <a:ext cx="12124944" cy="36576"/>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9144000" cy="347472"/>
          </a:xfrm>
          <a:prstGeom prst="rect">
            <a:avLst/>
          </a:prstGeom>
          <a:noFill/>
        </p:spPr>
        <p:txBody>
          <a:bodyPr wrap="square">
            <a:spAutoFit/>
          </a:bodyPr>
          <a:lstStyle/>
          <a:p>
            <a:pPr algn="l"/>
            <a:r>
              <a:rPr sz="900" b="1" i="0">
                <a:solidFill>
                  <a:srgbClr val="E8B830"/>
                </a:solidFill>
              </a:rPr>
              <a:t>THE TECH STACK</a:t>
            </a:r>
          </a:p>
        </p:txBody>
      </p:sp>
      <p:sp>
        <p:nvSpPr>
          <p:cNvPr id="5" name="TextBox 4"/>
          <p:cNvSpPr txBox="1"/>
          <p:nvPr/>
        </p:nvSpPr>
        <p:spPr>
          <a:xfrm>
            <a:off x="502920" y="566928"/>
            <a:ext cx="9601200" cy="566928"/>
          </a:xfrm>
          <a:prstGeom prst="rect">
            <a:avLst/>
          </a:prstGeom>
          <a:noFill/>
        </p:spPr>
        <p:txBody>
          <a:bodyPr wrap="square">
            <a:spAutoFit/>
          </a:bodyPr>
          <a:lstStyle/>
          <a:p>
            <a:pPr algn="l"/>
            <a:r>
              <a:rPr sz="3200" b="1" i="0">
                <a:solidFill>
                  <a:srgbClr val="FFFFFF"/>
                </a:solidFill>
              </a:rPr>
              <a:t>What Powers the Machine.</a:t>
            </a:r>
          </a:p>
        </p:txBody>
      </p:sp>
      <p:sp>
        <p:nvSpPr>
          <p:cNvPr id="6" name="TextBox 5"/>
          <p:cNvSpPr txBox="1"/>
          <p:nvPr/>
        </p:nvSpPr>
        <p:spPr>
          <a:xfrm>
            <a:off x="502920" y="1225296"/>
            <a:ext cx="10058400" cy="329184"/>
          </a:xfrm>
          <a:prstGeom prst="rect">
            <a:avLst/>
          </a:prstGeom>
          <a:noFill/>
        </p:spPr>
        <p:txBody>
          <a:bodyPr wrap="square">
            <a:spAutoFit/>
          </a:bodyPr>
          <a:lstStyle/>
          <a:p>
            <a:pPr algn="l"/>
            <a:r>
              <a:rPr sz="1100" b="0" i="1">
                <a:solidFill>
                  <a:srgbClr val="CCCCD8"/>
                </a:solidFill>
              </a:rPr>
              <a:t>Your side vs our side. You see one invoice.</a:t>
            </a:r>
          </a:p>
        </p:txBody>
      </p:sp>
      <p:sp>
        <p:nvSpPr>
          <p:cNvPr id="7" name="Rectangle 6"/>
          <p:cNvSpPr/>
          <p:nvPr/>
        </p:nvSpPr>
        <p:spPr>
          <a:xfrm>
            <a:off x="502920" y="1664208"/>
            <a:ext cx="11247120" cy="36576"/>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8912" y="1828800"/>
            <a:ext cx="5394960" cy="4700016"/>
          </a:xfrm>
          <a:prstGeom prst="rect">
            <a:avLst/>
          </a:prstGeom>
          <a:solidFill>
            <a:srgbClr val="26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8912" y="1828800"/>
            <a:ext cx="5394960" cy="45720"/>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3504" y="1938528"/>
            <a:ext cx="5029200" cy="329184"/>
          </a:xfrm>
          <a:prstGeom prst="rect">
            <a:avLst/>
          </a:prstGeom>
          <a:noFill/>
        </p:spPr>
        <p:txBody>
          <a:bodyPr wrap="square">
            <a:spAutoFit/>
          </a:bodyPr>
          <a:lstStyle/>
          <a:p>
            <a:pPr algn="l"/>
            <a:r>
              <a:rPr sz="1000" b="1" i="0">
                <a:solidFill>
                  <a:srgbClr val="E8B830"/>
                </a:solidFill>
              </a:rPr>
              <a:t>YOUR SIDE</a:t>
            </a:r>
          </a:p>
        </p:txBody>
      </p:sp>
      <p:sp>
        <p:nvSpPr>
          <p:cNvPr id="11" name="TextBox 10"/>
          <p:cNvSpPr txBox="1"/>
          <p:nvPr/>
        </p:nvSpPr>
        <p:spPr>
          <a:xfrm>
            <a:off x="603504" y="2304288"/>
            <a:ext cx="5029200" cy="274320"/>
          </a:xfrm>
          <a:prstGeom prst="rect">
            <a:avLst/>
          </a:prstGeom>
          <a:noFill/>
        </p:spPr>
        <p:txBody>
          <a:bodyPr wrap="square">
            <a:spAutoFit/>
          </a:bodyPr>
          <a:lstStyle/>
          <a:p>
            <a:pPr algn="l"/>
            <a:r>
              <a:rPr sz="900" b="0" i="1">
                <a:solidFill>
                  <a:srgbClr val="888899"/>
                </a:solidFill>
              </a:rPr>
              <a:t>You own and fund these. SELLL handles all setup and configuration.</a:t>
            </a:r>
          </a:p>
        </p:txBody>
      </p:sp>
      <p:sp>
        <p:nvSpPr>
          <p:cNvPr id="12" name="Rectangle 11"/>
          <p:cNvSpPr/>
          <p:nvPr/>
        </p:nvSpPr>
        <p:spPr>
          <a:xfrm>
            <a:off x="512064" y="2670048"/>
            <a:ext cx="5230368" cy="548640"/>
          </a:xfrm>
          <a:prstGeom prst="rect">
            <a:avLst/>
          </a:prstGeom>
          <a:solidFill>
            <a:srgbClr val="2E2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4944" y="2743200"/>
            <a:ext cx="1463040" cy="384048"/>
          </a:xfrm>
          <a:prstGeom prst="rect">
            <a:avLst/>
          </a:prstGeom>
          <a:noFill/>
        </p:spPr>
        <p:txBody>
          <a:bodyPr wrap="square">
            <a:spAutoFit/>
          </a:bodyPr>
          <a:lstStyle/>
          <a:p>
            <a:pPr algn="l"/>
            <a:r>
              <a:rPr sz="950" b="1" i="0">
                <a:solidFill>
                  <a:srgbClr val="E8B830"/>
                </a:solidFill>
              </a:rPr>
              <a:t>Apollo</a:t>
            </a:r>
          </a:p>
        </p:txBody>
      </p:sp>
      <p:sp>
        <p:nvSpPr>
          <p:cNvPr id="14" name="TextBox 13"/>
          <p:cNvSpPr txBox="1"/>
          <p:nvPr/>
        </p:nvSpPr>
        <p:spPr>
          <a:xfrm>
            <a:off x="2212848" y="2743200"/>
            <a:ext cx="3291840" cy="384048"/>
          </a:xfrm>
          <a:prstGeom prst="rect">
            <a:avLst/>
          </a:prstGeom>
          <a:noFill/>
        </p:spPr>
        <p:txBody>
          <a:bodyPr wrap="square">
            <a:spAutoFit/>
          </a:bodyPr>
          <a:lstStyle/>
          <a:p>
            <a:pPr algn="l"/>
            <a:r>
              <a:rPr sz="850" b="0" i="0">
                <a:solidFill>
                  <a:srgbClr val="CCCCD8"/>
                </a:solidFill>
              </a:rPr>
              <a:t>Existing  —  contact data rebuilt + segmented by SELLL</a:t>
            </a:r>
          </a:p>
        </p:txBody>
      </p:sp>
      <p:sp>
        <p:nvSpPr>
          <p:cNvPr id="15" name="Rectangle 14"/>
          <p:cNvSpPr/>
          <p:nvPr/>
        </p:nvSpPr>
        <p:spPr>
          <a:xfrm>
            <a:off x="512064" y="3328415"/>
            <a:ext cx="5230368" cy="548640"/>
          </a:xfrm>
          <a:prstGeom prst="rect">
            <a:avLst/>
          </a:prstGeom>
          <a:solidFill>
            <a:srgbClr val="2E2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4944" y="3401568"/>
            <a:ext cx="1463040" cy="384048"/>
          </a:xfrm>
          <a:prstGeom prst="rect">
            <a:avLst/>
          </a:prstGeom>
          <a:noFill/>
        </p:spPr>
        <p:txBody>
          <a:bodyPr wrap="square">
            <a:spAutoFit/>
          </a:bodyPr>
          <a:lstStyle/>
          <a:p>
            <a:pPr algn="l"/>
            <a:r>
              <a:rPr sz="950" b="1" i="0">
                <a:solidFill>
                  <a:srgbClr val="E8B830"/>
                </a:solidFill>
              </a:rPr>
              <a:t>Smartlead</a:t>
            </a:r>
          </a:p>
        </p:txBody>
      </p:sp>
      <p:sp>
        <p:nvSpPr>
          <p:cNvPr id="17" name="TextBox 16"/>
          <p:cNvSpPr txBox="1"/>
          <p:nvPr/>
        </p:nvSpPr>
        <p:spPr>
          <a:xfrm>
            <a:off x="2212848" y="3401568"/>
            <a:ext cx="3291840" cy="384048"/>
          </a:xfrm>
          <a:prstGeom prst="rect">
            <a:avLst/>
          </a:prstGeom>
          <a:noFill/>
        </p:spPr>
        <p:txBody>
          <a:bodyPr wrap="square">
            <a:spAutoFit/>
          </a:bodyPr>
          <a:lstStyle/>
          <a:p>
            <a:pPr algn="l"/>
            <a:r>
              <a:rPr sz="850" b="0" i="0">
                <a:solidFill>
                  <a:srgbClr val="CCCCD8"/>
                </a:solidFill>
              </a:rPr>
              <a:t>Existing  —  sequences rebuilt + warmup configured by SELLL</a:t>
            </a:r>
          </a:p>
        </p:txBody>
      </p:sp>
      <p:sp>
        <p:nvSpPr>
          <p:cNvPr id="18" name="Rectangle 17"/>
          <p:cNvSpPr/>
          <p:nvPr/>
        </p:nvSpPr>
        <p:spPr>
          <a:xfrm>
            <a:off x="512064" y="3986783"/>
            <a:ext cx="5230368" cy="548640"/>
          </a:xfrm>
          <a:prstGeom prst="rect">
            <a:avLst/>
          </a:prstGeom>
          <a:solidFill>
            <a:srgbClr val="2E2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94944" y="4059935"/>
            <a:ext cx="1463040" cy="384048"/>
          </a:xfrm>
          <a:prstGeom prst="rect">
            <a:avLst/>
          </a:prstGeom>
          <a:noFill/>
        </p:spPr>
        <p:txBody>
          <a:bodyPr wrap="square">
            <a:spAutoFit/>
          </a:bodyPr>
          <a:lstStyle/>
          <a:p>
            <a:pPr algn="l"/>
            <a:r>
              <a:rPr sz="950" b="1" i="0">
                <a:solidFill>
                  <a:srgbClr val="E8B830"/>
                </a:solidFill>
              </a:rPr>
              <a:t>Sales Navigator</a:t>
            </a:r>
          </a:p>
        </p:txBody>
      </p:sp>
      <p:sp>
        <p:nvSpPr>
          <p:cNvPr id="20" name="TextBox 19"/>
          <p:cNvSpPr txBox="1"/>
          <p:nvPr/>
        </p:nvSpPr>
        <p:spPr>
          <a:xfrm>
            <a:off x="2212848" y="4059935"/>
            <a:ext cx="3291840" cy="384048"/>
          </a:xfrm>
          <a:prstGeom prst="rect">
            <a:avLst/>
          </a:prstGeom>
          <a:noFill/>
        </p:spPr>
        <p:txBody>
          <a:bodyPr wrap="square">
            <a:spAutoFit/>
          </a:bodyPr>
          <a:lstStyle/>
          <a:p>
            <a:pPr algn="l"/>
            <a:r>
              <a:rPr sz="850" b="0" i="0">
                <a:solidFill>
                  <a:srgbClr val="CCCCD8"/>
                </a:solidFill>
              </a:rPr>
              <a:t>Existing  —  signal source + contact enrichment</a:t>
            </a:r>
          </a:p>
        </p:txBody>
      </p:sp>
      <p:sp>
        <p:nvSpPr>
          <p:cNvPr id="21" name="Rectangle 20"/>
          <p:cNvSpPr/>
          <p:nvPr/>
        </p:nvSpPr>
        <p:spPr>
          <a:xfrm>
            <a:off x="512064" y="4645152"/>
            <a:ext cx="5230368" cy="548640"/>
          </a:xfrm>
          <a:prstGeom prst="rect">
            <a:avLst/>
          </a:prstGeom>
          <a:solidFill>
            <a:srgbClr val="2E2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4944" y="4718304"/>
            <a:ext cx="1463040" cy="384048"/>
          </a:xfrm>
          <a:prstGeom prst="rect">
            <a:avLst/>
          </a:prstGeom>
          <a:noFill/>
        </p:spPr>
        <p:txBody>
          <a:bodyPr wrap="square">
            <a:spAutoFit/>
          </a:bodyPr>
          <a:lstStyle/>
          <a:p>
            <a:pPr algn="l"/>
            <a:r>
              <a:rPr sz="950" b="1" i="0">
                <a:solidFill>
                  <a:srgbClr val="E8B830"/>
                </a:solidFill>
              </a:rPr>
              <a:t>Clay</a:t>
            </a:r>
          </a:p>
        </p:txBody>
      </p:sp>
      <p:sp>
        <p:nvSpPr>
          <p:cNvPr id="23" name="TextBox 22"/>
          <p:cNvSpPr txBox="1"/>
          <p:nvPr/>
        </p:nvSpPr>
        <p:spPr>
          <a:xfrm>
            <a:off x="2212848" y="4718304"/>
            <a:ext cx="3291840" cy="384048"/>
          </a:xfrm>
          <a:prstGeom prst="rect">
            <a:avLst/>
          </a:prstGeom>
          <a:noFill/>
        </p:spPr>
        <p:txBody>
          <a:bodyPr wrap="square">
            <a:spAutoFit/>
          </a:bodyPr>
          <a:lstStyle/>
          <a:p>
            <a:pPr algn="l"/>
            <a:r>
              <a:rPr sz="850" b="0" i="0">
                <a:solidFill>
                  <a:srgbClr val="CCCCD8"/>
                </a:solidFill>
              </a:rPr>
              <a:t>New  —  $149-349/mo  —  enrichment + AI copy engine</a:t>
            </a:r>
          </a:p>
        </p:txBody>
      </p:sp>
      <p:sp>
        <p:nvSpPr>
          <p:cNvPr id="24" name="Rectangle 23"/>
          <p:cNvSpPr/>
          <p:nvPr/>
        </p:nvSpPr>
        <p:spPr>
          <a:xfrm>
            <a:off x="512064" y="5303520"/>
            <a:ext cx="5230368" cy="548640"/>
          </a:xfrm>
          <a:prstGeom prst="rect">
            <a:avLst/>
          </a:prstGeom>
          <a:solidFill>
            <a:srgbClr val="2E2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94944" y="5376672"/>
            <a:ext cx="1463040" cy="384048"/>
          </a:xfrm>
          <a:prstGeom prst="rect">
            <a:avLst/>
          </a:prstGeom>
          <a:noFill/>
        </p:spPr>
        <p:txBody>
          <a:bodyPr wrap="square">
            <a:spAutoFit/>
          </a:bodyPr>
          <a:lstStyle/>
          <a:p>
            <a:pPr algn="l"/>
            <a:r>
              <a:rPr sz="950" b="1" i="0">
                <a:solidFill>
                  <a:srgbClr val="E8B830"/>
                </a:solidFill>
              </a:rPr>
              <a:t>Porkbun</a:t>
            </a:r>
          </a:p>
        </p:txBody>
      </p:sp>
      <p:sp>
        <p:nvSpPr>
          <p:cNvPr id="26" name="TextBox 25"/>
          <p:cNvSpPr txBox="1"/>
          <p:nvPr/>
        </p:nvSpPr>
        <p:spPr>
          <a:xfrm>
            <a:off x="2212848" y="5376672"/>
            <a:ext cx="3291840" cy="384048"/>
          </a:xfrm>
          <a:prstGeom prst="rect">
            <a:avLst/>
          </a:prstGeom>
          <a:noFill/>
        </p:spPr>
        <p:txBody>
          <a:bodyPr wrap="square">
            <a:spAutoFit/>
          </a:bodyPr>
          <a:lstStyle/>
          <a:p>
            <a:pPr algn="l"/>
            <a:r>
              <a:rPr sz="850" b="0" i="0">
                <a:solidFill>
                  <a:srgbClr val="CCCCD8"/>
                </a:solidFill>
              </a:rPr>
              <a:t>New  —  $225 one-time  —  15 sending domains (SELLL sets up)</a:t>
            </a:r>
          </a:p>
        </p:txBody>
      </p:sp>
      <p:sp>
        <p:nvSpPr>
          <p:cNvPr id="27" name="Rectangle 26"/>
          <p:cNvSpPr/>
          <p:nvPr/>
        </p:nvSpPr>
        <p:spPr>
          <a:xfrm>
            <a:off x="512064" y="5961888"/>
            <a:ext cx="5230368" cy="548640"/>
          </a:xfrm>
          <a:prstGeom prst="rect">
            <a:avLst/>
          </a:prstGeom>
          <a:solidFill>
            <a:srgbClr val="2E2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94944" y="6035040"/>
            <a:ext cx="1463040" cy="384048"/>
          </a:xfrm>
          <a:prstGeom prst="rect">
            <a:avLst/>
          </a:prstGeom>
          <a:noFill/>
        </p:spPr>
        <p:txBody>
          <a:bodyPr wrap="square">
            <a:spAutoFit/>
          </a:bodyPr>
          <a:lstStyle/>
          <a:p>
            <a:pPr algn="l"/>
            <a:r>
              <a:rPr sz="950" b="1" i="0">
                <a:solidFill>
                  <a:srgbClr val="E8B830"/>
                </a:solidFill>
              </a:rPr>
              <a:t>PremiumInbox</a:t>
            </a:r>
          </a:p>
        </p:txBody>
      </p:sp>
      <p:sp>
        <p:nvSpPr>
          <p:cNvPr id="29" name="TextBox 28"/>
          <p:cNvSpPr txBox="1"/>
          <p:nvPr/>
        </p:nvSpPr>
        <p:spPr>
          <a:xfrm>
            <a:off x="2212848" y="6035040"/>
            <a:ext cx="3291840" cy="384048"/>
          </a:xfrm>
          <a:prstGeom prst="rect">
            <a:avLst/>
          </a:prstGeom>
          <a:noFill/>
        </p:spPr>
        <p:txBody>
          <a:bodyPr wrap="square">
            <a:spAutoFit/>
          </a:bodyPr>
          <a:lstStyle/>
          <a:p>
            <a:pPr algn="l"/>
            <a:r>
              <a:rPr sz="850" b="0" i="0">
                <a:solidFill>
                  <a:srgbClr val="CCCCD8"/>
                </a:solidFill>
              </a:rPr>
              <a:t>New  —  ~$75/mo  —  15 mailboxes + 3-batch warmup (SELLL manages)</a:t>
            </a:r>
          </a:p>
        </p:txBody>
      </p:sp>
      <p:sp>
        <p:nvSpPr>
          <p:cNvPr id="30" name="Rectangle 29"/>
          <p:cNvSpPr/>
          <p:nvPr/>
        </p:nvSpPr>
        <p:spPr>
          <a:xfrm>
            <a:off x="6291072" y="1828800"/>
            <a:ext cx="5486400" cy="4700016"/>
          </a:xfrm>
          <a:prstGeom prst="rect">
            <a:avLst/>
          </a:prstGeom>
          <a:solidFill>
            <a:srgbClr val="26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291072" y="1828800"/>
            <a:ext cx="5486400" cy="45720"/>
          </a:xfrm>
          <a:prstGeom prst="rect">
            <a:avLst/>
          </a:prstGeom>
          <a:solidFill>
            <a:srgbClr val="F0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55664" y="1938528"/>
            <a:ext cx="5212080" cy="329184"/>
          </a:xfrm>
          <a:prstGeom prst="rect">
            <a:avLst/>
          </a:prstGeom>
          <a:noFill/>
        </p:spPr>
        <p:txBody>
          <a:bodyPr wrap="square">
            <a:spAutoFit/>
          </a:bodyPr>
          <a:lstStyle/>
          <a:p>
            <a:pPr algn="l"/>
            <a:r>
              <a:rPr sz="1000" b="1" i="0">
                <a:solidFill>
                  <a:srgbClr val="F0A020"/>
                </a:solidFill>
              </a:rPr>
              <a:t>OUR SIDE</a:t>
            </a:r>
          </a:p>
        </p:txBody>
      </p:sp>
      <p:sp>
        <p:nvSpPr>
          <p:cNvPr id="33" name="TextBox 32"/>
          <p:cNvSpPr txBox="1"/>
          <p:nvPr/>
        </p:nvSpPr>
        <p:spPr>
          <a:xfrm>
            <a:off x="6455664" y="2304288"/>
            <a:ext cx="5212080" cy="274320"/>
          </a:xfrm>
          <a:prstGeom prst="rect">
            <a:avLst/>
          </a:prstGeom>
          <a:noFill/>
        </p:spPr>
        <p:txBody>
          <a:bodyPr wrap="square">
            <a:spAutoFit/>
          </a:bodyPr>
          <a:lstStyle/>
          <a:p>
            <a:pPr algn="l"/>
            <a:r>
              <a:rPr sz="900" b="0" i="1">
                <a:solidFill>
                  <a:srgbClr val="888899"/>
                </a:solidFill>
              </a:rPr>
              <a:t>Covered inside the $4,000/month retainer. You do not see these invoices.</a:t>
            </a:r>
          </a:p>
        </p:txBody>
      </p:sp>
      <p:sp>
        <p:nvSpPr>
          <p:cNvPr id="34" name="Rectangle 33"/>
          <p:cNvSpPr/>
          <p:nvPr/>
        </p:nvSpPr>
        <p:spPr>
          <a:xfrm>
            <a:off x="6364224" y="2670048"/>
            <a:ext cx="5340096" cy="420624"/>
          </a:xfrm>
          <a:prstGeom prst="rect">
            <a:avLst/>
          </a:prstGeom>
          <a:solidFill>
            <a:srgbClr val="2E2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28816" y="2724912"/>
            <a:ext cx="1554480" cy="310896"/>
          </a:xfrm>
          <a:prstGeom prst="rect">
            <a:avLst/>
          </a:prstGeom>
          <a:noFill/>
        </p:spPr>
        <p:txBody>
          <a:bodyPr wrap="square">
            <a:spAutoFit/>
          </a:bodyPr>
          <a:lstStyle/>
          <a:p>
            <a:pPr algn="l"/>
            <a:r>
              <a:rPr sz="900" b="1" i="0">
                <a:solidFill>
                  <a:srgbClr val="F0A020"/>
                </a:solidFill>
              </a:rPr>
              <a:t>Trigify</a:t>
            </a:r>
          </a:p>
        </p:txBody>
      </p:sp>
      <p:sp>
        <p:nvSpPr>
          <p:cNvPr id="36" name="TextBox 35"/>
          <p:cNvSpPr txBox="1"/>
          <p:nvPr/>
        </p:nvSpPr>
        <p:spPr>
          <a:xfrm>
            <a:off x="8138160" y="2724912"/>
            <a:ext cx="3383280" cy="310896"/>
          </a:xfrm>
          <a:prstGeom prst="rect">
            <a:avLst/>
          </a:prstGeom>
          <a:noFill/>
        </p:spPr>
        <p:txBody>
          <a:bodyPr wrap="square">
            <a:spAutoFit/>
          </a:bodyPr>
          <a:lstStyle/>
          <a:p>
            <a:pPr algn="l"/>
            <a:r>
              <a:rPr sz="800" b="0" i="0">
                <a:solidFill>
                  <a:srgbClr val="CCCCD8"/>
                </a:solidFill>
              </a:rPr>
              <a:t>Real-time signal monitoring — all 5 triggers</a:t>
            </a:r>
          </a:p>
        </p:txBody>
      </p:sp>
      <p:sp>
        <p:nvSpPr>
          <p:cNvPr id="37" name="Rectangle 36"/>
          <p:cNvSpPr/>
          <p:nvPr/>
        </p:nvSpPr>
        <p:spPr>
          <a:xfrm>
            <a:off x="6364224" y="3163824"/>
            <a:ext cx="5340096" cy="420624"/>
          </a:xfrm>
          <a:prstGeom prst="rect">
            <a:avLst/>
          </a:prstGeom>
          <a:solidFill>
            <a:srgbClr val="2E2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528816" y="3218688"/>
            <a:ext cx="1554480" cy="310896"/>
          </a:xfrm>
          <a:prstGeom prst="rect">
            <a:avLst/>
          </a:prstGeom>
          <a:noFill/>
        </p:spPr>
        <p:txBody>
          <a:bodyPr wrap="square">
            <a:spAutoFit/>
          </a:bodyPr>
          <a:lstStyle/>
          <a:p>
            <a:pPr algn="l"/>
            <a:r>
              <a:rPr sz="900" b="1" i="0">
                <a:solidFill>
                  <a:srgbClr val="F0A020"/>
                </a:solidFill>
              </a:rPr>
              <a:t>Clay + Claude</a:t>
            </a:r>
          </a:p>
        </p:txBody>
      </p:sp>
      <p:sp>
        <p:nvSpPr>
          <p:cNvPr id="39" name="TextBox 38"/>
          <p:cNvSpPr txBox="1"/>
          <p:nvPr/>
        </p:nvSpPr>
        <p:spPr>
          <a:xfrm>
            <a:off x="8138160" y="3218688"/>
            <a:ext cx="3383280" cy="310896"/>
          </a:xfrm>
          <a:prstGeom prst="rect">
            <a:avLst/>
          </a:prstGeom>
          <a:noFill/>
        </p:spPr>
        <p:txBody>
          <a:bodyPr wrap="square">
            <a:spAutoFit/>
          </a:bodyPr>
          <a:lstStyle/>
          <a:p>
            <a:pPr algn="l"/>
            <a:r>
              <a:rPr sz="800" b="0" i="0">
                <a:solidFill>
                  <a:srgbClr val="CCCCD8"/>
                </a:solidFill>
              </a:rPr>
              <a:t>Signal enrichment + AI-personalised copy</a:t>
            </a:r>
          </a:p>
        </p:txBody>
      </p:sp>
      <p:sp>
        <p:nvSpPr>
          <p:cNvPr id="40" name="Rectangle 39"/>
          <p:cNvSpPr/>
          <p:nvPr/>
        </p:nvSpPr>
        <p:spPr>
          <a:xfrm>
            <a:off x="6364224" y="3657600"/>
            <a:ext cx="5340096" cy="420624"/>
          </a:xfrm>
          <a:prstGeom prst="rect">
            <a:avLst/>
          </a:prstGeom>
          <a:solidFill>
            <a:srgbClr val="2E2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528816" y="3712463"/>
            <a:ext cx="1554480" cy="310896"/>
          </a:xfrm>
          <a:prstGeom prst="rect">
            <a:avLst/>
          </a:prstGeom>
          <a:noFill/>
        </p:spPr>
        <p:txBody>
          <a:bodyPr wrap="square">
            <a:spAutoFit/>
          </a:bodyPr>
          <a:lstStyle/>
          <a:p>
            <a:pPr algn="l"/>
            <a:r>
              <a:rPr sz="900" b="1" i="0">
                <a:solidFill>
                  <a:srgbClr val="F0A020"/>
                </a:solidFill>
              </a:rPr>
              <a:t>GetSales</a:t>
            </a:r>
          </a:p>
        </p:txBody>
      </p:sp>
      <p:sp>
        <p:nvSpPr>
          <p:cNvPr id="42" name="TextBox 41"/>
          <p:cNvSpPr txBox="1"/>
          <p:nvPr/>
        </p:nvSpPr>
        <p:spPr>
          <a:xfrm>
            <a:off x="8138160" y="3712463"/>
            <a:ext cx="3383280" cy="310896"/>
          </a:xfrm>
          <a:prstGeom prst="rect">
            <a:avLst/>
          </a:prstGeom>
          <a:noFill/>
        </p:spPr>
        <p:txBody>
          <a:bodyPr wrap="square">
            <a:spAutoFit/>
          </a:bodyPr>
          <a:lstStyle/>
          <a:p>
            <a:pPr algn="l"/>
            <a:r>
              <a:rPr sz="800" b="0" i="0">
                <a:solidFill>
                  <a:srgbClr val="CCCCD8"/>
                </a:solidFill>
              </a:rPr>
              <a:t>LinkedIn outreach execution</a:t>
            </a:r>
          </a:p>
        </p:txBody>
      </p:sp>
      <p:sp>
        <p:nvSpPr>
          <p:cNvPr id="43" name="Rectangle 42"/>
          <p:cNvSpPr/>
          <p:nvPr/>
        </p:nvSpPr>
        <p:spPr>
          <a:xfrm>
            <a:off x="6364224" y="4151376"/>
            <a:ext cx="5340096" cy="420624"/>
          </a:xfrm>
          <a:prstGeom prst="rect">
            <a:avLst/>
          </a:prstGeom>
          <a:solidFill>
            <a:srgbClr val="2E2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528816" y="4206240"/>
            <a:ext cx="1554480" cy="310896"/>
          </a:xfrm>
          <a:prstGeom prst="rect">
            <a:avLst/>
          </a:prstGeom>
          <a:noFill/>
        </p:spPr>
        <p:txBody>
          <a:bodyPr wrap="square">
            <a:spAutoFit/>
          </a:bodyPr>
          <a:lstStyle/>
          <a:p>
            <a:pPr algn="l"/>
            <a:r>
              <a:rPr sz="900" b="1" i="0">
                <a:solidFill>
                  <a:srgbClr val="F0A020"/>
                </a:solidFill>
              </a:rPr>
              <a:t>RB2B Pro</a:t>
            </a:r>
          </a:p>
        </p:txBody>
      </p:sp>
      <p:sp>
        <p:nvSpPr>
          <p:cNvPr id="45" name="TextBox 44"/>
          <p:cNvSpPr txBox="1"/>
          <p:nvPr/>
        </p:nvSpPr>
        <p:spPr>
          <a:xfrm>
            <a:off x="8138160" y="4206240"/>
            <a:ext cx="3383280" cy="310896"/>
          </a:xfrm>
          <a:prstGeom prst="rect">
            <a:avLst/>
          </a:prstGeom>
          <a:noFill/>
        </p:spPr>
        <p:txBody>
          <a:bodyPr wrap="square">
            <a:spAutoFit/>
          </a:bodyPr>
          <a:lstStyle/>
          <a:p>
            <a:pPr algn="l"/>
            <a:r>
              <a:rPr sz="800" b="0" i="0">
                <a:solidFill>
                  <a:srgbClr val="CCCCD8"/>
                </a:solidFill>
              </a:rPr>
              <a:t>Website visitor ID — LinkedIn match</a:t>
            </a:r>
          </a:p>
        </p:txBody>
      </p:sp>
      <p:sp>
        <p:nvSpPr>
          <p:cNvPr id="46" name="Rectangle 45"/>
          <p:cNvSpPr/>
          <p:nvPr/>
        </p:nvSpPr>
        <p:spPr>
          <a:xfrm>
            <a:off x="6364224" y="4645152"/>
            <a:ext cx="5340096" cy="420624"/>
          </a:xfrm>
          <a:prstGeom prst="rect">
            <a:avLst/>
          </a:prstGeom>
          <a:solidFill>
            <a:srgbClr val="2E2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528816" y="4700016"/>
            <a:ext cx="1554480" cy="310896"/>
          </a:xfrm>
          <a:prstGeom prst="rect">
            <a:avLst/>
          </a:prstGeom>
          <a:noFill/>
        </p:spPr>
        <p:txBody>
          <a:bodyPr wrap="square">
            <a:spAutoFit/>
          </a:bodyPr>
          <a:lstStyle/>
          <a:p>
            <a:pPr algn="l"/>
            <a:r>
              <a:rPr sz="900" b="1" i="0">
                <a:solidFill>
                  <a:srgbClr val="F0A020"/>
                </a:solidFill>
              </a:rPr>
              <a:t>Attio CRM</a:t>
            </a:r>
          </a:p>
        </p:txBody>
      </p:sp>
      <p:sp>
        <p:nvSpPr>
          <p:cNvPr id="48" name="TextBox 47"/>
          <p:cNvSpPr txBox="1"/>
          <p:nvPr/>
        </p:nvSpPr>
        <p:spPr>
          <a:xfrm>
            <a:off x="8138160" y="4700016"/>
            <a:ext cx="3383280" cy="310896"/>
          </a:xfrm>
          <a:prstGeom prst="rect">
            <a:avLst/>
          </a:prstGeom>
          <a:noFill/>
        </p:spPr>
        <p:txBody>
          <a:bodyPr wrap="square">
            <a:spAutoFit/>
          </a:bodyPr>
          <a:lstStyle/>
          <a:p>
            <a:pPr algn="l"/>
            <a:r>
              <a:rPr sz="800" b="0" i="0">
                <a:solidFill>
                  <a:srgbClr val="CCCCD8"/>
                </a:solidFill>
              </a:rPr>
              <a:t>Pipeline management — every reply tracked</a:t>
            </a:r>
          </a:p>
        </p:txBody>
      </p:sp>
      <p:sp>
        <p:nvSpPr>
          <p:cNvPr id="49" name="Rectangle 48"/>
          <p:cNvSpPr/>
          <p:nvPr/>
        </p:nvSpPr>
        <p:spPr>
          <a:xfrm>
            <a:off x="6364224" y="5138928"/>
            <a:ext cx="5340096" cy="420624"/>
          </a:xfrm>
          <a:prstGeom prst="rect">
            <a:avLst/>
          </a:prstGeom>
          <a:solidFill>
            <a:srgbClr val="2E2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528816" y="5193792"/>
            <a:ext cx="1554480" cy="310896"/>
          </a:xfrm>
          <a:prstGeom prst="rect">
            <a:avLst/>
          </a:prstGeom>
          <a:noFill/>
        </p:spPr>
        <p:txBody>
          <a:bodyPr wrap="square">
            <a:spAutoFit/>
          </a:bodyPr>
          <a:lstStyle/>
          <a:p>
            <a:pPr algn="l"/>
            <a:r>
              <a:rPr sz="900" b="1" i="0">
                <a:solidFill>
                  <a:srgbClr val="F0A020"/>
                </a:solidFill>
              </a:rPr>
              <a:t>n8n + Make</a:t>
            </a:r>
          </a:p>
        </p:txBody>
      </p:sp>
      <p:sp>
        <p:nvSpPr>
          <p:cNvPr id="51" name="TextBox 50"/>
          <p:cNvSpPr txBox="1"/>
          <p:nvPr/>
        </p:nvSpPr>
        <p:spPr>
          <a:xfrm>
            <a:off x="8138160" y="5193792"/>
            <a:ext cx="3383280" cy="310896"/>
          </a:xfrm>
          <a:prstGeom prst="rect">
            <a:avLst/>
          </a:prstGeom>
          <a:noFill/>
        </p:spPr>
        <p:txBody>
          <a:bodyPr wrap="square">
            <a:spAutoFit/>
          </a:bodyPr>
          <a:lstStyle/>
          <a:p>
            <a:pPr algn="l"/>
            <a:r>
              <a:rPr sz="800" b="0" i="0">
                <a:solidFill>
                  <a:srgbClr val="CCCCD8"/>
                </a:solidFill>
              </a:rPr>
              <a:t>Automation backbone — signal fires sequence</a:t>
            </a:r>
          </a:p>
        </p:txBody>
      </p:sp>
      <p:sp>
        <p:nvSpPr>
          <p:cNvPr id="52" name="Rectangle 51"/>
          <p:cNvSpPr/>
          <p:nvPr/>
        </p:nvSpPr>
        <p:spPr>
          <a:xfrm>
            <a:off x="6364224" y="5632704"/>
            <a:ext cx="5340096" cy="420624"/>
          </a:xfrm>
          <a:prstGeom prst="rect">
            <a:avLst/>
          </a:prstGeom>
          <a:solidFill>
            <a:srgbClr val="2E2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528816" y="5687568"/>
            <a:ext cx="1554480" cy="310896"/>
          </a:xfrm>
          <a:prstGeom prst="rect">
            <a:avLst/>
          </a:prstGeom>
          <a:noFill/>
        </p:spPr>
        <p:txBody>
          <a:bodyPr wrap="square">
            <a:spAutoFit/>
          </a:bodyPr>
          <a:lstStyle/>
          <a:p>
            <a:pPr algn="l"/>
            <a:r>
              <a:rPr sz="900" b="1" i="0">
                <a:solidFill>
                  <a:srgbClr val="F0A020"/>
                </a:solidFill>
              </a:rPr>
              <a:t>Millionverifier</a:t>
            </a:r>
          </a:p>
        </p:txBody>
      </p:sp>
      <p:sp>
        <p:nvSpPr>
          <p:cNvPr id="54" name="TextBox 53"/>
          <p:cNvSpPr txBox="1"/>
          <p:nvPr/>
        </p:nvSpPr>
        <p:spPr>
          <a:xfrm>
            <a:off x="8138160" y="5687568"/>
            <a:ext cx="3383280" cy="310896"/>
          </a:xfrm>
          <a:prstGeom prst="rect">
            <a:avLst/>
          </a:prstGeom>
          <a:noFill/>
        </p:spPr>
        <p:txBody>
          <a:bodyPr wrap="square">
            <a:spAutoFit/>
          </a:bodyPr>
          <a:lstStyle/>
          <a:p>
            <a:pPr algn="l"/>
            <a:r>
              <a:rPr sz="800" b="0" i="0">
                <a:solidFill>
                  <a:srgbClr val="CCCCD8"/>
                </a:solidFill>
              </a:rPr>
              <a:t>Email verification — bounce rate under 0.5%</a:t>
            </a:r>
          </a:p>
        </p:txBody>
      </p:sp>
      <p:sp>
        <p:nvSpPr>
          <p:cNvPr id="55" name="Rectangle 54"/>
          <p:cNvSpPr/>
          <p:nvPr/>
        </p:nvSpPr>
        <p:spPr>
          <a:xfrm>
            <a:off x="6364224" y="6126480"/>
            <a:ext cx="5340096" cy="420624"/>
          </a:xfrm>
          <a:prstGeom prst="rect">
            <a:avLst/>
          </a:prstGeom>
          <a:solidFill>
            <a:srgbClr val="2E2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528816" y="6181344"/>
            <a:ext cx="1554480" cy="310896"/>
          </a:xfrm>
          <a:prstGeom prst="rect">
            <a:avLst/>
          </a:prstGeom>
          <a:noFill/>
        </p:spPr>
        <p:txBody>
          <a:bodyPr wrap="square">
            <a:spAutoFit/>
          </a:bodyPr>
          <a:lstStyle/>
          <a:p>
            <a:pPr algn="l"/>
            <a:r>
              <a:rPr sz="900" b="1" i="0">
                <a:solidFill>
                  <a:srgbClr val="F0A020"/>
                </a:solidFill>
              </a:rPr>
              <a:t>Fathom</a:t>
            </a:r>
          </a:p>
        </p:txBody>
      </p:sp>
      <p:sp>
        <p:nvSpPr>
          <p:cNvPr id="57" name="TextBox 56"/>
          <p:cNvSpPr txBox="1"/>
          <p:nvPr/>
        </p:nvSpPr>
        <p:spPr>
          <a:xfrm>
            <a:off x="8138160" y="6181344"/>
            <a:ext cx="3383280" cy="310896"/>
          </a:xfrm>
          <a:prstGeom prst="rect">
            <a:avLst/>
          </a:prstGeom>
          <a:noFill/>
        </p:spPr>
        <p:txBody>
          <a:bodyPr wrap="square">
            <a:spAutoFit/>
          </a:bodyPr>
          <a:lstStyle/>
          <a:p>
            <a:pPr algn="l"/>
            <a:r>
              <a:rPr sz="800" b="0" i="0">
                <a:solidFill>
                  <a:srgbClr val="CCCCD8"/>
                </a:solidFill>
              </a:rPr>
              <a:t>Call recording + SDR coaching</a:t>
            </a:r>
          </a:p>
        </p:txBody>
      </p:sp>
      <p:sp>
        <p:nvSpPr>
          <p:cNvPr id="58" name="TextBox 57"/>
          <p:cNvSpPr txBox="1"/>
          <p:nvPr/>
        </p:nvSpPr>
        <p:spPr>
          <a:xfrm>
            <a:off x="11722608" y="6492240"/>
            <a:ext cx="420624" cy="310896"/>
          </a:xfrm>
          <a:prstGeom prst="rect">
            <a:avLst/>
          </a:prstGeom>
          <a:noFill/>
        </p:spPr>
        <p:txBody>
          <a:bodyPr wrap="square">
            <a:spAutoFit/>
          </a:bodyPr>
          <a:lstStyle/>
          <a:p>
            <a:pPr algn="r"/>
            <a:r>
              <a:rPr sz="900" b="0" i="0">
                <a:solidFill>
                  <a:srgbClr val="888899"/>
                </a:solidFil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CF0"/>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4864" cy="6858000"/>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82880"/>
            <a:ext cx="7315200" cy="347472"/>
          </a:xfrm>
          <a:prstGeom prst="rect">
            <a:avLst/>
          </a:prstGeom>
          <a:noFill/>
        </p:spPr>
        <p:txBody>
          <a:bodyPr wrap="square">
            <a:spAutoFit/>
          </a:bodyPr>
          <a:lstStyle/>
          <a:p>
            <a:pPr algn="l"/>
            <a:r>
              <a:rPr sz="900" b="1" i="0">
                <a:solidFill>
                  <a:srgbClr val="B8860B"/>
                </a:solidFill>
              </a:rPr>
              <a:t>THE BUILD TIMELINE</a:t>
            </a:r>
          </a:p>
        </p:txBody>
      </p:sp>
      <p:sp>
        <p:nvSpPr>
          <p:cNvPr id="5" name="TextBox 4"/>
          <p:cNvSpPr txBox="1"/>
          <p:nvPr/>
        </p:nvSpPr>
        <p:spPr>
          <a:xfrm>
            <a:off x="502920" y="585216"/>
            <a:ext cx="9601200" cy="566928"/>
          </a:xfrm>
          <a:prstGeom prst="rect">
            <a:avLst/>
          </a:prstGeom>
          <a:noFill/>
        </p:spPr>
        <p:txBody>
          <a:bodyPr wrap="square">
            <a:spAutoFit/>
          </a:bodyPr>
          <a:lstStyle/>
          <a:p>
            <a:pPr algn="l"/>
            <a:r>
              <a:rPr sz="3600" b="1" i="0">
                <a:solidFill>
                  <a:srgbClr val="1A1A2E"/>
                </a:solidFill>
              </a:rPr>
              <a:t>From Day 1 to Month 4+.</a:t>
            </a:r>
          </a:p>
        </p:txBody>
      </p:sp>
      <p:sp>
        <p:nvSpPr>
          <p:cNvPr id="6" name="TextBox 5"/>
          <p:cNvSpPr txBox="1"/>
          <p:nvPr/>
        </p:nvSpPr>
        <p:spPr>
          <a:xfrm>
            <a:off x="502920" y="1243584"/>
            <a:ext cx="10058400" cy="329184"/>
          </a:xfrm>
          <a:prstGeom prst="rect">
            <a:avLst/>
          </a:prstGeom>
          <a:noFill/>
        </p:spPr>
        <p:txBody>
          <a:bodyPr wrap="square">
            <a:spAutoFit/>
          </a:bodyPr>
          <a:lstStyle/>
          <a:p>
            <a:pPr algn="l"/>
            <a:r>
              <a:rPr sz="1100" b="0" i="1">
                <a:solidFill>
                  <a:srgbClr val="888899"/>
                </a:solidFill>
              </a:rPr>
              <a:t>Infrastructure in Week 1. First calls in Week 2. Demos guaranteed by Day 30.</a:t>
            </a:r>
          </a:p>
        </p:txBody>
      </p:sp>
      <p:sp>
        <p:nvSpPr>
          <p:cNvPr id="7" name="Rectangle 6"/>
          <p:cNvSpPr/>
          <p:nvPr/>
        </p:nvSpPr>
        <p:spPr>
          <a:xfrm>
            <a:off x="502920" y="1682496"/>
            <a:ext cx="11247120" cy="36576"/>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84048" y="1865376"/>
            <a:ext cx="1792224" cy="4736592"/>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84048" y="1865376"/>
            <a:ext cx="1792224" cy="45720"/>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93776" y="1975104"/>
            <a:ext cx="1572768" cy="292608"/>
          </a:xfrm>
          <a:prstGeom prst="rect">
            <a:avLst/>
          </a:prstGeom>
          <a:noFill/>
        </p:spPr>
        <p:txBody>
          <a:bodyPr wrap="square">
            <a:spAutoFit/>
          </a:bodyPr>
          <a:lstStyle/>
          <a:p>
            <a:pPr algn="l"/>
            <a:r>
              <a:rPr sz="850" b="1" i="0">
                <a:solidFill>
                  <a:srgbClr val="E8B830"/>
                </a:solidFill>
              </a:rPr>
              <a:t>WEEK 1</a:t>
            </a:r>
          </a:p>
        </p:txBody>
      </p:sp>
      <p:sp>
        <p:nvSpPr>
          <p:cNvPr id="11" name="TextBox 10"/>
          <p:cNvSpPr txBox="1"/>
          <p:nvPr/>
        </p:nvSpPr>
        <p:spPr>
          <a:xfrm>
            <a:off x="493776" y="2304288"/>
            <a:ext cx="1572768" cy="292608"/>
          </a:xfrm>
          <a:prstGeom prst="rect">
            <a:avLst/>
          </a:prstGeom>
          <a:noFill/>
        </p:spPr>
        <p:txBody>
          <a:bodyPr wrap="square">
            <a:spAutoFit/>
          </a:bodyPr>
          <a:lstStyle/>
          <a:p>
            <a:pPr algn="l"/>
            <a:r>
              <a:rPr sz="800" b="1" i="0">
                <a:solidFill>
                  <a:srgbClr val="FFFFFF"/>
                </a:solidFill>
              </a:rPr>
              <a:t>INFRASTRUCTURE</a:t>
            </a:r>
          </a:p>
        </p:txBody>
      </p:sp>
      <p:sp>
        <p:nvSpPr>
          <p:cNvPr id="12" name="Rectangle 11"/>
          <p:cNvSpPr/>
          <p:nvPr/>
        </p:nvSpPr>
        <p:spPr>
          <a:xfrm>
            <a:off x="493776" y="2615184"/>
            <a:ext cx="1572768" cy="27432"/>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3776" y="2743200"/>
            <a:ext cx="1572768" cy="3749039"/>
          </a:xfrm>
          <a:prstGeom prst="rect">
            <a:avLst/>
          </a:prstGeom>
          <a:noFill/>
        </p:spPr>
        <p:txBody>
          <a:bodyPr wrap="square">
            <a:spAutoFit/>
          </a:bodyPr>
          <a:lstStyle/>
          <a:p>
            <a:pPr algn="l"/>
            <a:r>
              <a:rPr sz="750" b="0" i="0">
                <a:solidFill>
                  <a:srgbClr val="CCCCD8"/>
                </a:solidFill>
              </a:rPr>
              <a:t>Audit existing Apollo + Smartlead
15 domains purchased + warmup started
5 signal monitors wired live
5 sequences written
SDR briefed on product + ICP</a:t>
            </a:r>
          </a:p>
        </p:txBody>
      </p:sp>
      <p:sp>
        <p:nvSpPr>
          <p:cNvPr id="14" name="Rectangle 13"/>
          <p:cNvSpPr/>
          <p:nvPr/>
        </p:nvSpPr>
        <p:spPr>
          <a:xfrm>
            <a:off x="2286000" y="1865376"/>
            <a:ext cx="1792224" cy="4736592"/>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286000" y="1865376"/>
            <a:ext cx="1792224" cy="45720"/>
          </a:xfrm>
          <a:prstGeom prst="rect">
            <a:avLst/>
          </a:prstGeom>
          <a:solidFill>
            <a:srgbClr val="F0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95728" y="1975104"/>
            <a:ext cx="1572768" cy="292608"/>
          </a:xfrm>
          <a:prstGeom prst="rect">
            <a:avLst/>
          </a:prstGeom>
          <a:noFill/>
        </p:spPr>
        <p:txBody>
          <a:bodyPr wrap="square">
            <a:spAutoFit/>
          </a:bodyPr>
          <a:lstStyle/>
          <a:p>
            <a:pPr algn="l"/>
            <a:r>
              <a:rPr sz="850" b="1" i="0">
                <a:solidFill>
                  <a:srgbClr val="F0A020"/>
                </a:solidFill>
              </a:rPr>
              <a:t>WEEK 2</a:t>
            </a:r>
          </a:p>
        </p:txBody>
      </p:sp>
      <p:sp>
        <p:nvSpPr>
          <p:cNvPr id="17" name="TextBox 16"/>
          <p:cNvSpPr txBox="1"/>
          <p:nvPr/>
        </p:nvSpPr>
        <p:spPr>
          <a:xfrm>
            <a:off x="2395728" y="2304288"/>
            <a:ext cx="1572768" cy="292608"/>
          </a:xfrm>
          <a:prstGeom prst="rect">
            <a:avLst/>
          </a:prstGeom>
          <a:noFill/>
        </p:spPr>
        <p:txBody>
          <a:bodyPr wrap="square">
            <a:spAutoFit/>
          </a:bodyPr>
          <a:lstStyle/>
          <a:p>
            <a:pPr algn="l"/>
            <a:r>
              <a:rPr sz="800" b="1" i="0">
                <a:solidFill>
                  <a:srgbClr val="FFFFFF"/>
                </a:solidFill>
              </a:rPr>
              <a:t>ACTIVATION</a:t>
            </a:r>
          </a:p>
        </p:txBody>
      </p:sp>
      <p:sp>
        <p:nvSpPr>
          <p:cNvPr id="18" name="Rectangle 17"/>
          <p:cNvSpPr/>
          <p:nvPr/>
        </p:nvSpPr>
        <p:spPr>
          <a:xfrm>
            <a:off x="2395728" y="2615184"/>
            <a:ext cx="1572768" cy="27432"/>
          </a:xfrm>
          <a:prstGeom prst="rect">
            <a:avLst/>
          </a:prstGeom>
          <a:solidFill>
            <a:srgbClr val="F0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395728" y="2743200"/>
            <a:ext cx="1572768" cy="3749039"/>
          </a:xfrm>
          <a:prstGeom prst="rect">
            <a:avLst/>
          </a:prstGeom>
          <a:noFill/>
        </p:spPr>
        <p:txBody>
          <a:bodyPr wrap="square">
            <a:spAutoFit/>
          </a:bodyPr>
          <a:lstStyle/>
          <a:p>
            <a:pPr algn="l"/>
            <a:r>
              <a:rPr sz="750" b="0" i="0">
                <a:solidFill>
                  <a:srgbClr val="CCCCD8"/>
                </a:solidFill>
              </a:rPr>
              <a:t>SDR starts dialing — 40-60 calls/day
Email sequences go live
LinkedIn enrichment running
First weekly report delivered
Target: first replies in</a:t>
            </a:r>
          </a:p>
        </p:txBody>
      </p:sp>
      <p:sp>
        <p:nvSpPr>
          <p:cNvPr id="20" name="Rectangle 19"/>
          <p:cNvSpPr/>
          <p:nvPr/>
        </p:nvSpPr>
        <p:spPr>
          <a:xfrm>
            <a:off x="4187952" y="1865376"/>
            <a:ext cx="1792224" cy="4736592"/>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187952" y="1865376"/>
            <a:ext cx="1792224" cy="45720"/>
          </a:xfrm>
          <a:prstGeom prst="rect">
            <a:avLst/>
          </a:prstGeom>
          <a:solidFill>
            <a:srgbClr val="28C8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297680" y="1975104"/>
            <a:ext cx="1572768" cy="292608"/>
          </a:xfrm>
          <a:prstGeom prst="rect">
            <a:avLst/>
          </a:prstGeom>
          <a:noFill/>
        </p:spPr>
        <p:txBody>
          <a:bodyPr wrap="square">
            <a:spAutoFit/>
          </a:bodyPr>
          <a:lstStyle/>
          <a:p>
            <a:pPr algn="l"/>
            <a:r>
              <a:rPr sz="850" b="1" i="0">
                <a:solidFill>
                  <a:srgbClr val="28C870"/>
                </a:solidFill>
              </a:rPr>
              <a:t>MONTH 1</a:t>
            </a:r>
          </a:p>
        </p:txBody>
      </p:sp>
      <p:sp>
        <p:nvSpPr>
          <p:cNvPr id="23" name="TextBox 22"/>
          <p:cNvSpPr txBox="1"/>
          <p:nvPr/>
        </p:nvSpPr>
        <p:spPr>
          <a:xfrm>
            <a:off x="4297680" y="2304288"/>
            <a:ext cx="1572768" cy="292608"/>
          </a:xfrm>
          <a:prstGeom prst="rect">
            <a:avLst/>
          </a:prstGeom>
          <a:noFill/>
        </p:spPr>
        <p:txBody>
          <a:bodyPr wrap="square">
            <a:spAutoFit/>
          </a:bodyPr>
          <a:lstStyle/>
          <a:p>
            <a:pPr algn="l"/>
            <a:r>
              <a:rPr sz="800" b="1" i="0">
                <a:solidFill>
                  <a:srgbClr val="FFFFFF"/>
                </a:solidFill>
              </a:rPr>
              <a:t>3-4 DEMOS</a:t>
            </a:r>
          </a:p>
        </p:txBody>
      </p:sp>
      <p:sp>
        <p:nvSpPr>
          <p:cNvPr id="24" name="Rectangle 23"/>
          <p:cNvSpPr/>
          <p:nvPr/>
        </p:nvSpPr>
        <p:spPr>
          <a:xfrm>
            <a:off x="4297680" y="2615184"/>
            <a:ext cx="1572768" cy="27432"/>
          </a:xfrm>
          <a:prstGeom prst="rect">
            <a:avLst/>
          </a:prstGeom>
          <a:solidFill>
            <a:srgbClr val="28C8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297680" y="2743200"/>
            <a:ext cx="1572768" cy="3749039"/>
          </a:xfrm>
          <a:prstGeom prst="rect">
            <a:avLst/>
          </a:prstGeom>
          <a:noFill/>
        </p:spPr>
        <p:txBody>
          <a:bodyPr wrap="square">
            <a:spAutoFit/>
          </a:bodyPr>
          <a:lstStyle/>
          <a:p>
            <a:pPr algn="l"/>
            <a:r>
              <a:rPr sz="750" b="0" i="0">
                <a:solidFill>
                  <a:srgbClr val="CCCCD8"/>
                </a:solidFill>
              </a:rPr>
              <a:t>Full signal layer running
All 5 sequences active
Weekly pipeline reporting
GUARANTEE: 3-4 demos booked
Month 2 free if not met</a:t>
            </a:r>
          </a:p>
        </p:txBody>
      </p:sp>
      <p:sp>
        <p:nvSpPr>
          <p:cNvPr id="26" name="Rectangle 25"/>
          <p:cNvSpPr/>
          <p:nvPr/>
        </p:nvSpPr>
        <p:spPr>
          <a:xfrm>
            <a:off x="6089904" y="1865376"/>
            <a:ext cx="1792224" cy="4736592"/>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089904" y="1865376"/>
            <a:ext cx="1792224" cy="45720"/>
          </a:xfrm>
          <a:prstGeom prst="rect">
            <a:avLst/>
          </a:prstGeom>
          <a:solidFill>
            <a:srgbClr val="F5D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199632" y="1975104"/>
            <a:ext cx="1572768" cy="292608"/>
          </a:xfrm>
          <a:prstGeom prst="rect">
            <a:avLst/>
          </a:prstGeom>
          <a:noFill/>
        </p:spPr>
        <p:txBody>
          <a:bodyPr wrap="square">
            <a:spAutoFit/>
          </a:bodyPr>
          <a:lstStyle/>
          <a:p>
            <a:pPr algn="l"/>
            <a:r>
              <a:rPr sz="850" b="1" i="0">
                <a:solidFill>
                  <a:srgbClr val="F5D060"/>
                </a:solidFill>
              </a:rPr>
              <a:t>MONTH 2</a:t>
            </a:r>
          </a:p>
        </p:txBody>
      </p:sp>
      <p:sp>
        <p:nvSpPr>
          <p:cNvPr id="29" name="TextBox 28"/>
          <p:cNvSpPr txBox="1"/>
          <p:nvPr/>
        </p:nvSpPr>
        <p:spPr>
          <a:xfrm>
            <a:off x="6199632" y="2304288"/>
            <a:ext cx="1572768" cy="292608"/>
          </a:xfrm>
          <a:prstGeom prst="rect">
            <a:avLst/>
          </a:prstGeom>
          <a:noFill/>
        </p:spPr>
        <p:txBody>
          <a:bodyPr wrap="square">
            <a:spAutoFit/>
          </a:bodyPr>
          <a:lstStyle/>
          <a:p>
            <a:pPr algn="l"/>
            <a:r>
              <a:rPr sz="800" b="1" i="0">
                <a:solidFill>
                  <a:srgbClr val="FFFFFF"/>
                </a:solidFill>
              </a:rPr>
              <a:t>OPTIMISATION</a:t>
            </a:r>
          </a:p>
        </p:txBody>
      </p:sp>
      <p:sp>
        <p:nvSpPr>
          <p:cNvPr id="30" name="Rectangle 29"/>
          <p:cNvSpPr/>
          <p:nvPr/>
        </p:nvSpPr>
        <p:spPr>
          <a:xfrm>
            <a:off x="6199632" y="2615184"/>
            <a:ext cx="1572768" cy="27432"/>
          </a:xfrm>
          <a:prstGeom prst="rect">
            <a:avLst/>
          </a:prstGeom>
          <a:solidFill>
            <a:srgbClr val="F5D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199632" y="2743200"/>
            <a:ext cx="1572768" cy="3749039"/>
          </a:xfrm>
          <a:prstGeom prst="rect">
            <a:avLst/>
          </a:prstGeom>
          <a:noFill/>
        </p:spPr>
        <p:txBody>
          <a:bodyPr wrap="square">
            <a:spAutoFit/>
          </a:bodyPr>
          <a:lstStyle/>
          <a:p>
            <a:pPr algn="l"/>
            <a:r>
              <a:rPr sz="750" b="0" i="0">
                <a:solidFill>
                  <a:srgbClr val="CCCCD8"/>
                </a:solidFill>
              </a:rPr>
              <a:t>Analyse which signals converted
Rebuild underperforming sequences
Double down on best performers
Increase volume on proven triggers
Target: 5-6 demos/month</a:t>
            </a:r>
          </a:p>
        </p:txBody>
      </p:sp>
      <p:sp>
        <p:nvSpPr>
          <p:cNvPr id="32" name="Rectangle 31"/>
          <p:cNvSpPr/>
          <p:nvPr/>
        </p:nvSpPr>
        <p:spPr>
          <a:xfrm>
            <a:off x="7991856" y="1865376"/>
            <a:ext cx="1792224" cy="4736592"/>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991856" y="1865376"/>
            <a:ext cx="1792224" cy="45720"/>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101583" y="1975104"/>
            <a:ext cx="1572768" cy="292608"/>
          </a:xfrm>
          <a:prstGeom prst="rect">
            <a:avLst/>
          </a:prstGeom>
          <a:noFill/>
        </p:spPr>
        <p:txBody>
          <a:bodyPr wrap="square">
            <a:spAutoFit/>
          </a:bodyPr>
          <a:lstStyle/>
          <a:p>
            <a:pPr algn="l"/>
            <a:r>
              <a:rPr sz="850" b="1" i="0">
                <a:solidFill>
                  <a:srgbClr val="E8B830"/>
                </a:solidFill>
              </a:rPr>
              <a:t>MONTH 3</a:t>
            </a:r>
          </a:p>
        </p:txBody>
      </p:sp>
      <p:sp>
        <p:nvSpPr>
          <p:cNvPr id="35" name="TextBox 34"/>
          <p:cNvSpPr txBox="1"/>
          <p:nvPr/>
        </p:nvSpPr>
        <p:spPr>
          <a:xfrm>
            <a:off x="8101583" y="2304288"/>
            <a:ext cx="1572768" cy="292608"/>
          </a:xfrm>
          <a:prstGeom prst="rect">
            <a:avLst/>
          </a:prstGeom>
          <a:noFill/>
        </p:spPr>
        <p:txBody>
          <a:bodyPr wrap="square">
            <a:spAutoFit/>
          </a:bodyPr>
          <a:lstStyle/>
          <a:p>
            <a:pPr algn="l"/>
            <a:r>
              <a:rPr sz="800" b="1" i="0">
                <a:solidFill>
                  <a:srgbClr val="FFFFFF"/>
                </a:solidFill>
              </a:rPr>
              <a:t>SCALE</a:t>
            </a:r>
          </a:p>
        </p:txBody>
      </p:sp>
      <p:sp>
        <p:nvSpPr>
          <p:cNvPr id="36" name="Rectangle 35"/>
          <p:cNvSpPr/>
          <p:nvPr/>
        </p:nvSpPr>
        <p:spPr>
          <a:xfrm>
            <a:off x="8101583" y="2615184"/>
            <a:ext cx="1572768" cy="27432"/>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101583" y="2743200"/>
            <a:ext cx="1572768" cy="3749039"/>
          </a:xfrm>
          <a:prstGeom prst="rect">
            <a:avLst/>
          </a:prstGeom>
          <a:noFill/>
        </p:spPr>
        <p:txBody>
          <a:bodyPr wrap="square">
            <a:spAutoFit/>
          </a:bodyPr>
          <a:lstStyle/>
          <a:p>
            <a:pPr algn="l"/>
            <a:r>
              <a:rPr sz="750" b="0" i="0">
                <a:solidFill>
                  <a:srgbClr val="CCCCD8"/>
                </a:solidFill>
              </a:rPr>
              <a:t>All 5 signals at full volume
SDR script refined by real data
System fully optimised
Target: 6-8 demos/month
Month 4 transition plan delivered</a:t>
            </a:r>
          </a:p>
        </p:txBody>
      </p:sp>
      <p:sp>
        <p:nvSpPr>
          <p:cNvPr id="38" name="Rectangle 37"/>
          <p:cNvSpPr/>
          <p:nvPr/>
        </p:nvSpPr>
        <p:spPr>
          <a:xfrm>
            <a:off x="9893808" y="1865376"/>
            <a:ext cx="1792224" cy="4736592"/>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893808" y="1865376"/>
            <a:ext cx="1792224" cy="45720"/>
          </a:xfrm>
          <a:prstGeom prst="rect">
            <a:avLst/>
          </a:prstGeom>
          <a:solidFill>
            <a:srgbClr val="F0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003536" y="1975104"/>
            <a:ext cx="1572768" cy="292608"/>
          </a:xfrm>
          <a:prstGeom prst="rect">
            <a:avLst/>
          </a:prstGeom>
          <a:noFill/>
        </p:spPr>
        <p:txBody>
          <a:bodyPr wrap="square">
            <a:spAutoFit/>
          </a:bodyPr>
          <a:lstStyle/>
          <a:p>
            <a:pPr algn="l"/>
            <a:r>
              <a:rPr sz="850" b="1" i="0">
                <a:solidFill>
                  <a:srgbClr val="F0A020"/>
                </a:solidFill>
              </a:rPr>
              <a:t>MONTH 4+</a:t>
            </a:r>
          </a:p>
        </p:txBody>
      </p:sp>
      <p:sp>
        <p:nvSpPr>
          <p:cNvPr id="41" name="TextBox 40"/>
          <p:cNvSpPr txBox="1"/>
          <p:nvPr/>
        </p:nvSpPr>
        <p:spPr>
          <a:xfrm>
            <a:off x="10003536" y="2304288"/>
            <a:ext cx="1572768" cy="292608"/>
          </a:xfrm>
          <a:prstGeom prst="rect">
            <a:avLst/>
          </a:prstGeom>
          <a:noFill/>
        </p:spPr>
        <p:txBody>
          <a:bodyPr wrap="square">
            <a:spAutoFit/>
          </a:bodyPr>
          <a:lstStyle/>
          <a:p>
            <a:pPr algn="l"/>
            <a:r>
              <a:rPr sz="800" b="1" i="0">
                <a:solidFill>
                  <a:srgbClr val="FFFFFF"/>
                </a:solidFill>
              </a:rPr>
              <a:t>$2,500/MONTH</a:t>
            </a:r>
          </a:p>
        </p:txBody>
      </p:sp>
      <p:sp>
        <p:nvSpPr>
          <p:cNvPr id="42" name="Rectangle 41"/>
          <p:cNvSpPr/>
          <p:nvPr/>
        </p:nvSpPr>
        <p:spPr>
          <a:xfrm>
            <a:off x="10003536" y="2615184"/>
            <a:ext cx="1572768" cy="27432"/>
          </a:xfrm>
          <a:prstGeom prst="rect">
            <a:avLst/>
          </a:prstGeom>
          <a:solidFill>
            <a:srgbClr val="F0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003536" y="2743200"/>
            <a:ext cx="1572768" cy="3749039"/>
          </a:xfrm>
          <a:prstGeom prst="rect">
            <a:avLst/>
          </a:prstGeom>
          <a:noFill/>
        </p:spPr>
        <p:txBody>
          <a:bodyPr wrap="square">
            <a:spAutoFit/>
          </a:bodyPr>
          <a:lstStyle/>
          <a:p>
            <a:pPr algn="l"/>
            <a:r>
              <a:rPr sz="750" b="0" i="0">
                <a:solidFill>
                  <a:srgbClr val="CCCCD8"/>
                </a:solidFill>
              </a:rPr>
              <a:t>SDR trained + running independently
Continuous signal monitoring
Monthly reporting
New sequences as market shifts
SDR role: booking OR closing</a:t>
            </a:r>
          </a:p>
        </p:txBody>
      </p:sp>
      <p:sp>
        <p:nvSpPr>
          <p:cNvPr id="44" name="TextBox 43"/>
          <p:cNvSpPr txBox="1"/>
          <p:nvPr/>
        </p:nvSpPr>
        <p:spPr>
          <a:xfrm>
            <a:off x="11722608" y="6492240"/>
            <a:ext cx="420624" cy="310896"/>
          </a:xfrm>
          <a:prstGeom prst="rect">
            <a:avLst/>
          </a:prstGeom>
          <a:noFill/>
        </p:spPr>
        <p:txBody>
          <a:bodyPr wrap="square">
            <a:spAutoFit/>
          </a:bodyPr>
          <a:lstStyle/>
          <a:p>
            <a:pPr algn="r"/>
            <a:r>
              <a:rPr sz="900" b="0" i="0">
                <a:solidFill>
                  <a:srgbClr val="888899"/>
                </a:solidFil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64008" cy="6858000"/>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 y="0"/>
            <a:ext cx="12124944" cy="36576"/>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9144000" cy="347472"/>
          </a:xfrm>
          <a:prstGeom prst="rect">
            <a:avLst/>
          </a:prstGeom>
          <a:noFill/>
        </p:spPr>
        <p:txBody>
          <a:bodyPr wrap="square">
            <a:spAutoFit/>
          </a:bodyPr>
          <a:lstStyle/>
          <a:p>
            <a:pPr algn="l"/>
            <a:r>
              <a:rPr sz="900" b="1" i="0">
                <a:solidFill>
                  <a:srgbClr val="E8B830"/>
                </a:solidFill>
              </a:rPr>
              <a:t>THE PIPELINE MATH</a:t>
            </a:r>
          </a:p>
        </p:txBody>
      </p:sp>
      <p:sp>
        <p:nvSpPr>
          <p:cNvPr id="5" name="TextBox 4"/>
          <p:cNvSpPr txBox="1"/>
          <p:nvPr/>
        </p:nvSpPr>
        <p:spPr>
          <a:xfrm>
            <a:off x="502920" y="566928"/>
            <a:ext cx="9601200" cy="566928"/>
          </a:xfrm>
          <a:prstGeom prst="rect">
            <a:avLst/>
          </a:prstGeom>
          <a:noFill/>
        </p:spPr>
        <p:txBody>
          <a:bodyPr wrap="square">
            <a:spAutoFit/>
          </a:bodyPr>
          <a:lstStyle/>
          <a:p>
            <a:pPr algn="l"/>
            <a:r>
              <a:rPr sz="3600" b="1" i="0">
                <a:solidFill>
                  <a:srgbClr val="FFFFFF"/>
                </a:solidFill>
              </a:rPr>
              <a:t>Month 1 On Paper.</a:t>
            </a:r>
          </a:p>
        </p:txBody>
      </p:sp>
      <p:sp>
        <p:nvSpPr>
          <p:cNvPr id="6" name="TextBox 5"/>
          <p:cNvSpPr txBox="1"/>
          <p:nvPr/>
        </p:nvSpPr>
        <p:spPr>
          <a:xfrm>
            <a:off x="502920" y="1225296"/>
            <a:ext cx="10058400" cy="329184"/>
          </a:xfrm>
          <a:prstGeom prst="rect">
            <a:avLst/>
          </a:prstGeom>
          <a:noFill/>
        </p:spPr>
        <p:txBody>
          <a:bodyPr wrap="square">
            <a:spAutoFit/>
          </a:bodyPr>
          <a:lstStyle/>
          <a:p>
            <a:pPr algn="l"/>
            <a:r>
              <a:rPr sz="1100" b="0" i="1">
                <a:solidFill>
                  <a:srgbClr val="CCCCD8"/>
                </a:solidFill>
              </a:rPr>
              <a:t>Conservative model. Not the ceiling.</a:t>
            </a:r>
          </a:p>
        </p:txBody>
      </p:sp>
      <p:sp>
        <p:nvSpPr>
          <p:cNvPr id="7" name="Rectangle 6"/>
          <p:cNvSpPr/>
          <p:nvPr/>
        </p:nvSpPr>
        <p:spPr>
          <a:xfrm>
            <a:off x="502920" y="1664208"/>
            <a:ext cx="11247120" cy="36576"/>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847088"/>
            <a:ext cx="5303520" cy="950976"/>
          </a:xfrm>
          <a:prstGeom prst="rect">
            <a:avLst/>
          </a:prstGeom>
          <a:solidFill>
            <a:srgbClr val="26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847088"/>
            <a:ext cx="5303520" cy="45720"/>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1938528"/>
            <a:ext cx="1280160" cy="457200"/>
          </a:xfrm>
          <a:prstGeom prst="rect">
            <a:avLst/>
          </a:prstGeom>
          <a:noFill/>
        </p:spPr>
        <p:txBody>
          <a:bodyPr wrap="square">
            <a:spAutoFit/>
          </a:bodyPr>
          <a:lstStyle/>
          <a:p>
            <a:pPr algn="l"/>
            <a:r>
              <a:rPr sz="2800" b="1" i="0">
                <a:solidFill>
                  <a:srgbClr val="E8B830"/>
                </a:solidFill>
              </a:rPr>
              <a:t>150</a:t>
            </a:r>
          </a:p>
        </p:txBody>
      </p:sp>
      <p:sp>
        <p:nvSpPr>
          <p:cNvPr id="11" name="TextBox 10"/>
          <p:cNvSpPr txBox="1"/>
          <p:nvPr/>
        </p:nvSpPr>
        <p:spPr>
          <a:xfrm>
            <a:off x="2057400" y="2011680"/>
            <a:ext cx="3566160" cy="420624"/>
          </a:xfrm>
          <a:prstGeom prst="rect">
            <a:avLst/>
          </a:prstGeom>
          <a:noFill/>
        </p:spPr>
        <p:txBody>
          <a:bodyPr wrap="square">
            <a:spAutoFit/>
          </a:bodyPr>
          <a:lstStyle/>
          <a:p>
            <a:pPr algn="l"/>
            <a:r>
              <a:rPr sz="1000" b="0" i="0">
                <a:solidFill>
                  <a:srgbClr val="FFFFFF"/>
                </a:solidFill>
              </a:rPr>
              <a:t>Signal-triggered calls made</a:t>
            </a:r>
          </a:p>
        </p:txBody>
      </p:sp>
      <p:sp>
        <p:nvSpPr>
          <p:cNvPr id="12" name="Rectangle 11"/>
          <p:cNvSpPr/>
          <p:nvPr/>
        </p:nvSpPr>
        <p:spPr>
          <a:xfrm>
            <a:off x="3044952" y="2798064"/>
            <a:ext cx="36576" cy="128016"/>
          </a:xfrm>
          <a:prstGeom prst="rect">
            <a:avLst/>
          </a:prstGeom>
          <a:solidFill>
            <a:srgbClr val="888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1520" y="2926080"/>
            <a:ext cx="4846320" cy="950976"/>
          </a:xfrm>
          <a:prstGeom prst="rect">
            <a:avLst/>
          </a:prstGeom>
          <a:solidFill>
            <a:srgbClr val="26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2926080"/>
            <a:ext cx="4846320" cy="45720"/>
          </a:xfrm>
          <a:prstGeom prst="rect">
            <a:avLst/>
          </a:prstGeom>
          <a:solidFill>
            <a:srgbClr val="F0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3017520"/>
            <a:ext cx="1280160" cy="457200"/>
          </a:xfrm>
          <a:prstGeom prst="rect">
            <a:avLst/>
          </a:prstGeom>
          <a:noFill/>
        </p:spPr>
        <p:txBody>
          <a:bodyPr wrap="square">
            <a:spAutoFit/>
          </a:bodyPr>
          <a:lstStyle/>
          <a:p>
            <a:pPr algn="l"/>
            <a:r>
              <a:rPr sz="2800" b="1" i="0">
                <a:solidFill>
                  <a:srgbClr val="F0A020"/>
                </a:solidFill>
              </a:rPr>
              <a:t>22</a:t>
            </a:r>
          </a:p>
        </p:txBody>
      </p:sp>
      <p:sp>
        <p:nvSpPr>
          <p:cNvPr id="16" name="TextBox 15"/>
          <p:cNvSpPr txBox="1"/>
          <p:nvPr/>
        </p:nvSpPr>
        <p:spPr>
          <a:xfrm>
            <a:off x="2286000" y="3090672"/>
            <a:ext cx="3108960" cy="420624"/>
          </a:xfrm>
          <a:prstGeom prst="rect">
            <a:avLst/>
          </a:prstGeom>
          <a:noFill/>
        </p:spPr>
        <p:txBody>
          <a:bodyPr wrap="square">
            <a:spAutoFit/>
          </a:bodyPr>
          <a:lstStyle/>
          <a:p>
            <a:pPr algn="l"/>
            <a:r>
              <a:rPr sz="1000" b="0" i="0">
                <a:solidFill>
                  <a:srgbClr val="FFFFFF"/>
                </a:solidFill>
              </a:rPr>
              <a:t>Connects at 15-16% rate</a:t>
            </a:r>
          </a:p>
        </p:txBody>
      </p:sp>
      <p:sp>
        <p:nvSpPr>
          <p:cNvPr id="17" name="Rectangle 16"/>
          <p:cNvSpPr/>
          <p:nvPr/>
        </p:nvSpPr>
        <p:spPr>
          <a:xfrm>
            <a:off x="3044952" y="3877056"/>
            <a:ext cx="36576" cy="128016"/>
          </a:xfrm>
          <a:prstGeom prst="rect">
            <a:avLst/>
          </a:prstGeom>
          <a:solidFill>
            <a:srgbClr val="888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60120" y="4005072"/>
            <a:ext cx="4389120" cy="950976"/>
          </a:xfrm>
          <a:prstGeom prst="rect">
            <a:avLst/>
          </a:prstGeom>
          <a:solidFill>
            <a:srgbClr val="26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60120" y="4005072"/>
            <a:ext cx="4389120" cy="45720"/>
          </a:xfrm>
          <a:prstGeom prst="rect">
            <a:avLst/>
          </a:prstGeom>
          <a:solidFill>
            <a:srgbClr val="F5D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61288" y="4096511"/>
            <a:ext cx="1280160" cy="457200"/>
          </a:xfrm>
          <a:prstGeom prst="rect">
            <a:avLst/>
          </a:prstGeom>
          <a:noFill/>
        </p:spPr>
        <p:txBody>
          <a:bodyPr wrap="square">
            <a:spAutoFit/>
          </a:bodyPr>
          <a:lstStyle/>
          <a:p>
            <a:pPr algn="l"/>
            <a:r>
              <a:rPr sz="2800" b="1" i="0">
                <a:solidFill>
                  <a:srgbClr val="F5D060"/>
                </a:solidFill>
              </a:rPr>
              <a:t>6-9</a:t>
            </a:r>
          </a:p>
        </p:txBody>
      </p:sp>
      <p:sp>
        <p:nvSpPr>
          <p:cNvPr id="21" name="TextBox 20"/>
          <p:cNvSpPr txBox="1"/>
          <p:nvPr/>
        </p:nvSpPr>
        <p:spPr>
          <a:xfrm>
            <a:off x="2514600" y="4169663"/>
            <a:ext cx="2651760" cy="420624"/>
          </a:xfrm>
          <a:prstGeom prst="rect">
            <a:avLst/>
          </a:prstGeom>
          <a:noFill/>
        </p:spPr>
        <p:txBody>
          <a:bodyPr wrap="square">
            <a:spAutoFit/>
          </a:bodyPr>
          <a:lstStyle/>
          <a:p>
            <a:pPr algn="l"/>
            <a:r>
              <a:rPr sz="1000" b="0" i="0">
                <a:solidFill>
                  <a:srgbClr val="FFFFFF"/>
                </a:solidFill>
              </a:rPr>
              <a:t>Conversations (30-40% of connects)</a:t>
            </a:r>
          </a:p>
        </p:txBody>
      </p:sp>
      <p:sp>
        <p:nvSpPr>
          <p:cNvPr id="22" name="Rectangle 21"/>
          <p:cNvSpPr/>
          <p:nvPr/>
        </p:nvSpPr>
        <p:spPr>
          <a:xfrm>
            <a:off x="3044952" y="4956048"/>
            <a:ext cx="36576" cy="128016"/>
          </a:xfrm>
          <a:prstGeom prst="rect">
            <a:avLst/>
          </a:prstGeom>
          <a:solidFill>
            <a:srgbClr val="888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188720" y="5084064"/>
            <a:ext cx="3931920" cy="950976"/>
          </a:xfrm>
          <a:prstGeom prst="rect">
            <a:avLst/>
          </a:prstGeom>
          <a:solidFill>
            <a:srgbClr val="26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188720" y="5084064"/>
            <a:ext cx="3931920" cy="45720"/>
          </a:xfrm>
          <a:prstGeom prst="rect">
            <a:avLst/>
          </a:prstGeom>
          <a:solidFill>
            <a:srgbClr val="28C8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389888" y="5175504"/>
            <a:ext cx="1280160" cy="457200"/>
          </a:xfrm>
          <a:prstGeom prst="rect">
            <a:avLst/>
          </a:prstGeom>
          <a:noFill/>
        </p:spPr>
        <p:txBody>
          <a:bodyPr wrap="square">
            <a:spAutoFit/>
          </a:bodyPr>
          <a:lstStyle/>
          <a:p>
            <a:pPr algn="l"/>
            <a:r>
              <a:rPr sz="2800" b="1" i="0">
                <a:solidFill>
                  <a:srgbClr val="28C870"/>
                </a:solidFill>
              </a:rPr>
              <a:t>3-4</a:t>
            </a:r>
          </a:p>
        </p:txBody>
      </p:sp>
      <p:sp>
        <p:nvSpPr>
          <p:cNvPr id="26" name="TextBox 25"/>
          <p:cNvSpPr txBox="1"/>
          <p:nvPr/>
        </p:nvSpPr>
        <p:spPr>
          <a:xfrm>
            <a:off x="2743200" y="5248656"/>
            <a:ext cx="2194560" cy="420624"/>
          </a:xfrm>
          <a:prstGeom prst="rect">
            <a:avLst/>
          </a:prstGeom>
          <a:noFill/>
        </p:spPr>
        <p:txBody>
          <a:bodyPr wrap="square">
            <a:spAutoFit/>
          </a:bodyPr>
          <a:lstStyle/>
          <a:p>
            <a:pPr algn="l"/>
            <a:r>
              <a:rPr sz="1000" b="0" i="0">
                <a:solidFill>
                  <a:srgbClr val="FFFFFF"/>
                </a:solidFill>
              </a:rPr>
              <a:t>Demos booked (GUARANTEED)</a:t>
            </a:r>
          </a:p>
        </p:txBody>
      </p:sp>
      <p:sp>
        <p:nvSpPr>
          <p:cNvPr id="27" name="Rectangle 26"/>
          <p:cNvSpPr/>
          <p:nvPr/>
        </p:nvSpPr>
        <p:spPr>
          <a:xfrm>
            <a:off x="6583680" y="1847088"/>
            <a:ext cx="5193792" cy="1444752"/>
          </a:xfrm>
          <a:prstGeom prst="rect">
            <a:avLst/>
          </a:prstGeom>
          <a:solidFill>
            <a:srgbClr val="26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583680" y="1847088"/>
            <a:ext cx="5193792" cy="45720"/>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748272" y="1975104"/>
            <a:ext cx="1828800" cy="274320"/>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39712" y="2011680"/>
            <a:ext cx="1645920" cy="201167"/>
          </a:xfrm>
          <a:prstGeom prst="rect">
            <a:avLst/>
          </a:prstGeom>
          <a:noFill/>
        </p:spPr>
        <p:txBody>
          <a:bodyPr wrap="square">
            <a:spAutoFit/>
          </a:bodyPr>
          <a:lstStyle/>
          <a:p>
            <a:pPr algn="ctr"/>
            <a:r>
              <a:rPr sz="900" b="1" i="0">
                <a:solidFill>
                  <a:srgbClr val="1A1A2E"/>
                </a:solidFill>
              </a:rPr>
              <a:t>CONSERVATIVE</a:t>
            </a:r>
          </a:p>
        </p:txBody>
      </p:sp>
      <p:sp>
        <p:nvSpPr>
          <p:cNvPr id="31" name="TextBox 30"/>
          <p:cNvSpPr txBox="1"/>
          <p:nvPr/>
        </p:nvSpPr>
        <p:spPr>
          <a:xfrm>
            <a:off x="6784848" y="2359152"/>
            <a:ext cx="2377440" cy="420624"/>
          </a:xfrm>
          <a:prstGeom prst="rect">
            <a:avLst/>
          </a:prstGeom>
          <a:noFill/>
        </p:spPr>
        <p:txBody>
          <a:bodyPr wrap="square">
            <a:spAutoFit/>
          </a:bodyPr>
          <a:lstStyle/>
          <a:p>
            <a:pPr algn="l"/>
            <a:r>
              <a:rPr sz="2000" b="1" i="0">
                <a:solidFill>
                  <a:srgbClr val="E8B830"/>
                </a:solidFill>
              </a:rPr>
              <a:t>3-4 demos</a:t>
            </a:r>
          </a:p>
        </p:txBody>
      </p:sp>
      <p:sp>
        <p:nvSpPr>
          <p:cNvPr id="32" name="TextBox 31"/>
          <p:cNvSpPr txBox="1"/>
          <p:nvPr/>
        </p:nvSpPr>
        <p:spPr>
          <a:xfrm>
            <a:off x="6784848" y="2798064"/>
            <a:ext cx="1828800" cy="329184"/>
          </a:xfrm>
          <a:prstGeom prst="rect">
            <a:avLst/>
          </a:prstGeom>
          <a:noFill/>
        </p:spPr>
        <p:txBody>
          <a:bodyPr wrap="square">
            <a:spAutoFit/>
          </a:bodyPr>
          <a:lstStyle/>
          <a:p>
            <a:pPr algn="l"/>
            <a:r>
              <a:rPr sz="900" b="0" i="0">
                <a:solidFill>
                  <a:srgbClr val="888899"/>
                </a:solidFill>
              </a:rPr>
              <a:t>Month 1</a:t>
            </a:r>
          </a:p>
        </p:txBody>
      </p:sp>
      <p:sp>
        <p:nvSpPr>
          <p:cNvPr id="33" name="TextBox 32"/>
          <p:cNvSpPr txBox="1"/>
          <p:nvPr/>
        </p:nvSpPr>
        <p:spPr>
          <a:xfrm>
            <a:off x="9509760" y="2414016"/>
            <a:ext cx="2103120" cy="329184"/>
          </a:xfrm>
          <a:prstGeom prst="rect">
            <a:avLst/>
          </a:prstGeom>
          <a:noFill/>
        </p:spPr>
        <p:txBody>
          <a:bodyPr wrap="square">
            <a:spAutoFit/>
          </a:bodyPr>
          <a:lstStyle/>
          <a:p>
            <a:pPr algn="l"/>
            <a:r>
              <a:rPr sz="900" b="0" i="0">
                <a:solidFill>
                  <a:srgbClr val="CCCCD8"/>
                </a:solidFill>
              </a:rPr>
              <a:t>150 calls / 15% connect</a:t>
            </a:r>
          </a:p>
        </p:txBody>
      </p:sp>
      <p:sp>
        <p:nvSpPr>
          <p:cNvPr id="34" name="Rectangle 33"/>
          <p:cNvSpPr/>
          <p:nvPr/>
        </p:nvSpPr>
        <p:spPr>
          <a:xfrm>
            <a:off x="6583680" y="3419856"/>
            <a:ext cx="5193792" cy="1444752"/>
          </a:xfrm>
          <a:prstGeom prst="rect">
            <a:avLst/>
          </a:prstGeom>
          <a:solidFill>
            <a:srgbClr val="26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583680" y="3419856"/>
            <a:ext cx="5193792" cy="45720"/>
          </a:xfrm>
          <a:prstGeom prst="rect">
            <a:avLst/>
          </a:prstGeom>
          <a:solidFill>
            <a:srgbClr val="28C8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748272" y="3547872"/>
            <a:ext cx="1828800" cy="274320"/>
          </a:xfrm>
          <a:prstGeom prst="rect">
            <a:avLst/>
          </a:prstGeom>
          <a:solidFill>
            <a:srgbClr val="28C8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839712" y="3584448"/>
            <a:ext cx="1645920" cy="201167"/>
          </a:xfrm>
          <a:prstGeom prst="rect">
            <a:avLst/>
          </a:prstGeom>
          <a:noFill/>
        </p:spPr>
        <p:txBody>
          <a:bodyPr wrap="square">
            <a:spAutoFit/>
          </a:bodyPr>
          <a:lstStyle/>
          <a:p>
            <a:pPr algn="ctr"/>
            <a:r>
              <a:rPr sz="900" b="1" i="0">
                <a:solidFill>
                  <a:srgbClr val="1A1A2E"/>
                </a:solidFill>
              </a:rPr>
              <a:t>OPTIMISED</a:t>
            </a:r>
          </a:p>
        </p:txBody>
      </p:sp>
      <p:sp>
        <p:nvSpPr>
          <p:cNvPr id="38" name="TextBox 37"/>
          <p:cNvSpPr txBox="1"/>
          <p:nvPr/>
        </p:nvSpPr>
        <p:spPr>
          <a:xfrm>
            <a:off x="6784848" y="3931920"/>
            <a:ext cx="2377440" cy="420624"/>
          </a:xfrm>
          <a:prstGeom prst="rect">
            <a:avLst/>
          </a:prstGeom>
          <a:noFill/>
        </p:spPr>
        <p:txBody>
          <a:bodyPr wrap="square">
            <a:spAutoFit/>
          </a:bodyPr>
          <a:lstStyle/>
          <a:p>
            <a:pPr algn="l"/>
            <a:r>
              <a:rPr sz="2000" b="1" i="0">
                <a:solidFill>
                  <a:srgbClr val="28C870"/>
                </a:solidFill>
              </a:rPr>
              <a:t>5-6 demos</a:t>
            </a:r>
          </a:p>
        </p:txBody>
      </p:sp>
      <p:sp>
        <p:nvSpPr>
          <p:cNvPr id="39" name="TextBox 38"/>
          <p:cNvSpPr txBox="1"/>
          <p:nvPr/>
        </p:nvSpPr>
        <p:spPr>
          <a:xfrm>
            <a:off x="6784848" y="4370832"/>
            <a:ext cx="1828800" cy="329184"/>
          </a:xfrm>
          <a:prstGeom prst="rect">
            <a:avLst/>
          </a:prstGeom>
          <a:noFill/>
        </p:spPr>
        <p:txBody>
          <a:bodyPr wrap="square">
            <a:spAutoFit/>
          </a:bodyPr>
          <a:lstStyle/>
          <a:p>
            <a:pPr algn="l"/>
            <a:r>
              <a:rPr sz="900" b="0" i="0">
                <a:solidFill>
                  <a:srgbClr val="888899"/>
                </a:solidFill>
              </a:rPr>
              <a:t>Month 2</a:t>
            </a:r>
          </a:p>
        </p:txBody>
      </p:sp>
      <p:sp>
        <p:nvSpPr>
          <p:cNvPr id="40" name="TextBox 39"/>
          <p:cNvSpPr txBox="1"/>
          <p:nvPr/>
        </p:nvSpPr>
        <p:spPr>
          <a:xfrm>
            <a:off x="9509760" y="3986784"/>
            <a:ext cx="2103120" cy="329184"/>
          </a:xfrm>
          <a:prstGeom prst="rect">
            <a:avLst/>
          </a:prstGeom>
          <a:noFill/>
        </p:spPr>
        <p:txBody>
          <a:bodyPr wrap="square">
            <a:spAutoFit/>
          </a:bodyPr>
          <a:lstStyle/>
          <a:p>
            <a:pPr algn="l"/>
            <a:r>
              <a:rPr sz="900" b="0" i="0">
                <a:solidFill>
                  <a:srgbClr val="CCCCD8"/>
                </a:solidFill>
              </a:rPr>
              <a:t>220 calls / 16% connect</a:t>
            </a:r>
          </a:p>
        </p:txBody>
      </p:sp>
      <p:sp>
        <p:nvSpPr>
          <p:cNvPr id="41" name="Rectangle 40"/>
          <p:cNvSpPr/>
          <p:nvPr/>
        </p:nvSpPr>
        <p:spPr>
          <a:xfrm>
            <a:off x="6583680" y="4992624"/>
            <a:ext cx="5193792" cy="1444752"/>
          </a:xfrm>
          <a:prstGeom prst="rect">
            <a:avLst/>
          </a:prstGeom>
          <a:solidFill>
            <a:srgbClr val="26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583680" y="4992624"/>
            <a:ext cx="5193792" cy="45720"/>
          </a:xfrm>
          <a:prstGeom prst="rect">
            <a:avLst/>
          </a:prstGeom>
          <a:solidFill>
            <a:srgbClr val="F5D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748272" y="5120640"/>
            <a:ext cx="1828800" cy="274320"/>
          </a:xfrm>
          <a:prstGeom prst="rect">
            <a:avLst/>
          </a:prstGeom>
          <a:solidFill>
            <a:srgbClr val="F5D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839712" y="5157216"/>
            <a:ext cx="1645920" cy="201167"/>
          </a:xfrm>
          <a:prstGeom prst="rect">
            <a:avLst/>
          </a:prstGeom>
          <a:noFill/>
        </p:spPr>
        <p:txBody>
          <a:bodyPr wrap="square">
            <a:spAutoFit/>
          </a:bodyPr>
          <a:lstStyle/>
          <a:p>
            <a:pPr algn="ctr"/>
            <a:r>
              <a:rPr sz="900" b="1" i="0">
                <a:solidFill>
                  <a:srgbClr val="1A1A2E"/>
                </a:solidFill>
              </a:rPr>
              <a:t>SCALED</a:t>
            </a:r>
          </a:p>
        </p:txBody>
      </p:sp>
      <p:sp>
        <p:nvSpPr>
          <p:cNvPr id="45" name="TextBox 44"/>
          <p:cNvSpPr txBox="1"/>
          <p:nvPr/>
        </p:nvSpPr>
        <p:spPr>
          <a:xfrm>
            <a:off x="6784848" y="5504688"/>
            <a:ext cx="2377440" cy="420624"/>
          </a:xfrm>
          <a:prstGeom prst="rect">
            <a:avLst/>
          </a:prstGeom>
          <a:noFill/>
        </p:spPr>
        <p:txBody>
          <a:bodyPr wrap="square">
            <a:spAutoFit/>
          </a:bodyPr>
          <a:lstStyle/>
          <a:p>
            <a:pPr algn="l"/>
            <a:r>
              <a:rPr sz="2000" b="1" i="0">
                <a:solidFill>
                  <a:srgbClr val="F5D060"/>
                </a:solidFill>
              </a:rPr>
              <a:t>6-8 demos</a:t>
            </a:r>
          </a:p>
        </p:txBody>
      </p:sp>
      <p:sp>
        <p:nvSpPr>
          <p:cNvPr id="46" name="TextBox 45"/>
          <p:cNvSpPr txBox="1"/>
          <p:nvPr/>
        </p:nvSpPr>
        <p:spPr>
          <a:xfrm>
            <a:off x="6784848" y="5943600"/>
            <a:ext cx="1828800" cy="329184"/>
          </a:xfrm>
          <a:prstGeom prst="rect">
            <a:avLst/>
          </a:prstGeom>
          <a:noFill/>
        </p:spPr>
        <p:txBody>
          <a:bodyPr wrap="square">
            <a:spAutoFit/>
          </a:bodyPr>
          <a:lstStyle/>
          <a:p>
            <a:pPr algn="l"/>
            <a:r>
              <a:rPr sz="900" b="0" i="0">
                <a:solidFill>
                  <a:srgbClr val="888899"/>
                </a:solidFill>
              </a:rPr>
              <a:t>Month 3</a:t>
            </a:r>
          </a:p>
        </p:txBody>
      </p:sp>
      <p:sp>
        <p:nvSpPr>
          <p:cNvPr id="47" name="TextBox 46"/>
          <p:cNvSpPr txBox="1"/>
          <p:nvPr/>
        </p:nvSpPr>
        <p:spPr>
          <a:xfrm>
            <a:off x="9509760" y="5559552"/>
            <a:ext cx="2103120" cy="329184"/>
          </a:xfrm>
          <a:prstGeom prst="rect">
            <a:avLst/>
          </a:prstGeom>
          <a:noFill/>
        </p:spPr>
        <p:txBody>
          <a:bodyPr wrap="square">
            <a:spAutoFit/>
          </a:bodyPr>
          <a:lstStyle/>
          <a:p>
            <a:pPr algn="l"/>
            <a:r>
              <a:rPr sz="900" b="0" i="0">
                <a:solidFill>
                  <a:srgbClr val="CCCCD8"/>
                </a:solidFill>
              </a:rPr>
              <a:t>300 calls / 16% connect</a:t>
            </a:r>
          </a:p>
        </p:txBody>
      </p:sp>
      <p:sp>
        <p:nvSpPr>
          <p:cNvPr id="48" name="TextBox 47"/>
          <p:cNvSpPr txBox="1"/>
          <p:nvPr/>
        </p:nvSpPr>
        <p:spPr>
          <a:xfrm>
            <a:off x="11722608" y="6492240"/>
            <a:ext cx="420624" cy="310896"/>
          </a:xfrm>
          <a:prstGeom prst="rect">
            <a:avLst/>
          </a:prstGeom>
          <a:noFill/>
        </p:spPr>
        <p:txBody>
          <a:bodyPr wrap="square">
            <a:spAutoFit/>
          </a:bodyPr>
          <a:lstStyle/>
          <a:p>
            <a:pPr algn="r"/>
            <a:r>
              <a:rPr sz="900" b="0" i="0">
                <a:solidFill>
                  <a:srgbClr val="888899"/>
                </a:solidFil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CF0"/>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E8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4864" cy="6858000"/>
          </a:xfrm>
          <a:prstGeom prst="rect">
            <a:avLst/>
          </a:prstGeom>
          <a:solidFill>
            <a:srgbClr val="E8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82880"/>
            <a:ext cx="9144000" cy="347472"/>
          </a:xfrm>
          <a:prstGeom prst="rect">
            <a:avLst/>
          </a:prstGeom>
          <a:noFill/>
        </p:spPr>
        <p:txBody>
          <a:bodyPr wrap="square">
            <a:spAutoFit/>
          </a:bodyPr>
          <a:lstStyle/>
          <a:p>
            <a:pPr algn="l"/>
            <a:r>
              <a:rPr sz="900" b="1" i="0">
                <a:solidFill>
                  <a:srgbClr val="E84040"/>
                </a:solidFill>
              </a:rPr>
              <a:t>THE COMPETITIVE CLOCK</a:t>
            </a:r>
          </a:p>
        </p:txBody>
      </p:sp>
      <p:sp>
        <p:nvSpPr>
          <p:cNvPr id="5" name="TextBox 4"/>
          <p:cNvSpPr txBox="1"/>
          <p:nvPr/>
        </p:nvSpPr>
        <p:spPr>
          <a:xfrm>
            <a:off x="502920" y="585216"/>
            <a:ext cx="9601200" cy="1097280"/>
          </a:xfrm>
          <a:prstGeom prst="rect">
            <a:avLst/>
          </a:prstGeom>
          <a:noFill/>
        </p:spPr>
        <p:txBody>
          <a:bodyPr wrap="square">
            <a:spAutoFit/>
          </a:bodyPr>
          <a:lstStyle/>
          <a:p>
            <a:pPr algn="l"/>
            <a:r>
              <a:rPr sz="3200" b="1" i="0">
                <a:solidFill>
                  <a:srgbClr val="1A1A2E"/>
                </a:solidFill>
              </a:rPr>
              <a:t>Showroom Pricing Is Moving.
Timing Is Your Only Advantage.</a:t>
            </a:r>
          </a:p>
        </p:txBody>
      </p:sp>
      <p:sp>
        <p:nvSpPr>
          <p:cNvPr id="6" name="TextBox 5"/>
          <p:cNvSpPr txBox="1"/>
          <p:nvPr/>
        </p:nvSpPr>
        <p:spPr>
          <a:xfrm>
            <a:off x="502920" y="1792224"/>
            <a:ext cx="10058400" cy="329184"/>
          </a:xfrm>
          <a:prstGeom prst="rect">
            <a:avLst/>
          </a:prstGeom>
          <a:noFill/>
        </p:spPr>
        <p:txBody>
          <a:bodyPr wrap="square">
            <a:spAutoFit/>
          </a:bodyPr>
          <a:lstStyle/>
          <a:p>
            <a:pPr algn="l"/>
            <a:r>
              <a:rPr sz="1100" b="0" i="1">
                <a:solidFill>
                  <a:srgbClr val="888899"/>
                </a:solidFill>
              </a:rPr>
              <a:t>You do not need their awareness budget. You need to be faster.</a:t>
            </a:r>
          </a:p>
        </p:txBody>
      </p:sp>
      <p:sp>
        <p:nvSpPr>
          <p:cNvPr id="7" name="Rectangle 6"/>
          <p:cNvSpPr/>
          <p:nvPr/>
        </p:nvSpPr>
        <p:spPr>
          <a:xfrm>
            <a:off x="502920" y="2212848"/>
            <a:ext cx="11247120" cy="36576"/>
          </a:xfrm>
          <a:prstGeom prst="rect">
            <a:avLst/>
          </a:prstGeom>
          <a:solidFill>
            <a:srgbClr val="E8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8912" y="2377440"/>
            <a:ext cx="5394960" cy="4151376"/>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8912" y="2377440"/>
            <a:ext cx="5394960" cy="54864"/>
          </a:xfrm>
          <a:prstGeom prst="rect">
            <a:avLst/>
          </a:prstGeom>
          <a:solidFill>
            <a:srgbClr val="E8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 y="2505456"/>
            <a:ext cx="4937760" cy="347472"/>
          </a:xfrm>
          <a:prstGeom prst="rect">
            <a:avLst/>
          </a:prstGeom>
          <a:noFill/>
        </p:spPr>
        <p:txBody>
          <a:bodyPr wrap="square">
            <a:spAutoFit/>
          </a:bodyPr>
          <a:lstStyle/>
          <a:p>
            <a:pPr algn="l"/>
            <a:r>
              <a:rPr sz="1100" b="1" i="0">
                <a:solidFill>
                  <a:srgbClr val="E84040"/>
                </a:solidFill>
              </a:rPr>
              <a:t>SHOWROOM PRICING</a:t>
            </a:r>
          </a:p>
        </p:txBody>
      </p:sp>
      <p:sp>
        <p:nvSpPr>
          <p:cNvPr id="11" name="Rectangle 10"/>
          <p:cNvSpPr/>
          <p:nvPr/>
        </p:nvSpPr>
        <p:spPr>
          <a:xfrm>
            <a:off x="585216" y="3072384"/>
            <a:ext cx="164592" cy="164592"/>
          </a:xfrm>
          <a:prstGeom prst="rect">
            <a:avLst/>
          </a:prstGeom>
          <a:solidFill>
            <a:srgbClr val="E8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 y="3017520"/>
            <a:ext cx="4754880" cy="384048"/>
          </a:xfrm>
          <a:prstGeom prst="rect">
            <a:avLst/>
          </a:prstGeom>
          <a:noFill/>
        </p:spPr>
        <p:txBody>
          <a:bodyPr wrap="square">
            <a:spAutoFit/>
          </a:bodyPr>
          <a:lstStyle/>
          <a:p>
            <a:pPr algn="l"/>
            <a:r>
              <a:rPr sz="950" b="0" i="0">
                <a:solidFill>
                  <a:srgbClr val="CCCCD8"/>
                </a:solidFill>
              </a:rPr>
              <a:t>6-year market head start</a:t>
            </a:r>
          </a:p>
        </p:txBody>
      </p:sp>
      <p:sp>
        <p:nvSpPr>
          <p:cNvPr id="13" name="Rectangle 12"/>
          <p:cNvSpPr/>
          <p:nvPr/>
        </p:nvSpPr>
        <p:spPr>
          <a:xfrm>
            <a:off x="585216" y="3639312"/>
            <a:ext cx="164592" cy="164592"/>
          </a:xfrm>
          <a:prstGeom prst="rect">
            <a:avLst/>
          </a:prstGeom>
          <a:solidFill>
            <a:srgbClr val="E8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1248" y="3584448"/>
            <a:ext cx="4754880" cy="384048"/>
          </a:xfrm>
          <a:prstGeom prst="rect">
            <a:avLst/>
          </a:prstGeom>
          <a:noFill/>
        </p:spPr>
        <p:txBody>
          <a:bodyPr wrap="square">
            <a:spAutoFit/>
          </a:bodyPr>
          <a:lstStyle/>
          <a:p>
            <a:pPr algn="l"/>
            <a:r>
              <a:rPr sz="950" b="0" i="0">
                <a:solidFill>
                  <a:srgbClr val="CCCCD8"/>
                </a:solidFill>
              </a:rPr>
              <a:t>Co-founder: 35 years in flooring</a:t>
            </a:r>
          </a:p>
        </p:txBody>
      </p:sp>
      <p:sp>
        <p:nvSpPr>
          <p:cNvPr id="15" name="Rectangle 14"/>
          <p:cNvSpPr/>
          <p:nvPr/>
        </p:nvSpPr>
        <p:spPr>
          <a:xfrm>
            <a:off x="585216" y="4206240"/>
            <a:ext cx="164592" cy="164592"/>
          </a:xfrm>
          <a:prstGeom prst="rect">
            <a:avLst/>
          </a:prstGeom>
          <a:solidFill>
            <a:srgbClr val="E8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8" y="4151376"/>
            <a:ext cx="4754880" cy="384048"/>
          </a:xfrm>
          <a:prstGeom prst="rect">
            <a:avLst/>
          </a:prstGeom>
          <a:noFill/>
        </p:spPr>
        <p:txBody>
          <a:bodyPr wrap="square">
            <a:spAutoFit/>
          </a:bodyPr>
          <a:lstStyle/>
          <a:p>
            <a:pPr algn="l"/>
            <a:r>
              <a:rPr sz="950" b="0" i="0">
                <a:solidFill>
                  <a:srgbClr val="CCCCD8"/>
                </a:solidFill>
              </a:rPr>
              <a:t>National TV: "Viewpoint with Dennis Quaid"</a:t>
            </a:r>
          </a:p>
        </p:txBody>
      </p:sp>
      <p:sp>
        <p:nvSpPr>
          <p:cNvPr id="17" name="Rectangle 16"/>
          <p:cNvSpPr/>
          <p:nvPr/>
        </p:nvSpPr>
        <p:spPr>
          <a:xfrm>
            <a:off x="585216" y="4773167"/>
            <a:ext cx="164592" cy="164592"/>
          </a:xfrm>
          <a:prstGeom prst="rect">
            <a:avLst/>
          </a:prstGeom>
          <a:solidFill>
            <a:srgbClr val="E8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1248" y="4718303"/>
            <a:ext cx="4754880" cy="384048"/>
          </a:xfrm>
          <a:prstGeom prst="rect">
            <a:avLst/>
          </a:prstGeom>
          <a:noFill/>
        </p:spPr>
        <p:txBody>
          <a:bodyPr wrap="square">
            <a:spAutoFit/>
          </a:bodyPr>
          <a:lstStyle/>
          <a:p>
            <a:pPr algn="l"/>
            <a:r>
              <a:rPr sz="950" b="0" i="0">
                <a:solidFill>
                  <a:srgbClr val="CCCCD8"/>
                </a:solidFill>
              </a:rPr>
              <a:t>Building brand awareness at scale</a:t>
            </a:r>
          </a:p>
        </p:txBody>
      </p:sp>
      <p:sp>
        <p:nvSpPr>
          <p:cNvPr id="19" name="Rectangle 18"/>
          <p:cNvSpPr/>
          <p:nvPr/>
        </p:nvSpPr>
        <p:spPr>
          <a:xfrm>
            <a:off x="585216" y="5340096"/>
            <a:ext cx="164592" cy="164592"/>
          </a:xfrm>
          <a:prstGeom prst="rect">
            <a:avLst/>
          </a:prstGeom>
          <a:solidFill>
            <a:srgbClr val="E8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1248" y="5285232"/>
            <a:ext cx="4754880" cy="384048"/>
          </a:xfrm>
          <a:prstGeom prst="rect">
            <a:avLst/>
          </a:prstGeom>
          <a:noFill/>
        </p:spPr>
        <p:txBody>
          <a:bodyPr wrap="square">
            <a:spAutoFit/>
          </a:bodyPr>
          <a:lstStyle/>
          <a:p>
            <a:pPr algn="l"/>
            <a:r>
              <a:rPr sz="950" b="0" i="0">
                <a:solidFill>
                  <a:srgbClr val="CCCCD8"/>
                </a:solidFill>
              </a:rPr>
              <a:t>Independent stores seeing their name everywhere</a:t>
            </a:r>
          </a:p>
        </p:txBody>
      </p:sp>
      <p:sp>
        <p:nvSpPr>
          <p:cNvPr id="21" name="Rectangle 20"/>
          <p:cNvSpPr/>
          <p:nvPr/>
        </p:nvSpPr>
        <p:spPr>
          <a:xfrm>
            <a:off x="585216" y="5907023"/>
            <a:ext cx="164592" cy="164592"/>
          </a:xfrm>
          <a:prstGeom prst="rect">
            <a:avLst/>
          </a:prstGeom>
          <a:solidFill>
            <a:srgbClr val="E8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1248" y="5852159"/>
            <a:ext cx="4754880" cy="384048"/>
          </a:xfrm>
          <a:prstGeom prst="rect">
            <a:avLst/>
          </a:prstGeom>
          <a:noFill/>
        </p:spPr>
        <p:txBody>
          <a:bodyPr wrap="square">
            <a:spAutoFit/>
          </a:bodyPr>
          <a:lstStyle/>
          <a:p>
            <a:pPr algn="l"/>
            <a:r>
              <a:rPr sz="950" b="0" i="0">
                <a:solidFill>
                  <a:srgbClr val="CCCCD8"/>
                </a:solidFill>
              </a:rPr>
              <a:t>New stores being reached before QR Floor Genie</a:t>
            </a:r>
          </a:p>
        </p:txBody>
      </p:sp>
      <p:sp>
        <p:nvSpPr>
          <p:cNvPr id="23" name="Rectangle 22"/>
          <p:cNvSpPr/>
          <p:nvPr/>
        </p:nvSpPr>
        <p:spPr>
          <a:xfrm>
            <a:off x="6291072" y="2377440"/>
            <a:ext cx="5486400" cy="4151376"/>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91072" y="2377440"/>
            <a:ext cx="5486400" cy="54864"/>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73952" y="2505456"/>
            <a:ext cx="5120640" cy="347472"/>
          </a:xfrm>
          <a:prstGeom prst="rect">
            <a:avLst/>
          </a:prstGeom>
          <a:noFill/>
        </p:spPr>
        <p:txBody>
          <a:bodyPr wrap="square">
            <a:spAutoFit/>
          </a:bodyPr>
          <a:lstStyle/>
          <a:p>
            <a:pPr algn="l"/>
            <a:r>
              <a:rPr sz="1100" b="1" i="0">
                <a:solidFill>
                  <a:srgbClr val="E8B830"/>
                </a:solidFill>
              </a:rPr>
              <a:t>OUR ANSWER: TIMING</a:t>
            </a:r>
          </a:p>
        </p:txBody>
      </p:sp>
      <p:sp>
        <p:nvSpPr>
          <p:cNvPr id="26" name="Rectangle 25"/>
          <p:cNvSpPr/>
          <p:nvPr/>
        </p:nvSpPr>
        <p:spPr>
          <a:xfrm>
            <a:off x="6437376" y="3072384"/>
            <a:ext cx="164592" cy="164592"/>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93408" y="3017520"/>
            <a:ext cx="4846320" cy="384048"/>
          </a:xfrm>
          <a:prstGeom prst="rect">
            <a:avLst/>
          </a:prstGeom>
          <a:noFill/>
        </p:spPr>
        <p:txBody>
          <a:bodyPr wrap="square">
            <a:spAutoFit/>
          </a:bodyPr>
          <a:lstStyle/>
          <a:p>
            <a:pPr algn="l"/>
            <a:r>
              <a:rPr sz="950" b="0" i="0">
                <a:solidFill>
                  <a:srgbClr val="CCCCD8"/>
                </a:solidFill>
              </a:rPr>
              <a:t>A store that opens Tuesday gets a call by Wednesday</a:t>
            </a:r>
          </a:p>
        </p:txBody>
      </p:sp>
      <p:sp>
        <p:nvSpPr>
          <p:cNvPr id="28" name="Rectangle 27"/>
          <p:cNvSpPr/>
          <p:nvPr/>
        </p:nvSpPr>
        <p:spPr>
          <a:xfrm>
            <a:off x="6437376" y="3639312"/>
            <a:ext cx="164592" cy="164592"/>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693408" y="3584448"/>
            <a:ext cx="4846320" cy="384048"/>
          </a:xfrm>
          <a:prstGeom prst="rect">
            <a:avLst/>
          </a:prstGeom>
          <a:noFill/>
        </p:spPr>
        <p:txBody>
          <a:bodyPr wrap="square">
            <a:spAutoFit/>
          </a:bodyPr>
          <a:lstStyle/>
          <a:p>
            <a:pPr algn="l"/>
            <a:r>
              <a:rPr sz="950" b="0" i="0">
                <a:solidFill>
                  <a:srgbClr val="CCCCD8"/>
                </a:solidFill>
              </a:rPr>
              <a:t>A new showroom manager hire is contacted within 72h</a:t>
            </a:r>
          </a:p>
        </p:txBody>
      </p:sp>
      <p:sp>
        <p:nvSpPr>
          <p:cNvPr id="30" name="Rectangle 29"/>
          <p:cNvSpPr/>
          <p:nvPr/>
        </p:nvSpPr>
        <p:spPr>
          <a:xfrm>
            <a:off x="6437376" y="4206240"/>
            <a:ext cx="164592" cy="164592"/>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93408" y="4151376"/>
            <a:ext cx="4846320" cy="384048"/>
          </a:xfrm>
          <a:prstGeom prst="rect">
            <a:avLst/>
          </a:prstGeom>
          <a:noFill/>
        </p:spPr>
        <p:txBody>
          <a:bodyPr wrap="square">
            <a:spAutoFit/>
          </a:bodyPr>
          <a:lstStyle/>
          <a:p>
            <a:pPr algn="l"/>
            <a:r>
              <a:rPr sz="950" b="0" i="0">
                <a:solidFill>
                  <a:srgbClr val="CCCCD8"/>
                </a:solidFill>
              </a:rPr>
              <a:t>Outreach references THEIR specific event, not a generic pitch</a:t>
            </a:r>
          </a:p>
        </p:txBody>
      </p:sp>
      <p:sp>
        <p:nvSpPr>
          <p:cNvPr id="32" name="Rectangle 31"/>
          <p:cNvSpPr/>
          <p:nvPr/>
        </p:nvSpPr>
        <p:spPr>
          <a:xfrm>
            <a:off x="6437376" y="4773167"/>
            <a:ext cx="164592" cy="164592"/>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693408" y="4718303"/>
            <a:ext cx="4846320" cy="384048"/>
          </a:xfrm>
          <a:prstGeom prst="rect">
            <a:avLst/>
          </a:prstGeom>
          <a:noFill/>
        </p:spPr>
        <p:txBody>
          <a:bodyPr wrap="square">
            <a:spAutoFit/>
          </a:bodyPr>
          <a:lstStyle/>
          <a:p>
            <a:pPr algn="l"/>
            <a:r>
              <a:rPr sz="950" b="0" i="0">
                <a:solidFill>
                  <a:srgbClr val="CCCCD8"/>
                </a:solidFill>
              </a:rPr>
              <a:t>Showroom Pricing cannot outrun a signal that fires at the right moment</a:t>
            </a:r>
          </a:p>
        </p:txBody>
      </p:sp>
      <p:sp>
        <p:nvSpPr>
          <p:cNvPr id="34" name="Rectangle 33"/>
          <p:cNvSpPr/>
          <p:nvPr/>
        </p:nvSpPr>
        <p:spPr>
          <a:xfrm>
            <a:off x="6437376" y="5340096"/>
            <a:ext cx="164592" cy="164592"/>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693408" y="5285232"/>
            <a:ext cx="4846320" cy="384048"/>
          </a:xfrm>
          <a:prstGeom prst="rect">
            <a:avLst/>
          </a:prstGeom>
          <a:noFill/>
        </p:spPr>
        <p:txBody>
          <a:bodyPr wrap="square">
            <a:spAutoFit/>
          </a:bodyPr>
          <a:lstStyle/>
          <a:p>
            <a:pPr algn="l"/>
            <a:r>
              <a:rPr sz="950" b="0" i="0">
                <a:solidFill>
                  <a:srgbClr val="CCCCD8"/>
                </a:solidFill>
              </a:rPr>
              <a:t>The new store that opens in Tulsa this week has a 30-day window</a:t>
            </a:r>
          </a:p>
        </p:txBody>
      </p:sp>
      <p:sp>
        <p:nvSpPr>
          <p:cNvPr id="36" name="Rectangle 35"/>
          <p:cNvSpPr/>
          <p:nvPr/>
        </p:nvSpPr>
        <p:spPr>
          <a:xfrm>
            <a:off x="6437376" y="5907023"/>
            <a:ext cx="164592" cy="164592"/>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693408" y="5852159"/>
            <a:ext cx="4846320" cy="384048"/>
          </a:xfrm>
          <a:prstGeom prst="rect">
            <a:avLst/>
          </a:prstGeom>
          <a:noFill/>
        </p:spPr>
        <p:txBody>
          <a:bodyPr wrap="square">
            <a:spAutoFit/>
          </a:bodyPr>
          <a:lstStyle/>
          <a:p>
            <a:pPr algn="l"/>
            <a:r>
              <a:rPr sz="950" b="0" i="0">
                <a:solidFill>
                  <a:srgbClr val="CCCCD8"/>
                </a:solidFill>
              </a:rPr>
              <a:t>We hit that window. Nobody else is running this.</a:t>
            </a:r>
          </a:p>
        </p:txBody>
      </p:sp>
      <p:sp>
        <p:nvSpPr>
          <p:cNvPr id="38" name="TextBox 37"/>
          <p:cNvSpPr txBox="1"/>
          <p:nvPr/>
        </p:nvSpPr>
        <p:spPr>
          <a:xfrm>
            <a:off x="11722608" y="6492240"/>
            <a:ext cx="420624" cy="310896"/>
          </a:xfrm>
          <a:prstGeom prst="rect">
            <a:avLst/>
          </a:prstGeom>
          <a:noFill/>
        </p:spPr>
        <p:txBody>
          <a:bodyPr wrap="square">
            <a:spAutoFit/>
          </a:bodyPr>
          <a:lstStyle/>
          <a:p>
            <a:pPr algn="r"/>
            <a:r>
              <a:rPr sz="900" b="0" i="0">
                <a:solidFill>
                  <a:srgbClr val="888899"/>
                </a:solidFil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64008" cy="6858000"/>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 y="0"/>
            <a:ext cx="12124944" cy="36576"/>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9144000" cy="347472"/>
          </a:xfrm>
          <a:prstGeom prst="rect">
            <a:avLst/>
          </a:prstGeom>
          <a:noFill/>
        </p:spPr>
        <p:txBody>
          <a:bodyPr wrap="square">
            <a:spAutoFit/>
          </a:bodyPr>
          <a:lstStyle/>
          <a:p>
            <a:pPr algn="l"/>
            <a:r>
              <a:rPr sz="900" b="1" i="0">
                <a:solidFill>
                  <a:srgbClr val="E8B830"/>
                </a:solidFill>
              </a:rPr>
              <a:t>THE OFFER</a:t>
            </a:r>
          </a:p>
        </p:txBody>
      </p:sp>
      <p:sp>
        <p:nvSpPr>
          <p:cNvPr id="5" name="TextBox 4"/>
          <p:cNvSpPr txBox="1"/>
          <p:nvPr/>
        </p:nvSpPr>
        <p:spPr>
          <a:xfrm>
            <a:off x="502920" y="566928"/>
            <a:ext cx="10972800" cy="1078992"/>
          </a:xfrm>
          <a:prstGeom prst="rect">
            <a:avLst/>
          </a:prstGeom>
          <a:noFill/>
        </p:spPr>
        <p:txBody>
          <a:bodyPr wrap="square">
            <a:spAutoFit/>
          </a:bodyPr>
          <a:lstStyle/>
          <a:p>
            <a:pPr algn="l"/>
            <a:r>
              <a:rPr sz="3000" b="1" i="0">
                <a:solidFill>
                  <a:srgbClr val="FFFFFF"/>
                </a:solidFill>
              </a:rPr>
              <a:t>$4,000/Month. 3-4 Demos.
Month 2 Free If We Don't Deliver.</a:t>
            </a:r>
          </a:p>
        </p:txBody>
      </p:sp>
      <p:sp>
        <p:nvSpPr>
          <p:cNvPr id="6" name="TextBox 5"/>
          <p:cNvSpPr txBox="1"/>
          <p:nvPr/>
        </p:nvSpPr>
        <p:spPr>
          <a:xfrm>
            <a:off x="502920" y="1755648"/>
            <a:ext cx="10058400" cy="329184"/>
          </a:xfrm>
          <a:prstGeom prst="rect">
            <a:avLst/>
          </a:prstGeom>
          <a:noFill/>
        </p:spPr>
        <p:txBody>
          <a:bodyPr wrap="square">
            <a:spAutoFit/>
          </a:bodyPr>
          <a:lstStyle/>
          <a:p>
            <a:pPr algn="l"/>
            <a:r>
              <a:rPr sz="1100" b="0" i="1">
                <a:solidFill>
                  <a:srgbClr val="CCCCD8"/>
                </a:solidFill>
              </a:rPr>
              <a:t>No contracts. Month-to-month. The only lock-in is results.</a:t>
            </a:r>
          </a:p>
        </p:txBody>
      </p:sp>
      <p:sp>
        <p:nvSpPr>
          <p:cNvPr id="7" name="Rectangle 6"/>
          <p:cNvSpPr/>
          <p:nvPr/>
        </p:nvSpPr>
        <p:spPr>
          <a:xfrm>
            <a:off x="502920" y="2176272"/>
            <a:ext cx="11247120" cy="36576"/>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8912" y="2340864"/>
            <a:ext cx="5943600" cy="4187952"/>
          </a:xfrm>
          <a:prstGeom prst="rect">
            <a:avLst/>
          </a:prstGeom>
          <a:solidFill>
            <a:srgbClr val="26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8912" y="2340864"/>
            <a:ext cx="5943600" cy="45720"/>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3504" y="2450592"/>
            <a:ext cx="5577840" cy="347472"/>
          </a:xfrm>
          <a:prstGeom prst="rect">
            <a:avLst/>
          </a:prstGeom>
          <a:noFill/>
        </p:spPr>
        <p:txBody>
          <a:bodyPr wrap="square">
            <a:spAutoFit/>
          </a:bodyPr>
          <a:lstStyle/>
          <a:p>
            <a:pPr algn="l"/>
            <a:r>
              <a:rPr sz="1000" b="1" i="0">
                <a:solidFill>
                  <a:srgbClr val="E8B830"/>
                </a:solidFill>
              </a:rPr>
              <a:t>GROWTH PILOT — $4,000/MONTH x 3 MONTHS</a:t>
            </a:r>
          </a:p>
        </p:txBody>
      </p:sp>
      <p:sp>
        <p:nvSpPr>
          <p:cNvPr id="11" name="Rectangle 10"/>
          <p:cNvSpPr/>
          <p:nvPr/>
        </p:nvSpPr>
        <p:spPr>
          <a:xfrm>
            <a:off x="585216" y="2980944"/>
            <a:ext cx="146304" cy="146304"/>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2926080"/>
            <a:ext cx="5303520" cy="310896"/>
          </a:xfrm>
          <a:prstGeom prst="rect">
            <a:avLst/>
          </a:prstGeom>
          <a:noFill/>
        </p:spPr>
        <p:txBody>
          <a:bodyPr wrap="square">
            <a:spAutoFit/>
          </a:bodyPr>
          <a:lstStyle/>
          <a:p>
            <a:pPr algn="l"/>
            <a:r>
              <a:rPr sz="900" b="0" i="0">
                <a:solidFill>
                  <a:srgbClr val="CCCCD8"/>
                </a:solidFill>
              </a:rPr>
              <a:t>15 sending domains via Porkbun  —  $225 one-time (setup by SELLL)</a:t>
            </a:r>
          </a:p>
        </p:txBody>
      </p:sp>
      <p:sp>
        <p:nvSpPr>
          <p:cNvPr id="13" name="Rectangle 12"/>
          <p:cNvSpPr/>
          <p:nvPr/>
        </p:nvSpPr>
        <p:spPr>
          <a:xfrm>
            <a:off x="585216" y="3364992"/>
            <a:ext cx="146304" cy="146304"/>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3310128"/>
            <a:ext cx="5303520" cy="310896"/>
          </a:xfrm>
          <a:prstGeom prst="rect">
            <a:avLst/>
          </a:prstGeom>
          <a:noFill/>
        </p:spPr>
        <p:txBody>
          <a:bodyPr wrap="square">
            <a:spAutoFit/>
          </a:bodyPr>
          <a:lstStyle/>
          <a:p>
            <a:pPr algn="l"/>
            <a:r>
              <a:rPr sz="900" b="0" i="0">
                <a:solidFill>
                  <a:srgbClr val="CCCCD8"/>
                </a:solidFill>
              </a:rPr>
              <a:t>15 PremiumInbox mailboxes + 3-batch warmup  —  ~$75/month</a:t>
            </a:r>
          </a:p>
        </p:txBody>
      </p:sp>
      <p:sp>
        <p:nvSpPr>
          <p:cNvPr id="15" name="Rectangle 14"/>
          <p:cNvSpPr/>
          <p:nvPr/>
        </p:nvSpPr>
        <p:spPr>
          <a:xfrm>
            <a:off x="585216" y="3749039"/>
            <a:ext cx="146304" cy="146304"/>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3694176"/>
            <a:ext cx="5303520" cy="310896"/>
          </a:xfrm>
          <a:prstGeom prst="rect">
            <a:avLst/>
          </a:prstGeom>
          <a:noFill/>
        </p:spPr>
        <p:txBody>
          <a:bodyPr wrap="square">
            <a:spAutoFit/>
          </a:bodyPr>
          <a:lstStyle/>
          <a:p>
            <a:pPr algn="l"/>
            <a:r>
              <a:rPr sz="900" b="0" i="0">
                <a:solidFill>
                  <a:srgbClr val="CCCCD8"/>
                </a:solidFill>
              </a:rPr>
              <a:t>Smartlead fully rebuilt: 5 sequences + warmup protocol</a:t>
            </a:r>
          </a:p>
        </p:txBody>
      </p:sp>
      <p:sp>
        <p:nvSpPr>
          <p:cNvPr id="17" name="Rectangle 16"/>
          <p:cNvSpPr/>
          <p:nvPr/>
        </p:nvSpPr>
        <p:spPr>
          <a:xfrm>
            <a:off x="585216" y="4133087"/>
            <a:ext cx="146304" cy="146304"/>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078224"/>
            <a:ext cx="5303520" cy="310896"/>
          </a:xfrm>
          <a:prstGeom prst="rect">
            <a:avLst/>
          </a:prstGeom>
          <a:noFill/>
        </p:spPr>
        <p:txBody>
          <a:bodyPr wrap="square">
            <a:spAutoFit/>
          </a:bodyPr>
          <a:lstStyle/>
          <a:p>
            <a:pPr algn="l"/>
            <a:r>
              <a:rPr sz="900" b="0" i="0">
                <a:solidFill>
                  <a:srgbClr val="CCCCD8"/>
                </a:solidFill>
              </a:rPr>
              <a:t>5-trigger signal map built for your flooring store ICP</a:t>
            </a:r>
          </a:p>
        </p:txBody>
      </p:sp>
      <p:sp>
        <p:nvSpPr>
          <p:cNvPr id="19" name="Rectangle 18"/>
          <p:cNvSpPr/>
          <p:nvPr/>
        </p:nvSpPr>
        <p:spPr>
          <a:xfrm>
            <a:off x="585216" y="4517136"/>
            <a:ext cx="146304" cy="146304"/>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4462272"/>
            <a:ext cx="5303520" cy="310896"/>
          </a:xfrm>
          <a:prstGeom prst="rect">
            <a:avLst/>
          </a:prstGeom>
          <a:noFill/>
        </p:spPr>
        <p:txBody>
          <a:bodyPr wrap="square">
            <a:spAutoFit/>
          </a:bodyPr>
          <a:lstStyle/>
          <a:p>
            <a:pPr algn="l"/>
            <a:r>
              <a:rPr sz="900" b="0" i="0">
                <a:solidFill>
                  <a:srgbClr val="CCCCD8"/>
                </a:solidFill>
              </a:rPr>
              <a:t>Dedicated SDR dialing signal-triggered stores daily</a:t>
            </a:r>
          </a:p>
        </p:txBody>
      </p:sp>
      <p:sp>
        <p:nvSpPr>
          <p:cNvPr id="21" name="Rectangle 20"/>
          <p:cNvSpPr/>
          <p:nvPr/>
        </p:nvSpPr>
        <p:spPr>
          <a:xfrm>
            <a:off x="585216" y="4901183"/>
            <a:ext cx="146304" cy="146304"/>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4846320"/>
            <a:ext cx="5303520" cy="310896"/>
          </a:xfrm>
          <a:prstGeom prst="rect">
            <a:avLst/>
          </a:prstGeom>
          <a:noFill/>
        </p:spPr>
        <p:txBody>
          <a:bodyPr wrap="square">
            <a:spAutoFit/>
          </a:bodyPr>
          <a:lstStyle/>
          <a:p>
            <a:pPr algn="l"/>
            <a:r>
              <a:rPr sz="900" b="0" i="0">
                <a:solidFill>
                  <a:srgbClr val="CCCCD8"/>
                </a:solidFill>
              </a:rPr>
              <a:t>Cold calling primary: 40-60 calls/day from Day 8</a:t>
            </a:r>
          </a:p>
        </p:txBody>
      </p:sp>
      <p:sp>
        <p:nvSpPr>
          <p:cNvPr id="23" name="Rectangle 22"/>
          <p:cNvSpPr/>
          <p:nvPr/>
        </p:nvSpPr>
        <p:spPr>
          <a:xfrm>
            <a:off x="585216" y="5285231"/>
            <a:ext cx="146304" cy="146304"/>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 y="5230368"/>
            <a:ext cx="5303520" cy="310896"/>
          </a:xfrm>
          <a:prstGeom prst="rect">
            <a:avLst/>
          </a:prstGeom>
          <a:noFill/>
        </p:spPr>
        <p:txBody>
          <a:bodyPr wrap="square">
            <a:spAutoFit/>
          </a:bodyPr>
          <a:lstStyle/>
          <a:p>
            <a:pPr algn="l"/>
            <a:r>
              <a:rPr sz="900" b="0" i="0">
                <a:solidFill>
                  <a:srgbClr val="CCCCD8"/>
                </a:solidFill>
              </a:rPr>
              <a:t>Signal-specific email sequences live within 14 days</a:t>
            </a:r>
          </a:p>
        </p:txBody>
      </p:sp>
      <p:sp>
        <p:nvSpPr>
          <p:cNvPr id="25" name="Rectangle 24"/>
          <p:cNvSpPr/>
          <p:nvPr/>
        </p:nvSpPr>
        <p:spPr>
          <a:xfrm>
            <a:off x="585216" y="5669279"/>
            <a:ext cx="146304" cy="146304"/>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5614416"/>
            <a:ext cx="5303520" cy="310896"/>
          </a:xfrm>
          <a:prstGeom prst="rect">
            <a:avLst/>
          </a:prstGeom>
          <a:noFill/>
        </p:spPr>
        <p:txBody>
          <a:bodyPr wrap="square">
            <a:spAutoFit/>
          </a:bodyPr>
          <a:lstStyle/>
          <a:p>
            <a:pPr algn="l"/>
            <a:r>
              <a:rPr sz="900" b="0" i="0">
                <a:solidFill>
                  <a:srgbClr val="CCCCD8"/>
                </a:solidFill>
              </a:rPr>
              <a:t>LinkedIn enrichment + trade show sequences</a:t>
            </a:r>
          </a:p>
        </p:txBody>
      </p:sp>
      <p:sp>
        <p:nvSpPr>
          <p:cNvPr id="27" name="Rectangle 26"/>
          <p:cNvSpPr/>
          <p:nvPr/>
        </p:nvSpPr>
        <p:spPr>
          <a:xfrm>
            <a:off x="585216" y="6053327"/>
            <a:ext cx="146304" cy="146304"/>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5998464"/>
            <a:ext cx="5303520" cy="310896"/>
          </a:xfrm>
          <a:prstGeom prst="rect">
            <a:avLst/>
          </a:prstGeom>
          <a:noFill/>
        </p:spPr>
        <p:txBody>
          <a:bodyPr wrap="square">
            <a:spAutoFit/>
          </a:bodyPr>
          <a:lstStyle/>
          <a:p>
            <a:pPr algn="l"/>
            <a:r>
              <a:rPr sz="900" b="0" i="0">
                <a:solidFill>
                  <a:srgbClr val="CCCCD8"/>
                </a:solidFill>
              </a:rPr>
              <a:t>Weekly reporting: calls, connects, replies, demos booked</a:t>
            </a:r>
          </a:p>
        </p:txBody>
      </p:sp>
      <p:sp>
        <p:nvSpPr>
          <p:cNvPr id="29" name="Rectangle 28"/>
          <p:cNvSpPr/>
          <p:nvPr/>
        </p:nvSpPr>
        <p:spPr>
          <a:xfrm>
            <a:off x="585216" y="6437375"/>
            <a:ext cx="146304" cy="146304"/>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 y="6382512"/>
            <a:ext cx="5303520" cy="310896"/>
          </a:xfrm>
          <a:prstGeom prst="rect">
            <a:avLst/>
          </a:prstGeom>
          <a:noFill/>
        </p:spPr>
        <p:txBody>
          <a:bodyPr wrap="square">
            <a:spAutoFit/>
          </a:bodyPr>
          <a:lstStyle/>
          <a:p>
            <a:pPr algn="l"/>
            <a:r>
              <a:rPr sz="900" b="0" i="0">
                <a:solidFill>
                  <a:srgbClr val="CCCCD8"/>
                </a:solidFill>
              </a:rPr>
              <a:t>Full SELLL tech stack managed  —  no separate invoices</a:t>
            </a:r>
          </a:p>
        </p:txBody>
      </p:sp>
      <p:sp>
        <p:nvSpPr>
          <p:cNvPr id="31" name="Rectangle 30"/>
          <p:cNvSpPr/>
          <p:nvPr/>
        </p:nvSpPr>
        <p:spPr>
          <a:xfrm>
            <a:off x="6601968" y="2340864"/>
            <a:ext cx="5193792" cy="1975104"/>
          </a:xfrm>
          <a:prstGeom prst="rect">
            <a:avLst/>
          </a:prstGeom>
          <a:solidFill>
            <a:srgbClr val="26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601968" y="2340864"/>
            <a:ext cx="5193792" cy="45720"/>
          </a:xfrm>
          <a:prstGeom prst="rect">
            <a:avLst/>
          </a:prstGeom>
          <a:solidFill>
            <a:srgbClr val="F0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784848" y="2450592"/>
            <a:ext cx="4754880" cy="310896"/>
          </a:xfrm>
          <a:prstGeom prst="rect">
            <a:avLst/>
          </a:prstGeom>
          <a:noFill/>
        </p:spPr>
        <p:txBody>
          <a:bodyPr wrap="square">
            <a:spAutoFit/>
          </a:bodyPr>
          <a:lstStyle/>
          <a:p>
            <a:pPr algn="l"/>
            <a:r>
              <a:rPr sz="1000" b="1" i="0">
                <a:solidFill>
                  <a:srgbClr val="F0A020"/>
                </a:solidFill>
              </a:rPr>
              <a:t>AFTER 3 MONTHS</a:t>
            </a:r>
          </a:p>
        </p:txBody>
      </p:sp>
      <p:sp>
        <p:nvSpPr>
          <p:cNvPr id="34" name="TextBox 33"/>
          <p:cNvSpPr txBox="1"/>
          <p:nvPr/>
        </p:nvSpPr>
        <p:spPr>
          <a:xfrm>
            <a:off x="6784848" y="2834640"/>
            <a:ext cx="4754880" cy="475488"/>
          </a:xfrm>
          <a:prstGeom prst="rect">
            <a:avLst/>
          </a:prstGeom>
          <a:noFill/>
        </p:spPr>
        <p:txBody>
          <a:bodyPr wrap="square">
            <a:spAutoFit/>
          </a:bodyPr>
          <a:lstStyle/>
          <a:p>
            <a:pPr algn="l"/>
            <a:r>
              <a:rPr sz="2200" b="1" i="0">
                <a:solidFill>
                  <a:srgbClr val="F0A020"/>
                </a:solidFill>
              </a:rPr>
              <a:t>$2,500/month</a:t>
            </a:r>
          </a:p>
        </p:txBody>
      </p:sp>
      <p:sp>
        <p:nvSpPr>
          <p:cNvPr id="35" name="TextBox 34"/>
          <p:cNvSpPr txBox="1"/>
          <p:nvPr/>
        </p:nvSpPr>
        <p:spPr>
          <a:xfrm>
            <a:off x="6784848" y="3364992"/>
            <a:ext cx="4754880" cy="914400"/>
          </a:xfrm>
          <a:prstGeom prst="rect">
            <a:avLst/>
          </a:prstGeom>
          <a:noFill/>
        </p:spPr>
        <p:txBody>
          <a:bodyPr wrap="square">
            <a:spAutoFit/>
          </a:bodyPr>
          <a:lstStyle/>
          <a:p>
            <a:pPr algn="l"/>
            <a:r>
              <a:rPr sz="900" b="0" i="0">
                <a:solidFill>
                  <a:srgbClr val="CCCCD8"/>
                </a:solidFill>
              </a:rPr>
              <a:t>SDR retained + trained on all 5 signals
Full stack maintained by SELLL
New sequences as market evolves
SDR role (booking vs closing) — your call</a:t>
            </a:r>
          </a:p>
        </p:txBody>
      </p:sp>
      <p:sp>
        <p:nvSpPr>
          <p:cNvPr id="36" name="Rectangle 35"/>
          <p:cNvSpPr/>
          <p:nvPr/>
        </p:nvSpPr>
        <p:spPr>
          <a:xfrm>
            <a:off x="6601968" y="4462272"/>
            <a:ext cx="5193792" cy="2066543"/>
          </a:xfrm>
          <a:prstGeom prst="rect">
            <a:avLst/>
          </a:prstGeom>
          <a:solidFill>
            <a:srgbClr val="26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601968" y="4462272"/>
            <a:ext cx="5193792" cy="45720"/>
          </a:xfrm>
          <a:prstGeom prst="rect">
            <a:avLst/>
          </a:prstGeom>
          <a:solidFill>
            <a:srgbClr val="28C8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784848" y="4572000"/>
            <a:ext cx="4754880" cy="310896"/>
          </a:xfrm>
          <a:prstGeom prst="rect">
            <a:avLst/>
          </a:prstGeom>
          <a:noFill/>
        </p:spPr>
        <p:txBody>
          <a:bodyPr wrap="square">
            <a:spAutoFit/>
          </a:bodyPr>
          <a:lstStyle/>
          <a:p>
            <a:pPr algn="l"/>
            <a:r>
              <a:rPr sz="1000" b="1" i="0">
                <a:solidFill>
                  <a:srgbClr val="28C870"/>
                </a:solidFill>
              </a:rPr>
              <a:t>THE GUARANTEE</a:t>
            </a:r>
          </a:p>
        </p:txBody>
      </p:sp>
      <p:sp>
        <p:nvSpPr>
          <p:cNvPr id="39" name="TextBox 38"/>
          <p:cNvSpPr txBox="1"/>
          <p:nvPr/>
        </p:nvSpPr>
        <p:spPr>
          <a:xfrm>
            <a:off x="6784848" y="4956048"/>
            <a:ext cx="4754880" cy="841248"/>
          </a:xfrm>
          <a:prstGeom prst="rect">
            <a:avLst/>
          </a:prstGeom>
          <a:noFill/>
        </p:spPr>
        <p:txBody>
          <a:bodyPr wrap="square">
            <a:spAutoFit/>
          </a:bodyPr>
          <a:lstStyle/>
          <a:p>
            <a:pPr algn="l"/>
            <a:r>
              <a:rPr sz="1100" b="1" i="0">
                <a:solidFill>
                  <a:srgbClr val="FFFFFF"/>
                </a:solidFill>
              </a:rPr>
              <a:t>3-4 demos in Month 1.
If not — Month 2 is free.
In writing. No conditions.</a:t>
            </a:r>
          </a:p>
        </p:txBody>
      </p:sp>
      <p:sp>
        <p:nvSpPr>
          <p:cNvPr id="40" name="TextBox 39"/>
          <p:cNvSpPr txBox="1"/>
          <p:nvPr/>
        </p:nvSpPr>
        <p:spPr>
          <a:xfrm>
            <a:off x="6784848" y="5888736"/>
            <a:ext cx="4754880" cy="292608"/>
          </a:xfrm>
          <a:prstGeom prst="rect">
            <a:avLst/>
          </a:prstGeom>
          <a:noFill/>
        </p:spPr>
        <p:txBody>
          <a:bodyPr wrap="square">
            <a:spAutoFit/>
          </a:bodyPr>
          <a:lstStyle/>
          <a:p>
            <a:pPr algn="l"/>
            <a:r>
              <a:rPr sz="850" b="0" i="1">
                <a:solidFill>
                  <a:srgbClr val="888899"/>
                </a:solidFill>
              </a:rPr>
              <a:t>Month-to-month. Cancel anytime with 30 days notice.</a:t>
            </a:r>
          </a:p>
        </p:txBody>
      </p:sp>
      <p:sp>
        <p:nvSpPr>
          <p:cNvPr id="41" name="TextBox 40"/>
          <p:cNvSpPr txBox="1"/>
          <p:nvPr/>
        </p:nvSpPr>
        <p:spPr>
          <a:xfrm>
            <a:off x="11722608" y="6492240"/>
            <a:ext cx="420624" cy="310896"/>
          </a:xfrm>
          <a:prstGeom prst="rect">
            <a:avLst/>
          </a:prstGeom>
          <a:noFill/>
        </p:spPr>
        <p:txBody>
          <a:bodyPr wrap="square">
            <a:spAutoFit/>
          </a:bodyPr>
          <a:lstStyle/>
          <a:p>
            <a:pPr algn="r"/>
            <a:r>
              <a:rPr sz="900" b="0" i="0">
                <a:solidFill>
                  <a:srgbClr val="888899"/>
                </a:solidFil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0F1C"/>
        </a:solidFill>
        <a:effectLst/>
      </p:bgPr>
    </p:bg>
    <p:spTree>
      <p:nvGrpSpPr>
        <p:cNvPr id="1" name=""/>
        <p:cNvGrpSpPr/>
        <p:nvPr/>
      </p:nvGrpSpPr>
      <p:grpSpPr/>
      <p:sp>
        <p:nvSpPr>
          <p:cNvPr id="2" name="Rectangle 1"/>
          <p:cNvSpPr/>
          <p:nvPr/>
        </p:nvSpPr>
        <p:spPr>
          <a:xfrm>
            <a:off x="0" y="0"/>
            <a:ext cx="54864" cy="6858000"/>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34088" y="0"/>
            <a:ext cx="54864" cy="6858000"/>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88952" cy="54864"/>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803136"/>
            <a:ext cx="12188952" cy="54864"/>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elll_logo_clean.png"/>
          <p:cNvPicPr>
            <a:picLocks noChangeAspect="1"/>
          </p:cNvPicPr>
          <p:nvPr/>
        </p:nvPicPr>
        <p:blipFill>
          <a:blip r:embed="rId2"/>
          <a:stretch>
            <a:fillRect/>
          </a:stretch>
        </p:blipFill>
        <p:spPr>
          <a:xfrm>
            <a:off x="384048" y="201168"/>
            <a:ext cx="2651760" cy="583387"/>
          </a:xfrm>
          <a:prstGeom prst="rect">
            <a:avLst/>
          </a:prstGeom>
        </p:spPr>
      </p:pic>
      <p:sp>
        <p:nvSpPr>
          <p:cNvPr id="7" name="Rectangle 6"/>
          <p:cNvSpPr/>
          <p:nvPr/>
        </p:nvSpPr>
        <p:spPr>
          <a:xfrm>
            <a:off x="3474720" y="54864"/>
            <a:ext cx="8659368" cy="566928"/>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84448" y="146304"/>
            <a:ext cx="8412480" cy="347472"/>
          </a:xfrm>
          <a:prstGeom prst="rect">
            <a:avLst/>
          </a:prstGeom>
          <a:noFill/>
        </p:spPr>
        <p:txBody>
          <a:bodyPr wrap="square">
            <a:spAutoFit/>
          </a:bodyPr>
          <a:lstStyle/>
          <a:p>
            <a:pPr algn="l"/>
            <a:r>
              <a:rPr sz="1100" b="1" i="0">
                <a:solidFill>
                  <a:srgbClr val="1A1A2E"/>
                </a:solidFill>
              </a:rPr>
              <a:t>QR Floor Genie | Growth Pilot — Ready to Start</a:t>
            </a:r>
          </a:p>
        </p:txBody>
      </p:sp>
      <p:sp>
        <p:nvSpPr>
          <p:cNvPr id="9" name="TextBox 8"/>
          <p:cNvSpPr txBox="1"/>
          <p:nvPr/>
        </p:nvSpPr>
        <p:spPr>
          <a:xfrm>
            <a:off x="548640" y="1298448"/>
            <a:ext cx="10972800" cy="1170432"/>
          </a:xfrm>
          <a:prstGeom prst="rect">
            <a:avLst/>
          </a:prstGeom>
          <a:noFill/>
        </p:spPr>
        <p:txBody>
          <a:bodyPr wrap="square">
            <a:spAutoFit/>
          </a:bodyPr>
          <a:lstStyle/>
          <a:p>
            <a:pPr algn="l"/>
            <a:r>
              <a:rPr sz="4200" b="1" i="0">
                <a:solidFill>
                  <a:srgbClr val="FFFFFF"/>
                </a:solidFill>
              </a:rPr>
              <a:t>Day 1 Starts
When You Sign.</a:t>
            </a:r>
          </a:p>
        </p:txBody>
      </p:sp>
      <p:sp>
        <p:nvSpPr>
          <p:cNvPr id="10" name="Rectangle 9"/>
          <p:cNvSpPr/>
          <p:nvPr/>
        </p:nvSpPr>
        <p:spPr>
          <a:xfrm>
            <a:off x="548640" y="2633472"/>
            <a:ext cx="5486400" cy="36576"/>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8912" y="2798064"/>
            <a:ext cx="3712463" cy="3493008"/>
          </a:xfrm>
          <a:prstGeom prst="rect">
            <a:avLst/>
          </a:prstGeom>
          <a:solidFill>
            <a:srgbClr val="26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8912" y="2798064"/>
            <a:ext cx="3712463" cy="45720"/>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962656"/>
            <a:ext cx="3310128" cy="292608"/>
          </a:xfrm>
          <a:prstGeom prst="rect">
            <a:avLst/>
          </a:prstGeom>
          <a:noFill/>
        </p:spPr>
        <p:txBody>
          <a:bodyPr wrap="square">
            <a:spAutoFit/>
          </a:bodyPr>
          <a:lstStyle/>
          <a:p>
            <a:pPr algn="l"/>
            <a:r>
              <a:rPr sz="900" b="1" i="0">
                <a:solidFill>
                  <a:srgbClr val="888899"/>
                </a:solidFill>
              </a:rPr>
              <a:t>STEP 1</a:t>
            </a:r>
          </a:p>
        </p:txBody>
      </p:sp>
      <p:sp>
        <p:nvSpPr>
          <p:cNvPr id="14" name="TextBox 13"/>
          <p:cNvSpPr txBox="1"/>
          <p:nvPr/>
        </p:nvSpPr>
        <p:spPr>
          <a:xfrm>
            <a:off x="640080" y="3291840"/>
            <a:ext cx="3310128" cy="384048"/>
          </a:xfrm>
          <a:prstGeom prst="rect">
            <a:avLst/>
          </a:prstGeom>
          <a:noFill/>
        </p:spPr>
        <p:txBody>
          <a:bodyPr wrap="square">
            <a:spAutoFit/>
          </a:bodyPr>
          <a:lstStyle/>
          <a:p>
            <a:pPr algn="l"/>
            <a:r>
              <a:rPr sz="1300" b="1" i="0">
                <a:solidFill>
                  <a:srgbClr val="E8B830"/>
                </a:solidFill>
              </a:rPr>
              <a:t>SIGN THE AGREEMENT</a:t>
            </a:r>
          </a:p>
        </p:txBody>
      </p:sp>
      <p:sp>
        <p:nvSpPr>
          <p:cNvPr id="15" name="Rectangle 14"/>
          <p:cNvSpPr/>
          <p:nvPr/>
        </p:nvSpPr>
        <p:spPr>
          <a:xfrm>
            <a:off x="640080" y="3749039"/>
            <a:ext cx="3310128" cy="36576"/>
          </a:xfrm>
          <a:prstGeom prst="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3877056"/>
            <a:ext cx="3310128" cy="2286000"/>
          </a:xfrm>
          <a:prstGeom prst="rect">
            <a:avLst/>
          </a:prstGeom>
          <a:noFill/>
        </p:spPr>
        <p:txBody>
          <a:bodyPr wrap="square">
            <a:spAutoFit/>
          </a:bodyPr>
          <a:lstStyle/>
          <a:p>
            <a:pPr algn="l"/>
            <a:r>
              <a:rPr sz="1000" b="0" i="0">
                <a:solidFill>
                  <a:srgbClr val="CCCCD8"/>
                </a:solidFill>
              </a:rPr>
              <a:t>Service agreement sent to James and partner today. Two signatures. Day 1 begins immediately upon execution.</a:t>
            </a:r>
          </a:p>
        </p:txBody>
      </p:sp>
      <p:sp>
        <p:nvSpPr>
          <p:cNvPr id="17" name="TextBox 16"/>
          <p:cNvSpPr txBox="1"/>
          <p:nvPr/>
        </p:nvSpPr>
        <p:spPr>
          <a:xfrm>
            <a:off x="3639312" y="2926080"/>
            <a:ext cx="365760" cy="420624"/>
          </a:xfrm>
          <a:prstGeom prst="rect">
            <a:avLst/>
          </a:prstGeom>
          <a:noFill/>
        </p:spPr>
        <p:txBody>
          <a:bodyPr wrap="square">
            <a:spAutoFit/>
          </a:bodyPr>
          <a:lstStyle/>
          <a:p>
            <a:pPr algn="l"/>
            <a:r>
              <a:rPr sz="2600" b="1" i="0">
                <a:solidFill>
                  <a:srgbClr val="B8860B"/>
                </a:solidFill>
              </a:rPr>
              <a:t>1</a:t>
            </a:r>
          </a:p>
        </p:txBody>
      </p:sp>
      <p:sp>
        <p:nvSpPr>
          <p:cNvPr id="18" name="Rectangle 17"/>
          <p:cNvSpPr/>
          <p:nvPr/>
        </p:nvSpPr>
        <p:spPr>
          <a:xfrm>
            <a:off x="4352544" y="2798064"/>
            <a:ext cx="3712463" cy="3493008"/>
          </a:xfrm>
          <a:prstGeom prst="rect">
            <a:avLst/>
          </a:prstGeom>
          <a:solidFill>
            <a:srgbClr val="26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52544" y="2798064"/>
            <a:ext cx="3712463" cy="45720"/>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53712" y="2962656"/>
            <a:ext cx="3310128" cy="292608"/>
          </a:xfrm>
          <a:prstGeom prst="rect">
            <a:avLst/>
          </a:prstGeom>
          <a:noFill/>
        </p:spPr>
        <p:txBody>
          <a:bodyPr wrap="square">
            <a:spAutoFit/>
          </a:bodyPr>
          <a:lstStyle/>
          <a:p>
            <a:pPr algn="l"/>
            <a:r>
              <a:rPr sz="900" b="1" i="0">
                <a:solidFill>
                  <a:srgbClr val="888899"/>
                </a:solidFill>
              </a:rPr>
              <a:t>STEP 2</a:t>
            </a:r>
          </a:p>
        </p:txBody>
      </p:sp>
      <p:sp>
        <p:nvSpPr>
          <p:cNvPr id="21" name="TextBox 20"/>
          <p:cNvSpPr txBox="1"/>
          <p:nvPr/>
        </p:nvSpPr>
        <p:spPr>
          <a:xfrm>
            <a:off x="4553712" y="3291840"/>
            <a:ext cx="3310128" cy="384048"/>
          </a:xfrm>
          <a:prstGeom prst="rect">
            <a:avLst/>
          </a:prstGeom>
          <a:noFill/>
        </p:spPr>
        <p:txBody>
          <a:bodyPr wrap="square">
            <a:spAutoFit/>
          </a:bodyPr>
          <a:lstStyle/>
          <a:p>
            <a:pPr algn="l"/>
            <a:r>
              <a:rPr sz="1300" b="1" i="0">
                <a:solidFill>
                  <a:srgbClr val="E8B830"/>
                </a:solidFill>
              </a:rPr>
              <a:t>KICKOFF CALL — DAY 1</a:t>
            </a:r>
          </a:p>
        </p:txBody>
      </p:sp>
      <p:sp>
        <p:nvSpPr>
          <p:cNvPr id="22" name="Rectangle 21"/>
          <p:cNvSpPr/>
          <p:nvPr/>
        </p:nvSpPr>
        <p:spPr>
          <a:xfrm>
            <a:off x="4553712" y="3749039"/>
            <a:ext cx="3310128" cy="36576"/>
          </a:xfrm>
          <a:prstGeom prst="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53712" y="3877056"/>
            <a:ext cx="3310128" cy="2286000"/>
          </a:xfrm>
          <a:prstGeom prst="rect">
            <a:avLst/>
          </a:prstGeom>
          <a:noFill/>
        </p:spPr>
        <p:txBody>
          <a:bodyPr wrap="square">
            <a:spAutoFit/>
          </a:bodyPr>
          <a:lstStyle/>
          <a:p>
            <a:pPr algn="l"/>
            <a:r>
              <a:rPr sz="1000" b="0" i="0">
                <a:solidFill>
                  <a:srgbClr val="CCCCD8"/>
                </a:solidFill>
              </a:rPr>
              <a:t>30-minute kickoff. Collins walks through the complete build plan. Tool access confirmed. Signal monitors go live. SDR briefed.</a:t>
            </a:r>
          </a:p>
        </p:txBody>
      </p:sp>
      <p:sp>
        <p:nvSpPr>
          <p:cNvPr id="24" name="TextBox 23"/>
          <p:cNvSpPr txBox="1"/>
          <p:nvPr/>
        </p:nvSpPr>
        <p:spPr>
          <a:xfrm>
            <a:off x="7552944" y="2926080"/>
            <a:ext cx="365760" cy="420624"/>
          </a:xfrm>
          <a:prstGeom prst="rect">
            <a:avLst/>
          </a:prstGeom>
          <a:noFill/>
        </p:spPr>
        <p:txBody>
          <a:bodyPr wrap="square">
            <a:spAutoFit/>
          </a:bodyPr>
          <a:lstStyle/>
          <a:p>
            <a:pPr algn="l"/>
            <a:r>
              <a:rPr sz="2600" b="1" i="0">
                <a:solidFill>
                  <a:srgbClr val="B8860B"/>
                </a:solidFill>
              </a:rPr>
              <a:t>2</a:t>
            </a:r>
          </a:p>
        </p:txBody>
      </p:sp>
      <p:sp>
        <p:nvSpPr>
          <p:cNvPr id="25" name="Rectangle 24"/>
          <p:cNvSpPr/>
          <p:nvPr/>
        </p:nvSpPr>
        <p:spPr>
          <a:xfrm>
            <a:off x="8266176" y="2798064"/>
            <a:ext cx="3712463" cy="3493008"/>
          </a:xfrm>
          <a:prstGeom prst="rect">
            <a:avLst/>
          </a:prstGeom>
          <a:solidFill>
            <a:srgbClr val="26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266176" y="2798064"/>
            <a:ext cx="3712463" cy="45720"/>
          </a:xfrm>
          <a:prstGeom prst="rect">
            <a:avLst/>
          </a:prstGeom>
          <a:solidFill>
            <a:srgbClr val="E8B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467344" y="2962656"/>
            <a:ext cx="3310128" cy="292608"/>
          </a:xfrm>
          <a:prstGeom prst="rect">
            <a:avLst/>
          </a:prstGeom>
          <a:noFill/>
        </p:spPr>
        <p:txBody>
          <a:bodyPr wrap="square">
            <a:spAutoFit/>
          </a:bodyPr>
          <a:lstStyle/>
          <a:p>
            <a:pPr algn="l"/>
            <a:r>
              <a:rPr sz="900" b="1" i="0">
                <a:solidFill>
                  <a:srgbClr val="888899"/>
                </a:solidFill>
              </a:rPr>
              <a:t>STEP 3</a:t>
            </a:r>
          </a:p>
        </p:txBody>
      </p:sp>
      <p:sp>
        <p:nvSpPr>
          <p:cNvPr id="28" name="TextBox 27"/>
          <p:cNvSpPr txBox="1"/>
          <p:nvPr/>
        </p:nvSpPr>
        <p:spPr>
          <a:xfrm>
            <a:off x="8467344" y="3291840"/>
            <a:ext cx="3310128" cy="384048"/>
          </a:xfrm>
          <a:prstGeom prst="rect">
            <a:avLst/>
          </a:prstGeom>
          <a:noFill/>
        </p:spPr>
        <p:txBody>
          <a:bodyPr wrap="square">
            <a:spAutoFit/>
          </a:bodyPr>
          <a:lstStyle/>
          <a:p>
            <a:pPr algn="l"/>
            <a:r>
              <a:rPr sz="1300" b="1" i="0">
                <a:solidFill>
                  <a:srgbClr val="E8B830"/>
                </a:solidFill>
              </a:rPr>
              <a:t>SEQUENCES LIVE — DAY 14</a:t>
            </a:r>
          </a:p>
        </p:txBody>
      </p:sp>
      <p:sp>
        <p:nvSpPr>
          <p:cNvPr id="29" name="Rectangle 28"/>
          <p:cNvSpPr/>
          <p:nvPr/>
        </p:nvSpPr>
        <p:spPr>
          <a:xfrm>
            <a:off x="8467344" y="3749039"/>
            <a:ext cx="3310128" cy="36576"/>
          </a:xfrm>
          <a:prstGeom prst="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467344" y="3877056"/>
            <a:ext cx="3310128" cy="2286000"/>
          </a:xfrm>
          <a:prstGeom prst="rect">
            <a:avLst/>
          </a:prstGeom>
          <a:noFill/>
        </p:spPr>
        <p:txBody>
          <a:bodyPr wrap="square">
            <a:spAutoFit/>
          </a:bodyPr>
          <a:lstStyle/>
          <a:p>
            <a:pPr algn="l"/>
            <a:r>
              <a:rPr sz="1000" b="0" i="0">
                <a:solidFill>
                  <a:srgbClr val="CCCCD8"/>
                </a:solidFill>
              </a:rPr>
              <a:t>All 5 signal sequences active. SDR dialing. First weekly report delivered. Pipeline building.</a:t>
            </a:r>
          </a:p>
        </p:txBody>
      </p:sp>
      <p:sp>
        <p:nvSpPr>
          <p:cNvPr id="31" name="TextBox 30"/>
          <p:cNvSpPr txBox="1"/>
          <p:nvPr/>
        </p:nvSpPr>
        <p:spPr>
          <a:xfrm>
            <a:off x="11466576" y="2926080"/>
            <a:ext cx="365760" cy="420624"/>
          </a:xfrm>
          <a:prstGeom prst="rect">
            <a:avLst/>
          </a:prstGeom>
          <a:noFill/>
        </p:spPr>
        <p:txBody>
          <a:bodyPr wrap="square">
            <a:spAutoFit/>
          </a:bodyPr>
          <a:lstStyle/>
          <a:p>
            <a:pPr algn="l"/>
            <a:r>
              <a:rPr sz="2600" b="1" i="0">
                <a:solidFill>
                  <a:srgbClr val="B8860B"/>
                </a:solidFill>
              </a:rPr>
              <a:t>3</a:t>
            </a:r>
          </a:p>
        </p:txBody>
      </p:sp>
      <p:sp>
        <p:nvSpPr>
          <p:cNvPr id="32" name="TextBox 31"/>
          <p:cNvSpPr txBox="1"/>
          <p:nvPr/>
        </p:nvSpPr>
        <p:spPr>
          <a:xfrm>
            <a:off x="548640" y="6400800"/>
            <a:ext cx="5486400" cy="329184"/>
          </a:xfrm>
          <a:prstGeom prst="rect">
            <a:avLst/>
          </a:prstGeom>
          <a:noFill/>
        </p:spPr>
        <p:txBody>
          <a:bodyPr wrap="square">
            <a:spAutoFit/>
          </a:bodyPr>
          <a:lstStyle/>
          <a:p>
            <a:pPr algn="l"/>
            <a:r>
              <a:rPr sz="1100" b="0" i="1">
                <a:solidFill>
                  <a:srgbClr val="CCCCD8"/>
                </a:solidFill>
              </a:rPr>
              <a:t>Ready to move?</a:t>
            </a:r>
          </a:p>
        </p:txBody>
      </p:sp>
      <p:sp>
        <p:nvSpPr>
          <p:cNvPr id="33" name="TextBox 32"/>
          <p:cNvSpPr txBox="1"/>
          <p:nvPr/>
        </p:nvSpPr>
        <p:spPr>
          <a:xfrm>
            <a:off x="548640" y="6400800"/>
            <a:ext cx="11521440" cy="329184"/>
          </a:xfrm>
          <a:prstGeom prst="rect">
            <a:avLst/>
          </a:prstGeom>
          <a:noFill/>
        </p:spPr>
        <p:txBody>
          <a:bodyPr wrap="square">
            <a:spAutoFit/>
          </a:bodyPr>
          <a:lstStyle/>
          <a:p>
            <a:pPr algn="r"/>
            <a:r>
              <a:rPr sz="1100" b="0" i="0">
                <a:solidFill>
                  <a:srgbClr val="E8B830"/>
                </a:solidFill>
              </a:rPr>
              <a:t>cal.com/collins-ogiki-x4fokk/30min</a:t>
            </a:r>
          </a:p>
        </p:txBody>
      </p:sp>
      <p:sp>
        <p:nvSpPr>
          <p:cNvPr id="34" name="TextBox 33"/>
          <p:cNvSpPr txBox="1"/>
          <p:nvPr/>
        </p:nvSpPr>
        <p:spPr>
          <a:xfrm>
            <a:off x="11722608" y="6492240"/>
            <a:ext cx="420624" cy="310896"/>
          </a:xfrm>
          <a:prstGeom prst="rect">
            <a:avLst/>
          </a:prstGeom>
          <a:noFill/>
        </p:spPr>
        <p:txBody>
          <a:bodyPr wrap="square">
            <a:spAutoFit/>
          </a:bodyPr>
          <a:lstStyle/>
          <a:p>
            <a:pPr algn="r"/>
            <a:r>
              <a:rPr sz="900" b="0" i="0">
                <a:solidFill>
                  <a:srgbClr val="888899"/>
                </a:solidFill>
              </a:rPr>
              <a:t>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