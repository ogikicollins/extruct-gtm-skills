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54864"/>
            <a:ext cx="3721608" cy="56692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22208" y="14630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Prepared for:  [COMPANY NAME]</a:t>
            </a:r>
          </a:p>
        </p:txBody>
      </p:sp>
      <p:pic>
        <p:nvPicPr>
          <p:cNvPr id="9" name="Picture 8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56032"/>
            <a:ext cx="2926080" cy="6437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Your Pipeline is Predictable.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9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B830"/>
                </a:solidFill>
              </a:rPr>
              <a:t>We build the system that makes it that 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27248"/>
            <a:ext cx="59436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91840"/>
            <a:ext cx="3566160" cy="8961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3566160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832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B830"/>
                </a:solidFill>
              </a:rPr>
              <a:t>30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0390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to first qualified meeting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291840"/>
            <a:ext cx="3566160" cy="8961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566160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3832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B830"/>
                </a:solidFill>
              </a:rPr>
              <a:t>90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80390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to a fully documented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3291840"/>
            <a:ext cx="3566160" cy="8961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3291840"/>
            <a:ext cx="3566160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3832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B830"/>
                </a:solidFill>
              </a:rPr>
              <a:t>Day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80390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full IP ownership - yours forever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99"/>
                </a:solidFill>
              </a:rPr>
              <a:t>SELLL.io  |  Signal-Intelligent Revenue Engine  |  selll.io/audit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BEFORE WE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Here Is What We Heard
on Your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This deck was built for [COMPANY NAME] based on your conversation on [DATE]. Not a template. A mirror.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87168"/>
            <a:ext cx="50292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2670048"/>
            <a:ext cx="5650992" cy="16642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670048"/>
            <a:ext cx="5650992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7797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B830"/>
                </a:solidFill>
              </a:rPr>
              <a:t>Pipeline Predictability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145536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D8"/>
                </a:solidFill>
              </a:rPr>
              <a:t>"[PAIN 1 - e.g. 'Pipeline is unpredictable - you cannot forecast it within 20%']"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670048"/>
            <a:ext cx="5650992" cy="16642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670048"/>
            <a:ext cx="5650992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7797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B830"/>
                </a:solidFill>
              </a:rPr>
              <a:t>Founder Bottleneck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45536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D8"/>
                </a:solidFill>
              </a:rPr>
              <a:t>"[PAIN 2 - e.g. 'You are closing most deals yourself - nothing moves without you']"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4544568"/>
            <a:ext cx="5650992" cy="16642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4544568"/>
            <a:ext cx="5650992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6542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B830"/>
                </a:solidFill>
              </a:rPr>
              <a:t>External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020056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D8"/>
                </a:solidFill>
              </a:rPr>
              <a:t>"[CONTEXT - e.g. 'Series A closes in [MONTH] - investors will want pipeline velocity']"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544568"/>
            <a:ext cx="5650992" cy="16642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544568"/>
            <a:ext cx="5650992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6542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B830"/>
                </a:solidFill>
              </a:rPr>
              <a:t>The Timeline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020056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D8"/>
                </a:solidFill>
              </a:rPr>
              <a:t>"[URGENCY - e.g. 'If this is not fixed by Q[X] you will need to make a hire decision']"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008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88899"/>
                </a:solidFill>
              </a:rPr>
              <a:t>Presenter note: Replace the [BRACKETS] with exact quotes from your discovery call. The more specific, the more powerful this slide becomes.</a:t>
            </a:r>
          </a:p>
        </p:txBody>
      </p:sp>
      <p:pic>
        <p:nvPicPr>
          <p:cNvPr id="24" name="Picture 23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373368"/>
            <a:ext cx="1737360" cy="38221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B830"/>
                </a:solidFill>
              </a:rPr>
              <a:t>THE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8046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Problem Is Not Your Team.
It Is Not Your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B830"/>
                </a:solidFill>
              </a:rPr>
              <a:t>It Is the Absence of One Layer.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43200"/>
            <a:ext cx="50292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90779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8"/>
                </a:solidFill>
              </a:rPr>
              <a:t>Every B2B company that struggles with pipeline has the same root cause: outreach is triggered by a calendar, not a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5643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8"/>
                </a:solidFill>
              </a:rPr>
              <a:t>Sequences fire because it is Tuesday. Not because a prospect just announced a funding round, posted a VP Sales role, or launched a new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0507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Calendar-triggered outbound gets 0.3% reply rates.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891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Signal-triggered outbound gets 3-5x that.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37759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830"/>
                </a:solidFill>
              </a:rPr>
              <a:t>The gap is not hustle. It is not better copy. It is intelligence.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594360"/>
            <a:ext cx="2514600" cy="5943600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18320" y="594360"/>
            <a:ext cx="2514600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749808"/>
            <a:ext cx="2240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B830"/>
                </a:solidFill>
              </a:rPr>
              <a:t>YOUR STACK
TODAY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481328"/>
            <a:ext cx="2240280" cy="493776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572768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5480" y="2139696"/>
            <a:ext cx="2240280" cy="493776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231136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Email Tool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2798064"/>
            <a:ext cx="2240280" cy="493776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88950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Data/Lists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3456432"/>
            <a:ext cx="2240280" cy="4937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3547872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--- MISSING ---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4114800"/>
            <a:ext cx="2240280" cy="493776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420624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Sequences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88620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E74C3C"/>
                </a:solidFill>
              </a:rPr>
              <a:t>Signal Intelligence</a:t>
            </a:r>
          </a:p>
        </p:txBody>
      </p:sp>
      <p:pic>
        <p:nvPicPr>
          <p:cNvPr id="27" name="Picture 26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373368"/>
            <a:ext cx="1737360" cy="38221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THE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Three Ways Companies Try to Fix This.
None of Them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50292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2103120"/>
            <a:ext cx="3703320" cy="43708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2103120"/>
            <a:ext cx="370332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31136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HIRE AN SDR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834640"/>
            <a:ext cx="3337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907792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$140K+ loaded cost
6-month ramp
60% leave in 18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12463"/>
            <a:ext cx="3337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79476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8"/>
                </a:solidFill>
              </a:rPr>
              <a:t>A person without a system
is just an expensive
calendar-triggered sequence.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919472"/>
            <a:ext cx="3337560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974336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SLOW &amp; EXPENSIVE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8536" y="2103120"/>
            <a:ext cx="3703320" cy="43708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8536" y="2103120"/>
            <a:ext cx="370332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2231136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BUY SEQUENCES
&amp; BLAST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71416" y="2834640"/>
            <a:ext cx="3337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1416" y="2907792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$500-$3K/month
Apollo / Instantly
Lemlist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71416" y="3712463"/>
            <a:ext cx="3337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379476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8"/>
                </a:solidFill>
              </a:rPr>
              <a:t>0.3% reply rates.
Inboxes are flooded.
No signal = no relevance.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71416" y="4919472"/>
            <a:ext cx="3337560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3" y="4974336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CHEAP &amp; INVISIBLE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3" y="2103120"/>
            <a:ext cx="3703320" cy="43708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3" y="2103120"/>
            <a:ext cx="370332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3" y="2231136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HIRE AN AGENCY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75903" y="2834640"/>
            <a:ext cx="3337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3" y="2907792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$3K-$8K/month
Manual research
Generic playbooks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75903" y="3712463"/>
            <a:ext cx="3337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3" y="379476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CCD8"/>
                </a:solidFill>
              </a:rPr>
              <a:t>They write better emails.
Still no signal layer.
Same problem, slicker wrapper.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5903" y="4919472"/>
            <a:ext cx="3337560" cy="40233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4974336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AVERAGE &amp; FORGETTABLE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88952" cy="7498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64768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B830"/>
                </a:solidFill>
              </a:rPr>
              <a:t>There is a fourth option. One that makes all three obsolete.</a:t>
            </a:r>
          </a:p>
        </p:txBody>
      </p:sp>
      <p:pic>
        <p:nvPicPr>
          <p:cNvPr id="35" name="Picture 34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144768"/>
            <a:ext cx="1737360" cy="38221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37744"/>
            <a:ext cx="2926080" cy="6437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749808"/>
            <a:ext cx="6400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B830"/>
                </a:solidFill>
              </a:rPr>
              <a:t>Introducing SELLL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only outbound system that knows
WHO to contact, WHEN, and WHY -
in real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73552"/>
            <a:ext cx="64008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401568"/>
            <a:ext cx="8046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8"/>
                </a:solidFill>
              </a:rPr>
              <a:t>We don't just write your emails. We build the intelligence layer that watches your market 24/7, identifies the exact moment a prospect becomes ready to buy, and fires a hyper-personalised sequence before your competitors even know it happened.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4343400"/>
            <a:ext cx="3657600" cy="217627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4343400"/>
            <a:ext cx="365760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4805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91947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Signal
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486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40+ real-time buying triggers monitored continuously - funding, hires, launches, intent, tech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4343400"/>
            <a:ext cx="3657600" cy="217627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4343400"/>
            <a:ext cx="365760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4805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91947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AI-Driven
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486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Every sequence fires on a signal, not a calendar. Every message is anchored to the exact reason you are reaching 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7888" y="4343400"/>
            <a:ext cx="3657600" cy="217627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47888" y="4343400"/>
            <a:ext cx="365760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7" y="44805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8860B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4919472"/>
            <a:ext cx="3291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Permanent
System Ownership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7" y="54864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We build it, you own it. A documented, self-running engine your team inherits forever.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315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</a:rPr>
              <a:t>From Signal to Signed Deal:
The SELLL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01952"/>
            <a:ext cx="50292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29968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This is the engine we build for every client. Each layer is purpose-built for [COMPANY]'s ICP, buyer signals, and ACV.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633472"/>
            <a:ext cx="1938528" cy="15361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633472"/>
            <a:ext cx="1938528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27614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B830"/>
                </a:solidFill>
              </a:rPr>
              <a:t>SIGNAL
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346704"/>
            <a:ext cx="17739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CCD8"/>
                </a:solidFill>
              </a:rPr>
              <a:t>Funding / hire / launch / intent trigger fires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200400"/>
            <a:ext cx="310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B830"/>
                </a:solidFill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633472"/>
            <a:ext cx="1938528" cy="15361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2633472"/>
            <a:ext cx="1938528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27614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PROSPECT
SCORED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46704"/>
            <a:ext cx="17739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100-pt ICP rubric applied. Only A+B grades proceed.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200400"/>
            <a:ext cx="310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B830"/>
                </a:solidFill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2352" y="2633472"/>
            <a:ext cx="1938528" cy="153619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2633472"/>
            <a:ext cx="1938528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7614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MESSAGE
CRAFTED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3346704"/>
            <a:ext cx="17739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AI writes signal-anchored, persona-specific copy.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744" y="3200400"/>
            <a:ext cx="310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B830"/>
                </a:solidFill>
              </a:rP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61504" y="2633472"/>
            <a:ext cx="1938528" cy="15361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61504" y="2633472"/>
            <a:ext cx="1938528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1" y="27614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SEQUENCE
FIRES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3346704"/>
            <a:ext cx="17739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Email + LinkedIn + call coordinated automatically.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3200400"/>
            <a:ext cx="3108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B830"/>
                </a:solidFill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0656" y="2633472"/>
            <a:ext cx="1938528" cy="15361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0656" y="2633472"/>
            <a:ext cx="1938528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0384" y="27614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MEETING
BOOKED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3346704"/>
            <a:ext cx="177393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Qualified conversation lands in your calendar.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348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WHAT FIRES IN YOUR SEQUENCES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828032"/>
            <a:ext cx="11338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" y="4919472"/>
            <a:ext cx="2788920" cy="15727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" y="4919472"/>
            <a:ext cx="2788920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02920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B830"/>
                </a:solidFill>
              </a:rPr>
              <a:t>Email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486400"/>
            <a:ext cx="2423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CCD8"/>
                </a:solidFill>
              </a:rPr>
              <a:t>7-touch, signal-anchored copy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4919472"/>
            <a:ext cx="2788920" cy="15727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83280" y="4919472"/>
            <a:ext cx="2788920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502920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B830"/>
                </a:solidFill>
              </a:rPr>
              <a:t>LinkedIn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86400"/>
            <a:ext cx="2423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CCD8"/>
                </a:solidFill>
              </a:rPr>
              <a:t>Connection + 3-touch DM sequence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7648" y="4919472"/>
            <a:ext cx="2788920" cy="15727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27648" y="4919472"/>
            <a:ext cx="2788920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502920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B830"/>
                </a:solidFill>
              </a:rPr>
              <a:t>Cold Call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5486400"/>
            <a:ext cx="2423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CCD8"/>
                </a:solidFill>
              </a:rPr>
              <a:t>Signal-context opener script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72016" y="4919472"/>
            <a:ext cx="2788920" cy="15727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72016" y="4919472"/>
            <a:ext cx="2788920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54896" y="5029200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B830"/>
                </a:solidFill>
              </a:rPr>
              <a:t>Video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54896" y="5486400"/>
            <a:ext cx="2423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CCCD8"/>
                </a:solidFill>
              </a:rPr>
              <a:t>Loom personalisation prompt</a:t>
            </a:r>
          </a:p>
        </p:txBody>
      </p:sp>
      <p:pic>
        <p:nvPicPr>
          <p:cNvPr id="49" name="Picture 48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373368"/>
            <a:ext cx="1737360" cy="38221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B830"/>
                </a:solidFill>
              </a:rPr>
              <a:t>YOUR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772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We Build for [COMPANY].
Specifically.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7772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8"/>
                </a:solidFill>
              </a:rPr>
              <a:t>Every element below is designed around [COMPANY]'s ICP, buyer signals, and the pain points you described on [DATE]. This is not a package. It is a custom build.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606040"/>
            <a:ext cx="5596128" cy="202996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606040"/>
            <a:ext cx="5596128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7157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830"/>
                </a:solidFill>
              </a:rPr>
              <a:t>INTELLIGENCE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08152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[COMPANY] ICP -- 100-pt scoring rubric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33756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Signal feed 1: [e.g. SDR/VP Sales hiring in SaaS, 10-50 employees]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59359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Signal feed 2: [e.g. Series A funding, US/UK, B2B]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84962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Signal feed 3: [e.g. New VP Sales hire, last 60 days]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10565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Top 200 A+B prospects enriched monthly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606040"/>
            <a:ext cx="5596128" cy="202996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606040"/>
            <a:ext cx="5596128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157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830"/>
                </a:solidFill>
              </a:rPr>
              <a:t>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8152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Sequence 1: [Signal A] targeting [Persona 1 - CEO/Founder]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6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Sequence 2: [Signal B] targeting [Persona 2 - VP Sales]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9359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Sequence 3: [Signal C] -- 5-touch founder nurture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4962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LinkedIn DM scripts per persona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0565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Cold call opener scripts x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4956048"/>
            <a:ext cx="11320272" cy="157276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" y="4956048"/>
            <a:ext cx="11320272" cy="4572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06577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B830"/>
                </a:solidFill>
              </a:rPr>
              <a:t>TECH &amp;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431536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Domain warm-up + deliverability 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687568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CRM pipeline stages configured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43600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A/B test variants for every sequence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199631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Weekly performance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455664"/>
            <a:ext cx="10881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- Monthly ICP recalibration</a:t>
            </a:r>
          </a:p>
        </p:txBody>
      </p:sp>
      <p:pic>
        <p:nvPicPr>
          <p:cNvPr id="31" name="Picture 30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373368"/>
            <a:ext cx="1737360" cy="38221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THE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315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Live in 30 Days.
Fully Running in 90.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01952"/>
            <a:ext cx="50292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299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Other agencies take 6 months before results. We have your first sequences firing by end of Month 1.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651760"/>
            <a:ext cx="11320272" cy="201168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651760"/>
            <a:ext cx="3767328" cy="20116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2651760"/>
            <a:ext cx="3767328" cy="20116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73568" y="2651760"/>
            <a:ext cx="3767328" cy="201168"/>
          </a:xfrm>
          <a:prstGeom prst="rect">
            <a:avLst/>
          </a:prstGeom>
          <a:solidFill>
            <a:srgbClr val="F5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999232"/>
            <a:ext cx="3703320" cy="354787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999232"/>
            <a:ext cx="3703320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1089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B830"/>
                </a:solidFill>
              </a:rPr>
              <a:t>MONTH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4747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B830"/>
                </a:solidFill>
              </a:rPr>
              <a:t>Foundation &amp; Launch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858768"/>
            <a:ext cx="3337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9593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830"/>
                </a:solidFill>
              </a:rPr>
              <a:t>Days 1-5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5935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D8"/>
                </a:solidFill>
              </a:rPr>
              <a:t>Tech stack audit, domain warm-up, CRM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4622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830"/>
                </a:solidFill>
              </a:rPr>
              <a:t>Days 6-10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6227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D8"/>
                </a:solidFill>
              </a:rPr>
              <a:t>ICP built, signal feeds live, 200 prospects scored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965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830"/>
                </a:solidFill>
              </a:rPr>
              <a:t>Days 11-21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96519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D8"/>
                </a:solidFill>
              </a:rPr>
              <a:t>3 sequences written, LinkedIn automation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4681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830"/>
                </a:solidFill>
              </a:rPr>
              <a:t>Days 22-30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46811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D8"/>
                </a:solidFill>
              </a:rPr>
              <a:t>First outreach fires -- sequences are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9710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B830"/>
                </a:solidFill>
              </a:rPr>
              <a:t>Day 30+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97103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D8"/>
                </a:solidFill>
              </a:rPr>
              <a:t>First replies. First meetings. System running.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2999232"/>
            <a:ext cx="3703320" cy="354787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2999232"/>
            <a:ext cx="370332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1089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4747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D060"/>
                </a:solidFill>
              </a:rPr>
              <a:t>Volume &amp; Optimise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3858768"/>
            <a:ext cx="3337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9593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5D060"/>
                </a:solidFill>
              </a:rPr>
              <a:t>Week 5-6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395935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Reply data analysed, A/B winners promoted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4622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5D060"/>
                </a:solidFill>
              </a:rPr>
              <a:t>Week 6-7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446227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ICP recalibrated from first 200 sends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965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5D060"/>
                </a:solidFill>
              </a:rPr>
              <a:t>Week 7-8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8968" y="496519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Sequence 2 + 3 volume scaled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4681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5D060"/>
                </a:solidFill>
              </a:rPr>
              <a:t>Week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8968" y="546811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LinkedIn DM layer fully operational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59710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5D060"/>
                </a:solidFill>
              </a:rPr>
              <a:t>Month 2 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58968" y="597103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Target: 6-10 qualified meetings booked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47888" y="2999232"/>
            <a:ext cx="3703320" cy="354787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47888" y="2999232"/>
            <a:ext cx="370332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0767" y="31089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MONTH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7" y="34747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D060"/>
                </a:solidFill>
              </a:rPr>
              <a:t>Scale &amp; Hand Off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30767" y="3858768"/>
            <a:ext cx="3337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7" y="39593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5D060"/>
                </a:solidFill>
              </a:rPr>
              <a:t>Week 9-10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3456" y="395935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Top 20% message variants identified + scaled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7" y="44622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5D060"/>
                </a:solidFill>
              </a:rPr>
              <a:t>Week 10-11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3456" y="446227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Full system documentation written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0767" y="49651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5D060"/>
                </a:solidFill>
              </a:rPr>
              <a:t>Week 11-12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3456" y="496519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Playbook Loom walkthroughs recorded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7" y="54681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5D060"/>
                </a:solidFill>
              </a:rPr>
              <a:t>Week 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63456" y="546811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90-day review: results + next 90 plan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30767" y="59710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5D060"/>
                </a:solidFill>
              </a:rPr>
              <a:t>Month 3 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63456" y="5971032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Target: 8-14 meetings/month, system yours</a:t>
            </a:r>
          </a:p>
        </p:txBody>
      </p:sp>
      <p:pic>
        <p:nvPicPr>
          <p:cNvPr id="56" name="Picture 55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373368"/>
            <a:ext cx="1737360" cy="38221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B830"/>
                </a:solidFill>
              </a:rPr>
              <a:t>THE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7772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Signal-Triggered
Outbound Actually Delivers.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2011680"/>
            <a:ext cx="2724912" cy="138988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2011680"/>
            <a:ext cx="272491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139696"/>
            <a:ext cx="24505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B830"/>
                </a:solidFill>
              </a:rPr>
              <a:t>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743200"/>
            <a:ext cx="24505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CCD8"/>
                </a:solidFill>
              </a:rPr>
              <a:t>avg reply rate
vs 0.3% industry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2011680"/>
            <a:ext cx="2724912" cy="138988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2011680"/>
            <a:ext cx="272491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1" y="2139696"/>
            <a:ext cx="24505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B830"/>
                </a:solidFill>
              </a:rPr>
              <a:t>18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1" y="2743200"/>
            <a:ext cx="24505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CCD8"/>
                </a:solidFill>
              </a:rPr>
              <a:t>avg to first
qualified meeting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3952" y="2011680"/>
            <a:ext cx="2724912" cy="138988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3952" y="2011680"/>
            <a:ext cx="272491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2139696"/>
            <a:ext cx="24505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B830"/>
                </a:solidFill>
              </a:rPr>
              <a:t>8-12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743200"/>
            <a:ext cx="24505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CCD8"/>
                </a:solidFill>
              </a:rPr>
              <a:t>meetings/month
on the Growth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91472" y="2011680"/>
            <a:ext cx="2724912" cy="138988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91472" y="2011680"/>
            <a:ext cx="272491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8632" y="2139696"/>
            <a:ext cx="24505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B830"/>
                </a:solidFill>
              </a:rPr>
              <a:t>48%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8632" y="2743200"/>
            <a:ext cx="24505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CCCD8"/>
                </a:solidFill>
              </a:rPr>
              <a:t>lower cost than
an in-house SDR hire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3657600"/>
            <a:ext cx="11320272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67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B830"/>
                </a:solidFill>
              </a:rPr>
              <a:t>CLIENT OUTCOMES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4160520"/>
            <a:ext cx="3703320" cy="239572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" y="4160520"/>
            <a:ext cx="370332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3" y="428853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B2B SaaS  |  22 employees  |  Series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3" y="4690872"/>
            <a:ext cx="336499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Zero outbound motion on Day 1. Signal infrastructure live Day 5. First cold meeting booked Day 18 - no founder involvement. Month 3: 2 deals closed from system. $148K ARR. Retainer paid back 16x.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60520"/>
            <a:ext cx="3703320" cy="239572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160520"/>
            <a:ext cx="370332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428853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DevTools Platform  |  18 employees  |  Post-seed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4690872"/>
            <a:ext cx="336499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Founder closing every deal. No time to scale. SELLL deployed VP Eng signal sequences. Month 2: 7 meetings, 0 founder in top-of-funnel. Pipeline fully systematised. Founder focused on product.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7888" y="4160520"/>
            <a:ext cx="3703320" cy="2395728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47888" y="4160520"/>
            <a:ext cx="370332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288536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B2B Services  |  65 employees  |  UK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690872"/>
            <a:ext cx="336499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Existing SDR team, 0.4% reply rates. Added SELLL signal layer above Apollo sequences. Reply rate: 3.8% in 45 days. Same team, same tool. 3.1x more meetings per SDR. No new headcount.</a:t>
            </a:r>
          </a:p>
        </p:txBody>
      </p:sp>
      <p:pic>
        <p:nvPicPr>
          <p:cNvPr id="36" name="Picture 35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373368"/>
            <a:ext cx="1737360" cy="38221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68580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The ROI Calculation
for [COMPANY].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01952"/>
            <a:ext cx="50292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2996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Based on [COMPANY]'s ACV of approximately $[X,XXX]/year and the Growth plan at $7,500/month: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578608"/>
            <a:ext cx="5376672" cy="36393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578608"/>
            <a:ext cx="5376672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24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WITHOUT SELLL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In-house SDR (loaded cost)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$140,000/yr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Time to first meeting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6-9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Meetings/month at full ramp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6-10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Cost per qualified meeting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$850-$1,400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Pipeline Year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~$0-$300K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Risk if SDR leaves at 18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Start over: $140K+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1821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In-house SDR (loaded cost)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1821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$140,000/yr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493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Time to first meeting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4930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6-9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8039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Meetings/month at full ramp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380390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6-10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1148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Cost per qualified meeting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114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$850-$1,400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4256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Pipeline Year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425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~$0-$300K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7365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Risk if SDR leaves at 18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47365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74C3C"/>
                </a:solidFill>
              </a:rPr>
              <a:t>Start over: $140K+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2578608"/>
            <a:ext cx="5376672" cy="36393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89320" y="2578608"/>
            <a:ext cx="537667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2724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WITH SELLL (GROWTH)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31821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Annual investment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1821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7AE60"/>
                </a:solidFill>
              </a:rPr>
              <a:t>$90,000/yr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3493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Time to first meeting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4930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7AE60"/>
                </a:solidFill>
              </a:rPr>
              <a:t>30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38039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Meetings/month (Month 2+)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80390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7AE60"/>
                </a:solidFill>
              </a:rPr>
              <a:t>8-14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41148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Cost per qualified meeting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1148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7AE60"/>
                </a:solidFill>
              </a:rPr>
              <a:t>$200-$420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44256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1 new client covers investment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425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7AE60"/>
                </a:solidFill>
              </a:rPr>
              <a:t>[X]x ROI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4768" y="47365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What you own after contract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7365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7AE60"/>
                </a:solidFill>
              </a:rPr>
              <a:t>Full system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" y="6382512"/>
            <a:ext cx="11320272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B830"/>
                </a:solidFill>
              </a:rPr>
              <a:t>One new [COMPANY] client = $[X,XXX]/year. That covers your SELLL investment [X]x in Year 1.</a:t>
            </a:r>
          </a:p>
        </p:txBody>
      </p:sp>
      <p:pic>
        <p:nvPicPr>
          <p:cNvPr id="51" name="Picture 50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373368"/>
            <a:ext cx="1737360" cy="38221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B830"/>
                </a:solidFill>
              </a:rPr>
              <a:t>THE OFFER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We Recommend for [COMPANY].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D8"/>
                </a:solidFill>
              </a:rPr>
              <a:t>Based on your headcount, ARR, and the goals you shared - here is what we recommend: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901952"/>
            <a:ext cx="3703320" cy="45537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901952"/>
            <a:ext cx="3703320" cy="6400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688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89504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B830"/>
                </a:solidFill>
              </a:rPr>
              <a:t>$3,500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31363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</a:rPr>
              <a:t>S1 founders, 1-10 employees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950208"/>
            <a:ext cx="3337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078224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ICP + scoring rubric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343400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1 sequence (email 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608576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100 prospects/month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873752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Weekly performance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138928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Monthly optimisation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404104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99"/>
                </a:solidFill>
              </a:rPr>
              <a:t>LinkedIn: Add-on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669279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99"/>
                </a:solidFill>
              </a:rPr>
              <a:t>Cold call scripts: 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8536" y="1901952"/>
            <a:ext cx="3703320" cy="455371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88536" y="1901952"/>
            <a:ext cx="3703320" cy="6400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8536" y="1965960"/>
            <a:ext cx="3703320" cy="384048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8264" y="2029968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A1A2E"/>
                </a:solidFill>
              </a:rPr>
              <a:t>RECOMMENDED FOR [COMPANY]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1416" y="24688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2889504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$7,500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31363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/mo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1416" y="35661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A1A2E"/>
                </a:solidFill>
              </a:rPr>
              <a:t>S2 sweet spot, 10-50 employees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71416" y="3950208"/>
            <a:ext cx="3337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078224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ICP + scoring rubric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1416" y="4343400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3 sequences (email + LinkedIn)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1416" y="4608576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300 prospects/month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1416" y="4873752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A/B testing + winner promotion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1416" y="5138928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Cold call scripts included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1416" y="5404104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Full stack audit +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1416" y="5669279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2E"/>
                </a:solidFill>
              </a:rPr>
              <a:t>Weekly calls + monthly QBR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93023" y="1901952"/>
            <a:ext cx="3703320" cy="4553712"/>
          </a:xfrm>
          <a:prstGeom prst="rect">
            <a:avLst/>
          </a:prstGeom>
          <a:solidFill>
            <a:srgbClr val="2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93023" y="1901952"/>
            <a:ext cx="3703320" cy="6400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75903" y="24688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3" y="2889504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B830"/>
                </a:solidFill>
              </a:rPr>
              <a:t>$15,000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9024" y="31363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/mo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3" y="35661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99"/>
                </a:solidFill>
              </a:rPr>
              <a:t>S3 + S4, 50-200 employees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75903" y="3950208"/>
            <a:ext cx="333756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75903" y="4078224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Full ICP + custom rubric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5903" y="4343400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5 sequences, all channels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5903" y="4608576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Unlimited prospects (rolling)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75903" y="4873752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Dedicated sequence specialist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5903" y="5138928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Custom intent + ads layer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5903" y="5404104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Full team training + SOPs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75903" y="5669279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D8"/>
                </a:solidFill>
              </a:rPr>
              <a:t>Bi-weekly strategic reviews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65392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88899"/>
                </a:solidFill>
              </a:rPr>
              <a:t>3-month minimum. Month-to-month after that. Full IP ownership from Day 1.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0B"/>
                </a:solidFill>
              </a:rPr>
              <a:t>YOUR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772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</a:rPr>
              <a:t>We Take the Risk
Off the Table. Entirely.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01952"/>
            <a:ext cx="502920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2996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99"/>
                </a:solidFill>
              </a:rPr>
              <a:t>Most agencies ask you to trust them for 6 months before showing results. We ask for 30 days. If you do not have qualified meetings by then, we work free until you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761488"/>
            <a:ext cx="5650992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761488"/>
            <a:ext cx="565099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88950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30-Day Meeting Guarantee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01183" y="2889504"/>
            <a:ext cx="10058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935224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A2E"/>
                </a:solidFill>
              </a:rPr>
              <a:t>ZERO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28416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3 qualified meetings in 30 days of live sequences - or we extend at no charge until we hit it. No small print. No excuses. If we miss, we pay.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761488"/>
            <a:ext cx="5650992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761488"/>
            <a:ext cx="565099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88950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Full IP Ownership Day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71632" y="2889504"/>
            <a:ext cx="1005840" cy="34747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08208" y="2935224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A2E"/>
                </a:solidFill>
              </a:rPr>
              <a:t>YOURS FOREVER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28416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Every sequence, ICP document, playbook, and script belongs to [COMPANY] from the moment we write it. Cancel after Month 3 - you keep everything.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572000"/>
            <a:ext cx="5650992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" y="4572000"/>
            <a:ext cx="5650992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70001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Month-to-Month After Month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01183" y="4700016"/>
            <a:ext cx="1005840" cy="34747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4745736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A2E"/>
                </a:solidFill>
              </a:rPr>
              <a:t>NO LOCK-IN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13892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No 12-month contracts. No cancellation penalties after the 3-month build. Stay because the results justify it. Leave whenever you want.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572000"/>
            <a:ext cx="5650992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572000"/>
            <a:ext cx="5650992" cy="54864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70001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System Documentation Delivered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71632" y="4700016"/>
            <a:ext cx="1005840" cy="347472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08208" y="4745736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1A1A2E"/>
                </a:solidFill>
              </a:rPr>
              <a:t>YOU OWN THE PLAYBOOK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38928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At 90 days you receive a fully documented playbook - SOPs, Loom walkthroughs, signal maps. Your team can run this independently without SELLL.</a:t>
            </a:r>
          </a:p>
        </p:txBody>
      </p:sp>
      <p:pic>
        <p:nvPicPr>
          <p:cNvPr id="31" name="Picture 30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373368"/>
            <a:ext cx="1737360" cy="38221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34088" y="0"/>
            <a:ext cx="54864" cy="685800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lll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201168"/>
            <a:ext cx="2011680" cy="4425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749808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B830"/>
                </a:solidFill>
              </a:rPr>
              <a:t>WHAT HAPPENS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188720"/>
            <a:ext cx="99669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Three Steps to Your First
Qualified Meeting.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514600"/>
            <a:ext cx="3931920" cy="27432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64208" y="2743200"/>
            <a:ext cx="548640" cy="54864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496" y="281635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779776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Say yes to the Build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3163824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Reply 'I am in' to the follow-up email. We send you the agreement. You sign. We start building Day 1 - no delay, no onboarding form, no 'welcome to the platform' email. We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64208" y="3931920"/>
            <a:ext cx="548640" cy="54864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82496" y="400507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3968496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30-minute kickoff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4352544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Within 48 hours of signing, we hold a kickoff call. We walk through your ICP, confirm your signal priorities, and get access to your CRM and sending domain. By end of the call, your system build has started.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64208" y="5120640"/>
            <a:ext cx="548640" cy="548640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82496" y="519379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2" y="5157216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First qualified meeting in 30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9152" y="5541264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D8"/>
                </a:solidFill>
              </a:rPr>
              <a:t>Sequences fire by Day 28-30. Replies start arriving. Meetings land in your calendar. You show up and close. We handle everything before that moment.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6400800"/>
            <a:ext cx="7040880" cy="420624"/>
          </a:xfrm>
          <a:prstGeom prst="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6455664"/>
            <a:ext cx="6821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Ready to start?  Reply to this email or visit  selll.io/audit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22608" y="6473952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899"/>
                </a:solidFill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