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" y="50292"/>
            <a:ext cx="12079224" cy="68077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5720"/>
            <a:ext cx="2542032" cy="5029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74352" y="1097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0F1E"/>
                </a:solidFill>
              </a:rPr>
              <a:t>INVESTOR DECK  |  2026</a:t>
            </a:r>
          </a:p>
        </p:txBody>
      </p:sp>
      <p:pic>
        <p:nvPicPr>
          <p:cNvPr id="8" name="Picture 7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05840"/>
            <a:ext cx="4480560" cy="985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3154680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The Signal-Intelligent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8B830"/>
                </a:solidFill>
              </a:rPr>
              <a:t>Revenue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828032"/>
            <a:ext cx="48463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91947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DDDE8"/>
                </a:solidFill>
              </a:rPr>
              <a:t>Turning B2B Companies Into Pipeline Machines Using AI-Powered Signal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309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selll.io  |  Confidential  | 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Your Pipeline Is a Prayer,
Not a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E8"/>
                </a:solidFill>
              </a:rPr>
              <a:t>Most B2B companies between $500K and $20M ARR are generating revenue - but they have no repeatable, signal-driven system behind it. Pipeline comes from the founder's relationships, a lucky referral, or a one-time campaign that stopped working.
That is not a business. That is a bet.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960120"/>
            <a:ext cx="2560320" cy="13258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960120"/>
            <a:ext cx="2560320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0698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B830"/>
                </a:solidFill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70992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E8"/>
                </a:solidFill>
              </a:rPr>
              <a:t>of a B2B founder's time is spent selling -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487168"/>
            <a:ext cx="2560320" cy="13258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487168"/>
            <a:ext cx="2560320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59689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B830"/>
                </a:solidFill>
              </a:rPr>
              <a:t>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236976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E8"/>
                </a:solidFill>
              </a:rPr>
              <a:t>average reply rate on spray-and-pray cold sequences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4014215"/>
            <a:ext cx="2560320" cy="13258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014215"/>
            <a:ext cx="2560320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123944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B830"/>
                </a:solidFill>
              </a:rPr>
              <a:t>9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764024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E8"/>
                </a:solidFill>
              </a:rPr>
              <a:t>average time to positive ROI on an in-house SDR hire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" y="5806440"/>
            <a:ext cx="12042648" cy="8229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5806440"/>
            <a:ext cx="12042648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897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D060"/>
                </a:solidFill>
              </a:rPr>
              <a:t>"Every month without a predictable outbound system is a month of pipeline you will never get back."</a:t>
            </a:r>
          </a:p>
        </p:txBody>
      </p:sp>
      <p:pic>
        <p:nvPicPr>
          <p:cNvPr id="22" name="Picture 21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</a:rPr>
              <a:t>HOW COMPANIES TRY TO SOLVE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Three Approaches. Three Ways to Bleed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45720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38328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38328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Hire an SDR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95728"/>
            <a:ext cx="30175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$110K-$150K OTE
+ 6 months ramp
+ benefits &amp;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60% churn within 18 months. Starts over. Costs another $150K.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301752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93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EXPENSIVE AND SLOW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508760"/>
            <a:ext cx="338328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508760"/>
            <a:ext cx="338328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66420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Buy Sequences
&amp; Blast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395728"/>
            <a:ext cx="30175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432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$500-$3,000/mo
on Apollo / Instantly
/ Lemlist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584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0.3% reply rate. Inboxes flooded with AI slop. Brand damaged.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5029200"/>
            <a:ext cx="301752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093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CHEAP AND INEFFECTIVE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508760"/>
            <a:ext cx="338328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508760"/>
            <a:ext cx="338328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664208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Hire an Agency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395728"/>
            <a:ext cx="30175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432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$3K-$8K/mo
for generic lists
and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84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No signal layer. No personalisation engine. Same result as option 2.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5029200"/>
            <a:ext cx="301752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5093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AVERAGE AND FORGETTABLE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8076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B830"/>
                </a:solidFill>
              </a:rPr>
              <a:t>There is a fourth option. And it makes all three of these obsolete.</a:t>
            </a:r>
          </a:p>
        </p:txBody>
      </p:sp>
      <p:pic>
        <p:nvPicPr>
          <p:cNvPr id="38" name="Picture 37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550408"/>
            <a:ext cx="1828800" cy="4023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THE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132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Window Is Open.
Most Companies Will Miss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7627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E8"/>
                </a:solidFill>
              </a:rPr>
              <a:t>AI changed the rules of outbound selling in 2023-2024. Here is the paradox: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457200" cy="4572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797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249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060"/>
                </a:solidFill>
              </a:rPr>
              <a:t>AI made it trivially easy to send millions of cold emails.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E8"/>
                </a:solidFill>
              </a:rPr>
              <a:t>Result: inboxes are now flooded. The average buying committee member receives 42 cold pitches per week. Generic is invisible.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13632"/>
            <a:ext cx="457200" cy="4572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684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1363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060"/>
                </a:solidFill>
              </a:rPr>
              <a:t>AI also made it possible to monitor every buying signal in real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15968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E8"/>
                </a:solidFill>
              </a:rPr>
              <a:t>New funding. New exec. New job post. ProductHunt launch. Signal-triggered outreach converts at 3-5x the rate of calendar-triggered.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02352"/>
            <a:ext cx="457200" cy="4572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1572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023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060"/>
                </a:solidFill>
              </a:rPr>
              <a:t>The companies that deploy signal intelligence in 2024-2025 will set the pipeline standard for the next decade.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04688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E8"/>
                </a:solidFill>
              </a:rPr>
              <a:t>The companies that don't will be outcompeted before they realise what happened.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594360"/>
            <a:ext cx="2697480" cy="59436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594360"/>
            <a:ext cx="269748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7498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0972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CLOSING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536192"/>
            <a:ext cx="22402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82880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Adopters (now)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194560"/>
            <a:ext cx="411479" cy="34747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22311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92608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Fast followers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3291840"/>
            <a:ext cx="800100" cy="34747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33284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35%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02336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Late majority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4389120"/>
            <a:ext cx="1074419" cy="34747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44256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47%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32180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B830"/>
                </a:solidFill>
              </a:rPr>
              <a:t>Be the 18%.</a:t>
            </a:r>
          </a:p>
        </p:txBody>
      </p:sp>
      <p:pic>
        <p:nvPicPr>
          <p:cNvPr id="34" name="Picture 33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2560320" cy="563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B830"/>
                </a:solidFill>
              </a:rPr>
              <a:t>SELLL.io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only outbound system that knows WHO to contact,
WHEN, and WHY - in real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87168"/>
            <a:ext cx="54864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E8"/>
                </a:solidFill>
              </a:rPr>
              <a:t>We don't just write your emails. We build the intelligence layer that determines the right signal, the right person, the right moment - and then orchestrates every touchpoint automatically until a meeting is booked.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3566160" cy="26974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356616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9136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0740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Signal
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084064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Real-time monitoring of 40+ buying triggers: funding, hires, tech changes, content signals, job posts. We know who is in-market before they raise their hand.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3794760"/>
            <a:ext cx="3566160" cy="26974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3794760"/>
            <a:ext cx="356616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9136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40740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AI
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5084064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Hyper-personalised sequences triggered by the signal - not the calendar. Every message is contextually relevant. Every touchpoint earns the next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5" y="3794760"/>
            <a:ext cx="3566160" cy="26974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6175" y="3794760"/>
            <a:ext cx="356616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39136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860B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440740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Revenue
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5084064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8"/>
                </a:solidFill>
              </a:rPr>
              <a:t>We own the result. Qualified meetings booked into your calendar. Pipeline generated. A system your team can run without us one day.</a:t>
            </a:r>
          </a:p>
        </p:txBody>
      </p:sp>
      <p:pic>
        <p:nvPicPr>
          <p:cNvPr id="26" name="Picture 25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400800"/>
            <a:ext cx="1828800" cy="4023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The Four-Layer Revenue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45720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99"/>
                </a:solidFill>
              </a:rPr>
              <a:t>Most outbound tools operate at Layer 3 only (execution). SELLL is the only system that engineers all four layers and makes them work as one unified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2788920" cy="429768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2402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30"/>
                </a:solidFill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87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DATA &amp; SIGNAL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40+ real-time trigger feeds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410712"/>
            <a:ext cx="25603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5021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Funding rounds (Crunchbase/PitchBook)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9227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Exec hires &amp; departures (LinkedIn)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34340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Job posts signalling pain (SDR / VP Sales / RevOps)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7640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ProductHunt launches &amp; press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1846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Tech stack changes (BuiltWith / Wappalyzer)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6052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Competitor churn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602589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Content &amp; intent signals (G2, web visits)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2148840"/>
            <a:ext cx="2788920" cy="42976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64408" y="2148840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2402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30"/>
                </a:solidFill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2587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ICP SCORING &amp; PERSONALISATION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AI-powered prospect ranking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74136" y="3410712"/>
            <a:ext cx="25603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35021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Dynamic ICP scoring (100-pt rubric)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39227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Account-level signal strength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434340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Persona-level message personalisation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47640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Context-aware copywriting (signal -&gt; message)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51846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Multi-variable A/B split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4136" y="56052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Negative ICP filtering before any spend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602589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-  Contact waterfall (decision maker -&gt; champion -&gt; influencer)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2148840"/>
            <a:ext cx="278892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2148840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22402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30"/>
                </a:solidFill>
              </a:rPr>
              <a:t>L3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2587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D060"/>
                </a:solidFill>
              </a:rPr>
              <a:t>MULTI-CHANNEL ORCHESTRATION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Automated, signal-triggered sequences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18504" y="3410712"/>
            <a:ext cx="25603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5021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Email sequences (day 1/3/5/7/10/14/21 cadence)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39227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LinkedIn connection + DM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434340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Cold call scripts tied to signal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7640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Video personalisation prompts (Loom/Vidyard)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51846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SMS follow-up for high-score accounts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56052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Slack alerts when signal threshold crossed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602589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Meeting link integration (Calendly/Chili Piper)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53144" y="2148840"/>
            <a:ext cx="2788920" cy="42976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53144" y="2148840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2872" y="22402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830"/>
                </a:solidFill>
              </a:rPr>
              <a:t>L4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2587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OPTIMISATION &amp; SYSTEM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30815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Self-improving pipeline engine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62872" y="3410712"/>
            <a:ext cx="25603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62872" y="35021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Weekly reply rate analytics by signal 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39227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Subject line A/B winner promotion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434340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Message angle performance scoring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62872" y="47640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ICP score vs close rate correlation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62872" y="51846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Monthly system tuning sessions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2872" y="56052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Quarterly ICP refresh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62872" y="602589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-  Deliverability monitoring &amp; warm-up</a:t>
            </a:r>
          </a:p>
        </p:txBody>
      </p:sp>
      <p:pic>
        <p:nvPicPr>
          <p:cNvPr id="59" name="Picture 58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THE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Your System, Built in 90 Days.
Live in 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E8"/>
                </a:solidFill>
              </a:rPr>
              <a:t>Other agencies take 6 months to show results. Our 90-day sprint is architected so you have live sequences firing by end of Month 1 and optimised pipeline by Month 3.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743200"/>
            <a:ext cx="3657600" cy="379476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743200"/>
            <a:ext cx="365760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803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Foundation &amp; Launch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657600"/>
            <a:ext cx="329184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794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Full ICP build + 100-pt scoring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1970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Signal infrastructure deployed (40+ feeds)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599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3 core sequences written + personalised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0017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Tech stack audit + tool integrations wired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4041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Sending domain warm-up initiated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806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Week 4: First sequences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2087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Target: 50+ prospects in active sequence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743200"/>
            <a:ext cx="3657600" cy="37947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743200"/>
            <a:ext cx="365760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8803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Volume + Optimisation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657600"/>
            <a:ext cx="329184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794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List building scaled to 300+ A/B grade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970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LinkedIn automation layer activated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599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First reply data analysed + winners promoted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0017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Subject line A/B testing (3 variants per sequence)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4041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Cold call scripts deployed for high-score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806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ICP scoring recalibrated from first 200 sends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62087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Target: 4-8 qualified meetings booked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8" y="2743200"/>
            <a:ext cx="3657600" cy="379476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47888" y="2743200"/>
            <a:ext cx="365760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7" y="28803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System Handoff +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767" y="3657600"/>
            <a:ext cx="329184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7" y="3794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Full system documentation delivered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7" y="41970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Playbook recorded (Loom walkthroughs)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45994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Month 3 optimisation: top 20% message variants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50017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Second signal layer expansion (intent + ads)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7" y="54041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Sales training: qualifying inbound from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7" y="5806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90-day performance review + next 90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62087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Target: 6-12+ qualified meetings booked</a:t>
            </a:r>
          </a:p>
        </p:txBody>
      </p:sp>
      <p:pic>
        <p:nvPicPr>
          <p:cNvPr id="43" name="Picture 42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</a:rPr>
              <a:t>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The Investment That Pays for Itself
Within 30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45720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Based on actual client outcomes across SELLL's core segment (S2: 10-50 employees, ACV $5K-$20K/month, no in-house sales team):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51760"/>
            <a:ext cx="3794760" cy="3566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651760"/>
            <a:ext cx="37947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980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WITHOUT SELLL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73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SDR hire (OTE)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735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$120,000/yr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75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Benefits +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758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+$32,000/yr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Ramp time (6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0782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0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SDR churn at 18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80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Start 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828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Meetings per month at ramp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828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Pipeline per year (Year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285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~$0-$300K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True cost per 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6875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$850-$1,400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651760"/>
            <a:ext cx="3794760" cy="3566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2651760"/>
            <a:ext cx="3794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27980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SELLL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273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Monthly retainer (Growth)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2735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$7,500/mo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675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Annual investment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6758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$90,000/yr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Ramp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0782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30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Meetings per month (Month 2+)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480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6-14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8828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Avg ACV of closed deal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8828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$60K-$180K/yr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1 closed deal covers retainer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285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8-24x 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True cost per meeting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6875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CC71"/>
                </a:solidFill>
              </a:rPr>
              <a:t>$200-$450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2651760"/>
            <a:ext cx="3520440" cy="3566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12480" y="2651760"/>
            <a:ext cx="352044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279806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B830"/>
                </a:solidFill>
              </a:rPr>
              <a:t>THE VERDICT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7072" y="3218688"/>
            <a:ext cx="2999232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3337560"/>
            <a:ext cx="3182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B830"/>
                </a:solidFill>
              </a:rPr>
              <a:t>48%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77072" y="3730752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DDE8"/>
                </a:solidFill>
              </a:rPr>
              <a:t>lower cost than
an in-house SDR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2" y="4087368"/>
            <a:ext cx="3182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B830"/>
                </a:solidFill>
              </a:rPr>
              <a:t>8x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7072" y="448056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DDE8"/>
                </a:solidFill>
              </a:rPr>
              <a:t>ROI on first
closed deal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7072" y="4837176"/>
            <a:ext cx="3182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B830"/>
                </a:solidFill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5230368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DDE8"/>
                </a:solidFill>
              </a:rPr>
              <a:t>days to first
qualified meeting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77072" y="5586983"/>
            <a:ext cx="3182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B830"/>
                </a:solidFill>
              </a:rPr>
              <a:t>3-5x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7072" y="5980176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DDE8"/>
                </a:solidFill>
              </a:rPr>
              <a:t>better reply rate
vs spray &amp; pray</a:t>
            </a:r>
          </a:p>
        </p:txBody>
      </p:sp>
      <p:pic>
        <p:nvPicPr>
          <p:cNvPr id="53" name="Picture 52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WHO THIS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Four Segments. One Common Pain:
No Predictable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S1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93392"/>
            <a:ext cx="2788920" cy="4434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93392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SOLO FOUNDER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Headcount: 1-10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ARR: $0-$1M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Buyer: CEO / Founder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50208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50791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E8"/>
                </a:solidFill>
              </a:rPr>
              <a:t>Founder-led sales hitting ceiling. Every deal requires the founder in the room.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9744"/>
            <a:ext cx="2468880" cy="34747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Growth  |  $3K-$5K/mo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993392"/>
            <a:ext cx="2788920" cy="443484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993392"/>
            <a:ext cx="278892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0848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4505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GROWTH NO-SALES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889504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9809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Headcount: 10-50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2918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ARR: $500K-$5M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027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Buyer: CEO / Co-Founder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950208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050791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A1A2E"/>
                </a:solidFill>
              </a:rPr>
              <a:t>Has product-market fit. No outbound motion. Revenue is referral-dependent.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809744"/>
            <a:ext cx="24688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8646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BEST FIT  |  $5K-$8K/mo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230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2E"/>
                </a:solidFill>
              </a:rPr>
              <a:t>BEST 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S3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993392"/>
            <a:ext cx="2788920" cy="4434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1993392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0848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</a:rPr>
              <a:t>S3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4505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SMB SCALING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889504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9809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Headcount: 50-100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2918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ARR: $3M-$15M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6027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Buyer: VP Sales / CRO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950208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50791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E8"/>
                </a:solidFill>
              </a:rPr>
              <a:t>SDRs exist but not hitting quota. No signal layer. Reply rates under 1%.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809744"/>
            <a:ext cx="2468880" cy="34747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8646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Scale  |  $8K-$15K/mo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1031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S4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1993392"/>
            <a:ext cx="2788920" cy="44348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1993392"/>
            <a:ext cx="27889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20848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</a:rPr>
              <a:t>S4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24505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MID-MARKET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2889504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29809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Headcount: 100-200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2918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ARR: $8M-$30M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6027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Buyer: CRO / VP Revenue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950208"/>
            <a:ext cx="24688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4050791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DDDE8"/>
                </a:solidFill>
              </a:rPr>
              <a:t>Full stack exists. Missing intelligence layer. Board demanding pipeline.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6880" y="4809744"/>
            <a:ext cx="2468880" cy="34747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48646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Enterprise  |  $12K-$20K/mo</a:t>
            </a:r>
          </a:p>
        </p:txBody>
      </p:sp>
      <p:pic>
        <p:nvPicPr>
          <p:cNvPr id="59" name="Picture 58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A Complete Revenue System.
Not a Tool. Not a Template. A Machine.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2084831"/>
            <a:ext cx="5596128" cy="1965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84831"/>
            <a:ext cx="55961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94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INTELLIGENCE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33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Full ICP + 100-point scoring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16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Signal infrastructure (40+ data feeds)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00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Top 200 scored &amp; enriched prospects (monthly)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8386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Buying signal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673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Negative ICP filter (saves wasted spend)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84831"/>
            <a:ext cx="5596128" cy="1965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084831"/>
            <a:ext cx="55961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OUTREACH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33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3 full sequences (7-touch, multi-channel)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16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Per-signal personalisation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LinkedIn automation setup + scripts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8386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Cold call opener scripts per persona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673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A/B variants for every email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233672"/>
            <a:ext cx="5596128" cy="1965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233672"/>
            <a:ext cx="55961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7823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Full stack audit + optimisation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0657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Domain warm-up + deliverability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349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CRM integration + pipeline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63270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Meeting booking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916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Weekly analytics reporting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233672"/>
            <a:ext cx="5596128" cy="1965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233672"/>
            <a:ext cx="55961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ONGOING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7823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Weekly performance calls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657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Monthly ICP recalibration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49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Sequence optimisation (winners scaled)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3270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System documentation + SOPs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916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  -  Quarterly strategic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199632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B830"/>
                </a:solidFill>
              </a:rPr>
              <a:t>Everything above is included in your retainer. No hidden fees. No per-seat pricing. No nickel-and-diming. One number. Full system.</a:t>
            </a:r>
          </a:p>
        </p:txBody>
      </p:sp>
      <p:pic>
        <p:nvPicPr>
          <p:cNvPr id="40" name="Picture 39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705856"/>
            <a:ext cx="1828800" cy="4023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We Built What the Market Was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E8"/>
                </a:solidFill>
              </a:rPr>
              <a:t>No competitor currently combines signal intelligence + AI orchestration + ongoing system ownership at SELLL's price point. Here is the honest comparison: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066543"/>
          <a:ext cx="114299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600199"/>
                <a:gridCol w="1600199"/>
                <a:gridCol w="1485900"/>
                <a:gridCol w="1485900"/>
                <a:gridCol w="1714500"/>
                <a:gridCol w="14859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>Signal Intel</a:t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>AI Personalis.</a:t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>Multi-Channel</a:t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>Owned System</a:t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>Speed to Results</a:t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</a:rPr>
                        <a:t>Price/mo</a:t>
                      </a:r>
                    </a:p>
                  </a:txBody>
                  <a:tcPr>
                    <a:solidFill>
                      <a:srgbClr val="E8B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</a:rPr>
                        <a:t>SELLL.io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Full (40+ feeds)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Yes - per signal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Email+LI+Call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30 days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$5K-$20K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</a:rPr>
                        <a:t>ColdIQ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Email primary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 - agency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60-90 days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$8K-$15K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</a:rPr>
                        <a:t>Kalungi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Human-written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Full fractional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90-180 days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$15K-$40K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</a:rPr>
                        <a:t>Belkins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Manual research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Email+LI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60-90 days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$5K-$12K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</a:rPr>
                        <a:t>In-house SDR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Manual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Varies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6-9 months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$10K-$13K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FFFFFF"/>
                          </a:solidFill>
                        </a:rPr>
                        <a:t>Apollo+Instantly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None (tool)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Email only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Immediate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FFFFFF"/>
                          </a:solidFill>
                        </a:rPr>
                        <a:t>$0.5K-$3K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2212848"/>
            <a:ext cx="11430000" cy="47548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SELLL.io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2677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Full (40+ feeds) | Yes - per signal | Email+LI+Call | Yes | 30 days | $5K-$20K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5650992"/>
            <a:ext cx="12042648" cy="9144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" y="5650992"/>
            <a:ext cx="12042648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74243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D060"/>
                </a:solidFill>
              </a:rPr>
              <a:t>"Other tools send your emails. Other agencies write them. SELLL is the only system that knows who to send them to, when, and why - and runs the whole motion without you."</a:t>
            </a:r>
          </a:p>
        </p:txBody>
      </p:sp>
      <p:pic>
        <p:nvPicPr>
          <p:cNvPr id="14" name="Picture 13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A $4.8B Market With No
Dominant Player in SELLL's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2084831"/>
            <a:ext cx="37947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84831"/>
            <a:ext cx="379476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945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33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$4.8B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735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Global B2B outsourced outbound
10.3% CAGR to $8.9B by 2030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2084831"/>
            <a:ext cx="37947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2084831"/>
            <a:ext cx="379476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1945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30"/>
                </a:solidFill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633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$1.68B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2735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US/UK/CA/AUS - 10-200 employees
B2B SaaS +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2084831"/>
            <a:ext cx="3794760" cy="2286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2084831"/>
            <a:ext cx="379476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21945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263347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$42M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32735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SELLL Year 5 ARR target
2.5% of SAM at 330 clients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SELLL 5-YEAR ARR PATH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38912" y="4983480"/>
          <a:ext cx="11338557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991"/>
                <a:gridCol w="1910993"/>
                <a:gridCol w="2293191"/>
                <a:gridCol w="2293191"/>
                <a:gridCol w="2293191"/>
              </a:tblGrid>
              <a:tr h="2712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830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830"/>
                          </a:solidFill>
                        </a:rPr>
                        <a:t>Clients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830"/>
                          </a:solidFill>
                        </a:rPr>
                        <a:t>Avg MRR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830"/>
                          </a:solidFill>
                        </a:rPr>
                        <a:t>ARR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B830"/>
                          </a:solidFill>
                        </a:rPr>
                        <a:t>SAM 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1A2E"/>
                          </a:solidFill>
                        </a:rPr>
                        <a:t>Y1 (2025)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$7,000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$1.68M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0.10%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1A2E"/>
                          </a:solidFill>
                        </a:rPr>
                        <a:t>Y2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$8,200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$5.4M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1A2E"/>
                          </a:solidFill>
                        </a:rPr>
                        <a:t>Y3 (2027)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130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$9,800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$15.3M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0.91%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1A2E"/>
                          </a:solidFill>
                        </a:rPr>
                        <a:t>Y4 (2028)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$10,200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$26.9M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1.60%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A1A2E"/>
                          </a:solidFill>
                        </a:rPr>
                        <a:t>Y5 (2029)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330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$10,600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$42.0M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A1A2E"/>
                          </a:solidFill>
                        </a:rPr>
                        <a:t>2.50%</a:t>
                      </a:r>
                    </a:p>
                  </a:txBody>
                  <a:tcPr>
                    <a:solidFill>
                      <a:srgbClr val="FFFCF0"/>
                    </a:solidFill>
                  </a:tcPr>
                </a:tc>
              </a:tr>
            </a:tbl>
          </a:graphicData>
        </a:graphic>
      </p:graphicFrame>
      <p:pic>
        <p:nvPicPr>
          <p:cNvPr id="23" name="Picture 22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THE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Plans. One System. Zero 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DDDE8"/>
                </a:solidFill>
              </a:rPr>
              <a:t>All plans include the full signal intelligence layer, ICP build, tech stack setup, and ongoing system management. The difference is volume and channel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993392"/>
            <a:ext cx="3657600" cy="45537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993392"/>
            <a:ext cx="3657600" cy="640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560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5351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B830"/>
                </a:solidFill>
              </a:rPr>
              <a:t>$3,500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31821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9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For solo founders and early-stage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50791"/>
            <a:ext cx="329184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6966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Full ICP + 100-pt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256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1 signal-triggered sequence (7-touch)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817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Email channel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3776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100 enriched prospects/month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9379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Weekly analytics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4498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Monthly optimisation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058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Deliverability setup included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618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</a:rPr>
              <a:t>LinkedIn automation: Add-on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1792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</a:rPr>
              <a:t>Cold call scripts: Not included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1993392"/>
            <a:ext cx="3657600" cy="45537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8536" y="1993392"/>
            <a:ext cx="3657600" cy="6400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8536" y="2057400"/>
            <a:ext cx="3657600" cy="38404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5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MOST POPULAR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560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295351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</a:rPr>
              <a:t>$7,500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31821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3639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A1A2E"/>
                </a:solidFill>
              </a:rPr>
              <a:t>The sweet spot for $500K-$15M ARR companies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71416" y="4050791"/>
            <a:ext cx="329184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416966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Full ICP + 100-pt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4256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3 signal sequences (email + LinkedIn)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46817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Multi-channel: email + LinkedIn DMs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6" y="493776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300 enriched prospects/month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519379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Weekly performance calls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54498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Monthly ICP recalibration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57058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A/B testing + winner promotion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1416" y="59618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Cold call scripts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621792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Full stack audit + integration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3" y="1993392"/>
            <a:ext cx="3657600" cy="4553712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93023" y="1993392"/>
            <a:ext cx="3657600" cy="640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75903" y="2560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3" y="295351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B830"/>
                </a:solidFill>
              </a:rPr>
              <a:t>$15,000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9024" y="31821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/mo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3" y="3639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For scaling revenue teams &amp; CROs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75903" y="4050791"/>
            <a:ext cx="329184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75903" y="416966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Full ICP + custom scoring per vertical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3" y="44256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5 sequences across all channels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3" y="46817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Email + LinkedIn + cold call + SMS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3" y="493776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Unlimited prospects (rolling)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3" y="519379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Dedicated sequence specialist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3" y="54498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Bi-weekly strategic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3" y="57058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Custom intent + ads retargeting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903" y="59618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Full team training + SOP library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5903" y="621792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Quarterly ICP &amp; competitive refresh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99"/>
                </a:solidFill>
              </a:rPr>
              <a:t>All plans: 3-month minimum. Month-to-month after that. No lock-in. Cancel anytime after Month 3.</a:t>
            </a:r>
          </a:p>
        </p:txBody>
      </p:sp>
      <p:pic>
        <p:nvPicPr>
          <p:cNvPr id="59" name="Picture 58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</a:rPr>
              <a:t>THE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772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We Take the Risk Off the Table.
Entirely.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45720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99"/>
                </a:solidFill>
              </a:rPr>
              <a:t>Most agencies ask you to trust them for 6 months before showing results. We ask you to trust us for 30 days. If you don't have qualified meetings booked by Day 30, we work free until you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816352"/>
            <a:ext cx="5596128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816352"/>
            <a:ext cx="5596128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9535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30-Day Qualified Meeting Guarantee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3832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If we have not booked at least 3 qualified meetings into your calendar within the first 30 days of live sequences, we extend your contract at no charge until we hit the target. No exceptions. No excuses.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16352"/>
            <a:ext cx="5596128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816352"/>
            <a:ext cx="5596128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535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90-Day Pipeline Commitment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By the end of Month 3, you will have a live, documented, self-running revenue system - or we rebuild it at no additional cost. The system is the deliverable, not just the activity.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4599432"/>
            <a:ext cx="5596128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4599432"/>
            <a:ext cx="5596128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736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IP Ownership from Day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1663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Every sequence, every script, every playbook, every ICP document - yours. If you cancel after Month 3, you keep everything we built. Most agencies hold your assets hostage. We don't.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599432"/>
            <a:ext cx="5596128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599432"/>
            <a:ext cx="5596128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736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Month-to-Month After Month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663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After the initial 3-month build, we move to month-to-month. No 12-month contracts. No cancellation penalties. Stay because the results justify it. Leave whenever you want. We are that confident.</a:t>
            </a:r>
          </a:p>
        </p:txBody>
      </p:sp>
      <p:pic>
        <p:nvPicPr>
          <p:cNvPr id="23" name="Picture 22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Signal-Triggered Outbound
Actually Delivers.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2029968"/>
            <a:ext cx="2907792" cy="148132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29968"/>
            <a:ext cx="290779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14884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B830"/>
                </a:solidFill>
              </a:rPr>
              <a:t>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9806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average reply rate
(vs 0.3% industry average)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29968"/>
            <a:ext cx="2907792" cy="148132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029968"/>
            <a:ext cx="290779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14884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B830"/>
                </a:solidFill>
              </a:rPr>
              <a:t>18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9806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avg time to first
qualified meeting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2029968"/>
            <a:ext cx="2907792" cy="148132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2029968"/>
            <a:ext cx="290779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214884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B830"/>
                </a:solidFill>
              </a:rPr>
              <a:t>8-12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79806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qualified meetings
booked per month (Growth plan)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94976" y="2029968"/>
            <a:ext cx="2907792" cy="1481328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94976" y="2029968"/>
            <a:ext cx="290779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32136" y="214884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B830"/>
                </a:solidFill>
              </a:rPr>
              <a:t>1 in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2136" y="279806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E8"/>
                </a:solidFill>
              </a:rPr>
              <a:t>meetings converts
to a closed deal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3712463"/>
            <a:ext cx="11320272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2219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CLIENT 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251960"/>
            <a:ext cx="3657600" cy="2286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4251960"/>
            <a:ext cx="36576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43891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B2B SaaS (Series A, 22 employees)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3" y="47548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E8B830"/>
                </a:solidFill>
              </a:rPr>
              <a:t>Segment S2 - Growth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3" y="5074920"/>
            <a:ext cx="33375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Built from zero outbound. Week 1: signal infrastructure live. Day 18: first qualified meeting. Month 2: 9 meetings booked. Month 3: 2 deals closed ($148K ARR). Retainer pays for itself 16x in Year 1.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251960"/>
            <a:ext cx="3657600" cy="2286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251960"/>
            <a:ext cx="36576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3891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DevTools / API Platform (18 employees)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47548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E8B830"/>
                </a:solidFill>
              </a:rPr>
              <a:t>Segment S2 - Growth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5074920"/>
            <a:ext cx="33375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Founder was closing every deal. Deployed 3 signal sequences targeting VP Eng + Head of Platform at Series A+ companies. Month 2: 7 meetings, 0 founder involvement. Month 3: pipeline built from cold accounts only.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4251960"/>
            <a:ext cx="3657600" cy="228600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7888" y="4251960"/>
            <a:ext cx="365760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3891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B2B Services Firm (65 employees, UK)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7548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E8B830"/>
                </a:solidFill>
              </a:rPr>
              <a:t>Segment S3 - Scale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074920"/>
            <a:ext cx="33375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E8"/>
                </a:solidFill>
              </a:rPr>
              <a:t>Existing SDR team with 0.4% reply rates. Added signal intelligence layer above existing Apollo sequences. Reply rate jumped to 3.8% within 45 days. Meetings per SDR up 3.1x. No additional headcount required.</a:t>
            </a:r>
          </a:p>
        </p:txBody>
      </p:sp>
      <p:pic>
        <p:nvPicPr>
          <p:cNvPr id="39" name="Picture 38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373368"/>
            <a:ext cx="1828800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30"/>
                </a:solidFill>
              </a:rPr>
              <a:t>WHAT HAPPENS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04672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Three Steps to Your First
Qualified Meeting in 30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212848"/>
            <a:ext cx="39319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2743200"/>
            <a:ext cx="530352" cy="53035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279806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7977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Book the Discovery Call (30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145536"/>
            <a:ext cx="7772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We audit your current pipeline motion, ICP clarity, and tech stack live on the call. You leave with 3 signal opportunities you can act on this week - whether you work with SELLL or not. No pitch. No pressure. Just the audit.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3913632"/>
            <a:ext cx="530352" cy="53035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396849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9502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Receive Your Custom Build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315968"/>
            <a:ext cx="7772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Within 48 hours of the call, you receive a bespoke SELLL blueprint: your signal infrastructure map, top 3 sequences, proposed ICP scoring rubric, and projected pipeline targets for months 1-3. It is specific to your company. Not a deck.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5084064"/>
            <a:ext cx="530352" cy="53035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8" y="513892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1206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Sign and Start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486400"/>
            <a:ext cx="7772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DDE8"/>
                </a:solidFill>
              </a:rPr>
              <a:t>Once you approve the plan, we start Day 1. Signal feeds go live in 5 days. First sequences are written in 10 days. First outreach fires in 30 days. Your first qualified meeting: within 30 days of live sequences.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6382512"/>
            <a:ext cx="6309360" cy="47548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64373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Book your free 30-minute pipeline audit at  selll.io/audit</a:t>
            </a:r>
          </a:p>
        </p:txBody>
      </p:sp>
      <p:pic>
        <p:nvPicPr>
          <p:cNvPr id="24" name="Picture 23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"/>
            <a:ext cx="1920240" cy="42245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750040" y="64922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