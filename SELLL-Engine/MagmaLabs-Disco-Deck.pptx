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34088" y="0"/>
            <a:ext cx="54864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63840" y="54864"/>
            <a:ext cx="4270248" cy="566928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73568" y="1463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Prepared for:  MagmaLabs  |  Carlos Rocha, CEO</a:t>
            </a:r>
          </a:p>
        </p:txBody>
      </p:sp>
      <p:pic>
        <p:nvPicPr>
          <p:cNvPr id="8" name="Picture 7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01168"/>
            <a:ext cx="2651760" cy="5833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17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You Have the Brand.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8B830"/>
                </a:solidFill>
              </a:rPr>
              <a:t>You Don't Have the Pipeline.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45536"/>
            <a:ext cx="5486400" cy="36576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8"/>
                </a:solidFill>
              </a:rPr>
              <a:t>A discovery session to map what your outbound motion should look like
-- and what it's costing you every month it doesn't exist.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06240"/>
            <a:ext cx="3566160" cy="89611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206240"/>
            <a:ext cx="3566160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15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B830"/>
                </a:solidFill>
              </a:rPr>
              <a:t>200+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71830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Projects delivered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4206240"/>
            <a:ext cx="3566160" cy="89611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4206240"/>
            <a:ext cx="3566160" cy="4572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315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4040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71830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Outbound sequences active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4206240"/>
            <a:ext cx="3566160" cy="89611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80" y="4206240"/>
            <a:ext cx="3566160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4315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B830"/>
                </a:solidFill>
              </a:rPr>
              <a:t>5+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71830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Weekly ICP signals unfired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SELLL.io  |  Signal-Intelligent Revenue Engine  |  selll.io/audit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22608" y="6492240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36576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0B"/>
                </a:solidFill>
              </a:rPr>
              <a:t>BEFORE WE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7724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Here Is What We Know
About MagmaLabs.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1051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8"/>
                </a:solidFill>
              </a:rPr>
              <a:t>We did the homework. This conversation is not a pitch -- it's a working session.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04288"/>
            <a:ext cx="112471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2487168"/>
            <a:ext cx="5650992" cy="117043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2487168"/>
            <a:ext cx="45720" cy="1170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1518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Founded 2009 -- 15+ years delivering.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99232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8"/>
                </a:solidFill>
              </a:rPr>
              <a:t>Rails, React, Mobile, AI. Senior LATAM engineers.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487168"/>
            <a:ext cx="5650992" cy="117043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487168"/>
            <a:ext cx="45720" cy="1170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61518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200+ projects. Hyundai, Spin, Mud\Wtr.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999232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8"/>
                </a:solidFill>
              </a:rPr>
              <a:t>Clutch 4.9/5 across 7 verified reviews.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3858768"/>
            <a:ext cx="5650992" cy="117043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" y="3858768"/>
            <a:ext cx="45720" cy="1170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8678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Referral-first acquisition. No outbound.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70832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8"/>
                </a:solidFill>
              </a:rPr>
              <a:t>Referral program pays 5% commission for 12 months.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858768"/>
            <a:ext cx="5650992" cy="117043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858768"/>
            <a:ext cx="45720" cy="1170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98678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Obie Fernandez: CTO @ ZAR + Shopify PE.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370832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8"/>
                </a:solidFill>
              </a:rPr>
              <a:t>Your biggest differentiator is splitting his 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" y="5230368"/>
            <a:ext cx="5650992" cy="117043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" y="5230368"/>
            <a:ext cx="45720" cy="1170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5838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Genoa: 9-year client. Ended Jun 2024.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42432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8"/>
                </a:solidFill>
              </a:rPr>
              <a:t>Longest relationship you had -- gone.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5230368"/>
            <a:ext cx="5650992" cy="117043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5230368"/>
            <a:ext cx="45720" cy="1170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535838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New AI positioning live on homepage.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742432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8"/>
                </a:solidFill>
              </a:rPr>
              <a:t>AI prototypes, AI agents, AI code cleanup. Zero outbound.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22608" y="6492240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36576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4040"/>
                </a:solidFill>
              </a:rPr>
              <a:t>THE ACTUAL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Goal Is Not
"Book More Meetings."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8"/>
                </a:solidFill>
              </a:rPr>
              <a:t>The goal is to replace a referral dependency before it costs you the business.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50592"/>
            <a:ext cx="112471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2633472"/>
            <a:ext cx="5650992" cy="166420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2633472"/>
            <a:ext cx="5650992" cy="4572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7706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4040"/>
                </a:solidFill>
              </a:rPr>
              <a:t>REFERRAL CEILING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63824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You've been growing the same way since 2009. Referrals convert well because trust is already present -- but they cap at the size of your existing network. You have no mechanism to expand beyond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633472"/>
            <a:ext cx="5650992" cy="166420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633472"/>
            <a:ext cx="5650992" cy="4572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7706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4040"/>
                </a:solidFill>
              </a:rPr>
              <a:t>GENOA IS GONE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63824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Your longest client (9 years, Nov 2015-Jun 2024) has ended. That's likely $2-4M ARR over the life of the engagement. If two more long-term clients don't renew, referral inbound alone won't replace them in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4507992"/>
            <a:ext cx="5650992" cy="166420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" y="4507992"/>
            <a:ext cx="5650992" cy="4572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6451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4040"/>
                </a:solidFill>
              </a:rPr>
              <a:t>OBIE IS SPREAD THIN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038344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Your Chief Consultant is now CTO @ ZAR, Principal Engineer @ Shopify, and founder of Olympia. The credibility that closes deals -- the Rails author, the Solidus board member -- is increasingly unavailable for your pipeline. This cannot be your GTM strategy.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507992"/>
            <a:ext cx="5650992" cy="166420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507992"/>
            <a:ext cx="5650992" cy="4572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6451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4040"/>
                </a:solidFill>
              </a:rPr>
              <a:t>AI POSITIONING IS LIVE -- GTM ISN'T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038344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You launched AI services: prototypes, agents, code cleanup. These are completely different buyers and signals than staff augmentation. There is no outbound motion connecting your new offer to the CTOs who need it right now.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22608" y="6492240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36576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0B"/>
                </a:solidFill>
              </a:rPr>
              <a:t>LIVE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5 Signals Firing Every Week
Inside Your ICP. Unattended.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83664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8"/>
                </a:solidFill>
              </a:rPr>
              <a:t>These are not hypothetical prospects. These are real events that happen every week in the exact companies that buy from MagmaLabs -- and not one of them is triggering outreach.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68880"/>
            <a:ext cx="112471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2633472"/>
            <a:ext cx="5650992" cy="117043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2633472"/>
            <a:ext cx="5650992" cy="4572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3" y="2743200"/>
            <a:ext cx="1097280" cy="27432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3" y="2779776"/>
            <a:ext cx="91440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43200"/>
            <a:ext cx="40782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[S]  Series A / Seed Raised (Last 60 Days)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3" y="3108960"/>
            <a:ext cx="5321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D8"/>
                </a:solidFill>
              </a:rPr>
              <a:t>Founder just closed a round. Board wants roadmap shipped fast. FTE hiring takes 4-6 months. Nearshore augmentation is the logical bridge -- and MagmaLabs is invisible to them right now.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633472"/>
            <a:ext cx="5650992" cy="117043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633472"/>
            <a:ext cx="5650992" cy="4572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3952" y="2743200"/>
            <a:ext cx="1097280" cy="27432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779776"/>
            <a:ext cx="91440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2743200"/>
            <a:ext cx="40782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[H]  5+ Engineering Roles Posted Simultaneously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108960"/>
            <a:ext cx="5321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D8"/>
                </a:solidFill>
              </a:rPr>
              <a:t>A company posting 5+ eng roles at once is overwhelmed. They need capacity faster than a full-time hiring pipeline can deliver. This signal fires hundreds of times per week across US SaaS companies.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4023360"/>
            <a:ext cx="5650992" cy="117043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" y="4023360"/>
            <a:ext cx="5650992" cy="45720"/>
          </a:xfrm>
          <a:prstGeom prst="rect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3" y="4133088"/>
            <a:ext cx="1097280" cy="274320"/>
          </a:xfrm>
          <a:prstGeom prst="rect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3" y="4169664"/>
            <a:ext cx="91440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133088"/>
            <a:ext cx="40782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[C]  New CTO / VP Eng Started &lt; 60 Days Ago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3" y="4498848"/>
            <a:ext cx="5321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D8"/>
                </a:solidFill>
              </a:rPr>
              <a:t>First 90 days: vendor audit, stack eval, backlog assessment. New technical leaders are actively looking for partners right now. The window to be a 'day one' relationship is 60 days and it closes.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023360"/>
            <a:ext cx="5650992" cy="117043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023360"/>
            <a:ext cx="5650992" cy="45720"/>
          </a:xfrm>
          <a:prstGeom prst="rect">
            <a:avLst/>
          </a:prstGeom>
          <a:solidFill>
            <a:srgbClr val="28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73952" y="4133088"/>
            <a:ext cx="1097280" cy="274320"/>
          </a:xfrm>
          <a:prstGeom prst="rect">
            <a:avLst/>
          </a:prstGeom>
          <a:solidFill>
            <a:srgbClr val="28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169664"/>
            <a:ext cx="91440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OPPORTUNITY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8" y="4133088"/>
            <a:ext cx="40782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[AI]  Legacy Rails Codebase Posted for AI Modernization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4498848"/>
            <a:ext cx="5321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D8"/>
                </a:solidFill>
              </a:rPr>
              <a:t>Companies publicly asking: 'how do I add AI to my Rails app?' or 'who can clean up our codebase for LLM readiness?' MagmaLabs' new AI Code Cleanup service is the perfect answer -- nobody is delivering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5413248"/>
            <a:ext cx="11612880" cy="100584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" y="5413248"/>
            <a:ext cx="11612880" cy="45720"/>
          </a:xfrm>
          <a:prstGeom prst="rect">
            <a:avLst/>
          </a:prstGeom>
          <a:solidFill>
            <a:srgbClr val="28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3" y="5522976"/>
            <a:ext cx="1097280" cy="274320"/>
          </a:xfrm>
          <a:prstGeom prst="rect">
            <a:avLst/>
          </a:prstGeom>
          <a:solidFill>
            <a:srgbClr val="28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3" y="5559552"/>
            <a:ext cx="91440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OPPORTUNITY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522976"/>
            <a:ext cx="1004011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[PH]  ProductHunt Launch This Week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3" y="5888736"/>
            <a:ext cx="11283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D8"/>
                </a:solidFill>
              </a:rPr>
              <a:t>A founder who just launched on ProductHunt has validated the product. Now they need to build v2 without burning runway on FTEs. They are looking for a build partner THIS WEEK -- not next quarter.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22608" y="6492240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8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36576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C870"/>
                </a:solidFill>
              </a:rPr>
              <a:t>BLIND 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You Launched AI Services.
You Have No AI ICP.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83664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8"/>
                </a:solidFill>
              </a:rPr>
              <a:t>Your homepage now leads with AI. Your outbound still thinks it's 2022.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77440"/>
            <a:ext cx="112471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2542032"/>
            <a:ext cx="5394960" cy="393192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2542032"/>
            <a:ext cx="5394960" cy="457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5176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99"/>
                </a:solidFill>
              </a:rPr>
              <a:t>YOUR CURRENT ICP (IMPLICIT)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358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-- US SaaS startup, post-Seed to Series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64991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-- Needs Rails / React staff augmentation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9417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-- Has ongoing build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-- Discovered you via referral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525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-- Signal: hiring spike or funding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817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-- ACV: $15K-$25K/month ongoing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109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-- Decision maker: CTO, VP Eng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400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7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8899"/>
                </a:solidFill>
              </a:rPr>
              <a:t>Acquisition channel: REFERRAL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B830"/>
                </a:solidFill>
              </a:rPr>
              <a:t>--&gt;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10528" y="2542032"/>
            <a:ext cx="5230368" cy="393192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10528" y="2542032"/>
            <a:ext cx="5230368" cy="45720"/>
          </a:xfrm>
          <a:prstGeom prst="rect">
            <a:avLst/>
          </a:prstGeom>
          <a:solidFill>
            <a:srgbClr val="28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265176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C870"/>
                </a:solidFill>
              </a:rPr>
              <a:t>YOUR AI ICP (UNTAPPED)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30358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Founder with Rails app 2+ years 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336499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Wants LLM integration or AI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36941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Posted 'AI roadmap' on LinkedIn this week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Just asked: who can clean up my codebase?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43525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Signal: AI job posting + legacy tech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468172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Entry: $499 AI Code Audit --&gt; $15K/mo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50109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Decision maker: Founder, CTO, Head of Eng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53400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56692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8C870"/>
                </a:solidFill>
              </a:rPr>
              <a:t>Acquisition channel: ZERO TODAY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B830"/>
                </a:solidFill>
              </a:rPr>
              <a:t>SELLL would build sequences for BOTH ICPs simultaneously -- each triggered by different signals, each pointing at a different entry offer.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22608" y="6492240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36576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4040"/>
                </a:solidFill>
              </a:rPr>
              <a:t>MARKET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Nearshore Market Is
Consolidating. Fast.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83664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8"/>
                </a:solidFill>
              </a:rPr>
              <a:t>Boutique Rails shops that don't build outbound now will be priced out within 18 months.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77440"/>
            <a:ext cx="112471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2542032"/>
            <a:ext cx="5650992" cy="171907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2542032"/>
            <a:ext cx="5650992" cy="4572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3" y="2651760"/>
            <a:ext cx="1188720" cy="27432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3" y="2688336"/>
            <a:ext cx="100584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2651760"/>
            <a:ext cx="4005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Nortal acquires Nearsure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3" y="3054096"/>
            <a:ext cx="53035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600+ engineers. 18 LATAM countries. Enterprise client base. Now positioned directly against mid-market Rails shops like MagmaLabs.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542032"/>
            <a:ext cx="5650992" cy="171907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542032"/>
            <a:ext cx="5650992" cy="4572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3952" y="2651760"/>
            <a:ext cx="1188720" cy="27432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688336"/>
            <a:ext cx="100584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651760"/>
            <a:ext cx="4005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BairesDev: thousands of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054096"/>
            <a:ext cx="53035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Enterprise GTM. Outbound SDR teams. Content machine. They are in every conversation a US startup has about nearshore -- MagmaLabs is in the ones that come through referral only.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4462272"/>
            <a:ext cx="5650992" cy="171907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" y="4462272"/>
            <a:ext cx="5650992" cy="4572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3" y="4572000"/>
            <a:ext cx="1188720" cy="27432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3" y="4608576"/>
            <a:ext cx="100584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7672" y="4572000"/>
            <a:ext cx="4005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Gorilla Logic: direct outbound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3" y="4974336"/>
            <a:ext cx="53035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Gorilla Logic runs outbound sequences targeting the same Series A-B CTOs that MagmaLabs should own. No MagmaLabs sequence is running against the same list.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462272"/>
            <a:ext cx="5650992" cy="171907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462272"/>
            <a:ext cx="5650992" cy="4572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73952" y="4572000"/>
            <a:ext cx="1188720" cy="27432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608576"/>
            <a:ext cx="100584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Growing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4572000"/>
            <a:ext cx="4005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Toptal, Turing, Arc.dev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4974336"/>
            <a:ext cx="53035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Self-serve nearshore platforms lowering the activation energy for startups. Founder who doesn't know MagmaLabs goes to a platform. Founder who knows MagmaLabs calls Carlos.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4040"/>
                </a:solidFill>
              </a:rPr>
              <a:t>The window to establish outbound distribution before the market forces a rate-card race is NOW -- not in 12 months.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22608" y="6492240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36576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0B"/>
                </a:solidFill>
              </a:rPr>
              <a:t>THE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SELLL Builds
for MagmaLabs.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112471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2084831"/>
            <a:ext cx="5650992" cy="135331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2084831"/>
            <a:ext cx="54864" cy="135331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2084831"/>
            <a:ext cx="5650992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3" y="219456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B830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Signal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3" y="2596896"/>
            <a:ext cx="5321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We monitor 5 live signals daily across your ICP: Series A/Seed funding, 5+ eng hires, new CTO joins, PH launches, AI/Rails modernization posts. Every firing signal enters your pipeline automatically.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084831"/>
            <a:ext cx="5650992" cy="135331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084831"/>
            <a:ext cx="54864" cy="135331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084831"/>
            <a:ext cx="5650992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19456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B830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19456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 Bespoke Sequences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596896"/>
            <a:ext cx="5321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Funding Signal -- New CTO -- Engineering Hiring Spike -- AI Services ICP. Each sequence references the specific signal, names their stack, references Obie Fernandez and the Rails pedigree where relevant.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3593591"/>
            <a:ext cx="5650992" cy="135331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" y="3593591"/>
            <a:ext cx="54864" cy="135331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" y="3593591"/>
            <a:ext cx="5650992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3" y="370332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B830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70332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Productized Offer Outreach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3" y="4105656"/>
            <a:ext cx="5321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Dedicated cold outreach pushing the $499 Rails AI Audit as the door-opener. No ask for a $25K commitment on email 1. The audit earns the relationship and earns the larger engagement.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593591"/>
            <a:ext cx="5650992" cy="135331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593591"/>
            <a:ext cx="54864" cy="135331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593591"/>
            <a:ext cx="5650992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370332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B830"/>
                </a:solidFill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370332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Executive LinkedIn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105656"/>
            <a:ext cx="5321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Carlos Rocha content strategy -- 2 posts per week built around the problems your ICP has today: AI integration, Rails scaling, team gaps. Distribution for the brand that Clutch reviews have already proven.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5102352"/>
            <a:ext cx="5650992" cy="135331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" y="5102352"/>
            <a:ext cx="54864" cy="135331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" y="5102352"/>
            <a:ext cx="5650992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3" y="521208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B830"/>
                </a:solidFill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21208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Full Infrastructure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3" y="5614416"/>
            <a:ext cx="5321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Domain warmup. SPF/DKIM/DMARC. Dedicated sending domains. Clay + Apollo + Salesforge stack. 20+ tools, one seamless system. Live in 14 days.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102352"/>
            <a:ext cx="5650992" cy="135331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5102352"/>
            <a:ext cx="54864" cy="135331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5102352"/>
            <a:ext cx="5650992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3952" y="521208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B830"/>
                </a:solidFill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7728" y="521208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Monthly Iteration + Reporting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3952" y="5614416"/>
            <a:ext cx="5321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Every sequence gets one full iteration cycle per month. Reply data drives copy changes. ICP data drives list changes. You see every metric: sent, opens, replies, meetings booked.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22608" y="6492240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36576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0B"/>
                </a:solidFill>
              </a:rPr>
              <a:t>WHAT IT SOUNDS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01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Three Sequences We'd Run
for MagmaLabs on Day 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83664"/>
            <a:ext cx="112471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2048256"/>
            <a:ext cx="3730752" cy="440740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2048256"/>
            <a:ext cx="3730752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3" y="2157984"/>
            <a:ext cx="1005840" cy="292608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3" y="219456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SEQ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3" y="2542032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Funding Signal 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3" y="2980944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1">
                <a:solidFill>
                  <a:srgbClr val="E8B830"/>
                </a:solidFill>
              </a:rPr>
              <a:t>Subject: after the raise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3" y="3310128"/>
            <a:ext cx="3401568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D8"/>
                </a:solidFill>
              </a:rPr>
              <a:t>[Name], Congrats on the round. The next 90 days are the same for every Series A team: board wants a roadmap, product needs to ship faster than you can staff. FTE Rails hiring takes 4-6 months you don't have. We've built for 200+ companies at exactly this stage -- Spin, Genoa, Mud\Wtr. Worth 15 minutes before your next sprint planning? -- Carlos, MagmaLabs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2048256"/>
            <a:ext cx="3730752" cy="440740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2048256"/>
            <a:ext cx="3730752" cy="45720"/>
          </a:xfrm>
          <a:prstGeom prst="rect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98848" y="2157984"/>
            <a:ext cx="1005840" cy="292608"/>
          </a:xfrm>
          <a:prstGeom prst="rect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219456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SEQ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542032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New CTO 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980944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1">
                <a:solidFill>
                  <a:srgbClr val="F0A020"/>
                </a:solidFill>
              </a:rPr>
              <a:t>Subject: the first 90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310128"/>
            <a:ext cx="3401568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D8"/>
                </a:solidFill>
              </a:rPr>
              <a:t>[Name], Congrats on joining [Company]. New CTOs usually surface the same things in the first 90 days: delivery gaps, a backlog nobody wants to touch, a hiring plan 3 months behind. We work with technical leaders at your stage as a dedicated nearshore build team -- Rails, React, AI integration. Obie Fernandez (author of The Rails 5 Way, Solidus board member) leads our consulting practice. 20 minutes to compare notes on what you've found? -- Carlos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048256"/>
            <a:ext cx="3730752" cy="440740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048256"/>
            <a:ext cx="3730752" cy="45720"/>
          </a:xfrm>
          <a:prstGeom prst="rect">
            <a:avLst/>
          </a:prstGeom>
          <a:solidFill>
            <a:srgbClr val="28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94192" y="2157984"/>
            <a:ext cx="1005840" cy="292608"/>
          </a:xfrm>
          <a:prstGeom prst="rect">
            <a:avLst/>
          </a:prstGeom>
          <a:solidFill>
            <a:srgbClr val="28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219456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SEQ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542032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AI Services ICP Sequence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2980944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1">
                <a:solidFill>
                  <a:srgbClr val="28C870"/>
                </a:solidFill>
              </a:rPr>
              <a:t>Subject: Rails + AI -- 7 days to 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310128"/>
            <a:ext cx="3401568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D8"/>
                </a:solidFill>
              </a:rPr>
              <a:t>[Name], Saw [Company] is adding AI to your stack. Most Rails codebases we see aren't AI-ready -- wrong data models, no async job infrastructure, no LLM error handling. We run a $499 AI Readiness Audit for Rails apps: 2-day turnaround, full report, no commitment to continue. If the audit shows work worth doing, we have a team that ships in 7 days. Want the audit? -- Carlos, MagmaLabs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22608" y="6492240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36576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0B"/>
                </a:solidFill>
              </a:rPr>
              <a:t>PROJECTED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86868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This System Produces
for MagmaLabs.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83664"/>
            <a:ext cx="112471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2084831"/>
            <a:ext cx="3621024" cy="36576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396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7952" y="2084831"/>
            <a:ext cx="197510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1396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B830"/>
                </a:solidFill>
              </a:rPr>
              <a:t>Conservative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2084831"/>
            <a:ext cx="197510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B830"/>
                </a:solidFill>
              </a:rPr>
              <a:t>Realistic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94192" y="2084831"/>
            <a:ext cx="197510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21396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B830"/>
                </a:solidFill>
              </a:rPr>
              <a:t>Upside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487168"/>
            <a:ext cx="362102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5420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Prospects contacted / 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7952" y="2487168"/>
            <a:ext cx="197510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25420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8"/>
                </a:solidFill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2487168"/>
            <a:ext cx="197510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5420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B830"/>
                </a:solidFill>
              </a:rPr>
              <a:t>350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94192" y="2487168"/>
            <a:ext cx="197510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9" y="25420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8"/>
                </a:solidFill>
              </a:rPr>
              <a:t>500+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2889503"/>
            <a:ext cx="3621024" cy="36576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9443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Signal-triggered reply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7952" y="2889503"/>
            <a:ext cx="1975104" cy="36576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29443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8"/>
                </a:solidFill>
              </a:rPr>
              <a:t>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2889503"/>
            <a:ext cx="1975104" cy="36576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443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B830"/>
                </a:solidFill>
              </a:rPr>
              <a:t>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94192" y="2889503"/>
            <a:ext cx="1975104" cy="36576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19" y="29443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8"/>
                </a:solidFill>
              </a:rPr>
              <a:t>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3291839"/>
            <a:ext cx="362102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346703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Replies / month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87952" y="3291839"/>
            <a:ext cx="197510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3346703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8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1072" y="3291839"/>
            <a:ext cx="197510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346703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B830"/>
                </a:solidFill>
              </a:rPr>
              <a:t>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94192" y="3291839"/>
            <a:ext cx="197510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19" y="3346703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8"/>
                </a:solidFill>
              </a:rPr>
              <a:t>40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" y="3694176"/>
            <a:ext cx="3621024" cy="36576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749039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Discovery calls booked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87952" y="3694176"/>
            <a:ext cx="1975104" cy="36576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0" y="374903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8"/>
                </a:solidFill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1072" y="3694176"/>
            <a:ext cx="1975104" cy="36576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74903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B830"/>
                </a:solidFill>
              </a:rPr>
              <a:t>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94192" y="3694176"/>
            <a:ext cx="1975104" cy="36576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19" y="374903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8"/>
                </a:solidFill>
              </a:rPr>
              <a:t>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" y="4096512"/>
            <a:ext cx="362102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15137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Close rate (warm ICP)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87952" y="4096512"/>
            <a:ext cx="197510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97680" y="41513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8"/>
                </a:solidFill>
              </a:rPr>
              <a:t>25%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91072" y="4096512"/>
            <a:ext cx="197510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1513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B830"/>
                </a:solidFill>
              </a:rPr>
              <a:t>33%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94192" y="4096512"/>
            <a:ext cx="197510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19" y="41513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8"/>
                </a:solidFill>
              </a:rPr>
              <a:t>40%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8912" y="4498848"/>
            <a:ext cx="3621024" cy="36576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5537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New engagements / month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87952" y="4498848"/>
            <a:ext cx="1975104" cy="36576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455371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8"/>
                </a:solidFill>
              </a:rPr>
              <a:t>0.75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91072" y="4498848"/>
            <a:ext cx="1975104" cy="36576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455371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B830"/>
                </a:solidFill>
              </a:rPr>
              <a:t>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94192" y="4498848"/>
            <a:ext cx="1975104" cy="365760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03919" y="455371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8"/>
                </a:solidFill>
              </a:rPr>
              <a:t>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8912" y="4901183"/>
            <a:ext cx="362102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4956047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Avg. project value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87952" y="4901183"/>
            <a:ext cx="197510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97680" y="4956047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8"/>
                </a:solidFill>
              </a:rPr>
              <a:t>$20K/mo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91072" y="4901183"/>
            <a:ext cx="197510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0" y="4956047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B830"/>
                </a:solidFill>
              </a:rPr>
              <a:t>$20K/mo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94192" y="4901183"/>
            <a:ext cx="1975104" cy="36576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03919" y="4956047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D8"/>
                </a:solidFill>
              </a:rPr>
              <a:t>$20K/mo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8912" y="5303520"/>
            <a:ext cx="3621024" cy="3657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358383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New ARR added / month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87952" y="5303520"/>
            <a:ext cx="1975104" cy="3657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97680" y="5358383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$180K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91072" y="5303520"/>
            <a:ext cx="1975104" cy="3657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0" y="5358383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$720K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94192" y="5303520"/>
            <a:ext cx="1975104" cy="3657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03919" y="5358383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$1.92M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8912" y="5705856"/>
            <a:ext cx="3621024" cy="3657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8640" y="576072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Annual new ARR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87952" y="5705856"/>
            <a:ext cx="1975104" cy="3657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80" y="57607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$2.16M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91072" y="5705856"/>
            <a:ext cx="1975104" cy="3657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0" y="57607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$8.64M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94192" y="5705856"/>
            <a:ext cx="1975104" cy="3657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03919" y="57607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$23M+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20" y="6455664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30"/>
                </a:solidFill>
              </a:rPr>
              <a:t>At conservative: one SELLL system replaces Genoa's lost ARR in 12 months. At realistic: MagmaLabs doubles revenue from net-new outbound alone.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722608" y="6492240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36576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A020"/>
                </a:solidFill>
              </a:rPr>
              <a:t>THE NUMBER NOBODY TALKS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You Are Paying a 5% Tax
to Solve the Wrong Problem.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83664"/>
            <a:ext cx="112471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8483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D8"/>
                </a:solidFill>
              </a:rPr>
              <a:t>Your referral program: 5% commission on monthly billable for 12 months.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2578608"/>
            <a:ext cx="11301984" cy="62179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2578608"/>
            <a:ext cx="54864" cy="621792"/>
          </a:xfrm>
          <a:prstGeom prst="rect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706624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 new $20K/mo client via referral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06624"/>
            <a:ext cx="5084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8B830"/>
                </a:solidFill>
              </a:rPr>
              <a:t>$1,000/mo x 12 = $12,000 referral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3328415"/>
            <a:ext cx="11301984" cy="62179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" y="3328415"/>
            <a:ext cx="54864" cy="621792"/>
          </a:xfrm>
          <a:prstGeom prst="rect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456432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 new clients / quarter via referral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56432"/>
            <a:ext cx="5084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8B830"/>
                </a:solidFill>
              </a:rPr>
              <a:t>$36,000 paid out per quarter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4078224"/>
            <a:ext cx="11301984" cy="62179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" y="4078224"/>
            <a:ext cx="54864" cy="621792"/>
          </a:xfrm>
          <a:prstGeom prst="rect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206240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Annual referral spend (3 clients/qtr)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06240"/>
            <a:ext cx="5084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8B830"/>
                </a:solidFill>
              </a:rPr>
              <a:t>$144,000/year -- for zero infrastructure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4828031"/>
            <a:ext cx="11301984" cy="62179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" y="4828031"/>
            <a:ext cx="54864" cy="6217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956047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SELLL annual cost (Foundation plan)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956047"/>
            <a:ext cx="50840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1A2E"/>
                </a:solidFill>
              </a:rPr>
              <a:t>Fraction of that -- plus you own the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687568"/>
            <a:ext cx="11155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8"/>
                </a:solidFill>
              </a:rPr>
              <a:t>The referral program is not a GTM strategy. It's an acknowledgment that you don't have one. SELLL replaces it with a system you own permanently.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55664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B830"/>
                </a:solidFill>
              </a:rPr>
              <a:t>Month-to-month. No lock-in. Walk away if we don't deliver. Most clients stay 12+ months.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22608" y="6492240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36576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4592"/>
            <a:ext cx="228600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2011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0B"/>
                </a:solidFill>
              </a:rPr>
              <a:t>THE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530352"/>
            <a:ext cx="7315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Choose How Fast
You Want to Grow.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55648"/>
            <a:ext cx="112471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920240"/>
            <a:ext cx="3730752" cy="464515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920240"/>
            <a:ext cx="3730752" cy="54864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4140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79806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8"/>
                </a:solidFill>
              </a:rPr>
              <a:t>Best for: Start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1455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+ 2 signal-triggered sequences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584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+ 200 prospects/month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023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Email + LinkedIn outreach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4622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Domain warmup + deliverability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90118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Monthly strategy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3400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Full IP ownership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4256" y="1920240"/>
            <a:ext cx="3730752" cy="464515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4256" y="1920240"/>
            <a:ext cx="373075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98848" y="2029968"/>
            <a:ext cx="1737360" cy="2743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2066544"/>
            <a:ext cx="15544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RECOMMENDED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4140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B830"/>
                </a:solidFill>
              </a:rPr>
              <a:t>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279806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8"/>
                </a:solidFill>
              </a:rPr>
              <a:t>Recommended for MagmaLabs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31455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+ 4 sequences (incl. AI ICP)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3584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+ 350 prospects/month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4023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+ Email + LinkedIn + cold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44622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+ Carlos LinkedIn content (2x/wk)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90118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+ Productized offer push ($499 audit)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53400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+ Bi-weekly iteration + 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57790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+ Full IP ownership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1920240"/>
            <a:ext cx="3730752" cy="464515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1920240"/>
            <a:ext cx="3730752" cy="54864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24140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79806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8"/>
                </a:solidFill>
              </a:rPr>
              <a:t>Best for: Scale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1455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+ 6 sequences across all ICPs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584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+ 500+ prospects/month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023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All channels + warm intro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4622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Full exec brand program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90118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Weekly sprint reviews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3400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Dedicated SELLL strategist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7790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+ Full IP ownership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55664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B830"/>
                </a:solidFill>
              </a:rPr>
              <a:t>All plans: month-to-month  |  14-day launch  |  First meetings within 30 days  |  Full IP yours at exit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22608" y="6492240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" y="0"/>
            <a:ext cx="12124944" cy="36576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" y="6803136"/>
            <a:ext cx="12124944" cy="36576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4040"/>
                </a:solidFill>
              </a:rPr>
              <a:t>THE CASE FOR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Four Reasons This Is
a Q3 2026 Decision.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83664"/>
            <a:ext cx="1115568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2066543"/>
            <a:ext cx="5650992" cy="190195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5650992" cy="54864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54864" cy="1901952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4040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2194560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Genoa is gone.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24911"/>
            <a:ext cx="53035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Your 9-year anchor client ended in June 2024. That revenue gap is real. Every month without an outbound motion is a month that gap compounds.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066543"/>
            <a:ext cx="5650992" cy="190195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066543"/>
            <a:ext cx="5650992" cy="54864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066543"/>
            <a:ext cx="54864" cy="1901952"/>
          </a:xfrm>
          <a:prstGeom prst="rect">
            <a:avLst/>
          </a:prstGeom>
          <a:solidFill>
            <a:srgbClr val="E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19456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4040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2194560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Obie's attention is splitting.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724911"/>
            <a:ext cx="53035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The Solidus author + Rails 5 Way author is now CTO at ZAR and PE at Shopify. Your biggest GTM asset is becoming less available. You cannot build a pipeline that depends on one person's brand.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4169663"/>
            <a:ext cx="5650992" cy="190195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4169663"/>
            <a:ext cx="5650992" cy="54864"/>
          </a:xfrm>
          <a:prstGeom prst="rect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" y="4169663"/>
            <a:ext cx="54864" cy="1901952"/>
          </a:xfrm>
          <a:prstGeom prst="rect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97679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A020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4297679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signals are firing right now.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28031"/>
            <a:ext cx="53035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Every week, Rails founders post publicly about AI integration needs. Your AI Code Cleanup service is a perfect match. No sequence is running. Those founders are going to someone else.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169663"/>
            <a:ext cx="5650992" cy="190195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169663"/>
            <a:ext cx="5650992" cy="54864"/>
          </a:xfrm>
          <a:prstGeom prst="rect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4169663"/>
            <a:ext cx="54864" cy="1901952"/>
          </a:xfrm>
          <a:prstGeom prst="rect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4297679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A020"/>
                </a:solidFill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4297679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Nortal/Nearsure is closing the window.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4828031"/>
            <a:ext cx="53035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The boutique nearshore window doesn't stay open forever. The firms with outbound distribution will own the relationship before the founder ever searches for alternatives.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22608" y="6492240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2880"/>
            <a:ext cx="2560320" cy="5632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0" y="25603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0B"/>
                </a:solidFill>
              </a:rPr>
              <a:t>ONE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85216"/>
            <a:ext cx="7315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Three Steps From
Here to First Meeting.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83664"/>
            <a:ext cx="112471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2066543"/>
            <a:ext cx="3730752" cy="422452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373075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54864" cy="4224528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194560"/>
            <a:ext cx="1005840" cy="310896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22311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15184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Say yes to the Growth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08959"/>
            <a:ext cx="340156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We send the agreement. One-page. Sign same day. No onboarding forms. No 30-day procurement cycle. We start building the moment you sign.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4256" y="2066543"/>
            <a:ext cx="3730752" cy="422452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4256" y="2066543"/>
            <a:ext cx="3730752" cy="54864"/>
          </a:xfrm>
          <a:prstGeom prst="rect">
            <a:avLst/>
          </a:prstGeom>
          <a:solidFill>
            <a:srgbClr val="F5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4256" y="2066543"/>
            <a:ext cx="54864" cy="4224528"/>
          </a:xfrm>
          <a:prstGeom prst="rect">
            <a:avLst/>
          </a:prstGeom>
          <a:solidFill>
            <a:srgbClr val="F5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35424" y="2194560"/>
            <a:ext cx="1005840" cy="310896"/>
          </a:xfrm>
          <a:prstGeom prst="rect">
            <a:avLst/>
          </a:prstGeom>
          <a:solidFill>
            <a:srgbClr val="F5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22311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DAY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2615184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30-min kickoff 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3108959"/>
            <a:ext cx="340156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Confirm ICP, signal priorities, CRM + domain access. We build your Clay enrichment setup, Salesforge infrastructure, and first sequence drafts live. By end of call, the build has started.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066543"/>
            <a:ext cx="3730752" cy="422452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2066543"/>
            <a:ext cx="3730752" cy="54864"/>
          </a:xfrm>
          <a:prstGeom prst="rect">
            <a:avLst/>
          </a:prstGeom>
          <a:solidFill>
            <a:srgbClr val="28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2066543"/>
            <a:ext cx="54864" cy="4224528"/>
          </a:xfrm>
          <a:prstGeom prst="rect">
            <a:avLst/>
          </a:prstGeom>
          <a:solidFill>
            <a:srgbClr val="28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30768" y="2194560"/>
            <a:ext cx="1005840" cy="310896"/>
          </a:xfrm>
          <a:prstGeom prst="rect">
            <a:avLst/>
          </a:prstGeom>
          <a:solidFill>
            <a:srgbClr val="28C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22208" y="22311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DAY 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2615184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First qualified meeting on your calendar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108959"/>
            <a:ext cx="340156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D8"/>
                </a:solidFill>
              </a:rPr>
              <a:t>Sequences fire by Day 28. Replies land. MagmaLabs gets its first outbound-sourced discovery call. Carlos shows up and closes.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6400800"/>
            <a:ext cx="7790688" cy="402336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31720" y="6455664"/>
            <a:ext cx="7516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Ready to start?  Reply to this email  or  book directly at  selll.io/audit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22608" y="6492240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